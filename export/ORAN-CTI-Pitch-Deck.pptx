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Overall closed-loop score</c:v>
                </c:pt>
              </c:strCache>
            </c:strRef>
          </c:tx>
          <c:spPr>
            <a:solidFill>
              <a:srgbClr val="0E7490"/>
            </a:solidFill>
            <a:ln w="38100" cap="flat">
              <a:solidFill>
                <a:srgbClr val="0E749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E7490"/>
              </a:solidFill>
              <a:ln w="9525" cap="flat">
                <a:solidFill>
                  <a:srgbClr val="0E7490"/>
                </a:solidFill>
                <a:prstDash val="solid"/>
                <a:round/>
              </a:ln>
              <a:effectLst/>
            </c:spPr>
          </c:marker>
          <c:cat>
            <c:multiLvlStrRef>
              <c:f>Sheet1!$A$2:$A$10</c:f>
              <c:multiLvlStrCache>
                <c:ptCount val="9"/>
                <c:lvl>
                  <c:pt idx="0">
                    <c:v>S1</c:v>
                  </c:pt>
                  <c:pt idx="1">
                    <c:v>S2</c:v>
                  </c:pt>
                  <c:pt idx="2">
                    <c:v>S3</c:v>
                  </c:pt>
                  <c:pt idx="3">
                    <c:v>S4</c:v>
                  </c:pt>
                  <c:pt idx="4">
                    <c:v>S5</c:v>
                  </c:pt>
                  <c:pt idx="5">
                    <c:v>S6</c:v>
                  </c:pt>
                  <c:pt idx="6">
                    <c:v>S7</c:v>
                  </c:pt>
                  <c:pt idx="7">
                    <c:v>S8</c:v>
                  </c:pt>
                  <c:pt idx="8">
                    <c:v>S9</c:v>
                  </c:pt>
                </c:lvl>
              </c:multiLvlStrCache>
            </c:multiLvlStrRef>
          </c:cat>
          <c:val>
            <c:numRef>
              <c:f>Sheet1!$B$2:$B$10</c:f>
              <c:numCache>
                <c:formatCode>General</c:formatCode>
                <c:ptCount val="9"/>
                <c:pt idx="0">
                  <c:v>30.6</c:v>
                </c:pt>
                <c:pt idx="1">
                  <c:v>60.8</c:v>
                </c:pt>
                <c:pt idx="2">
                  <c:v>65.5</c:v>
                </c:pt>
                <c:pt idx="3">
                  <c:v>66.8</c:v>
                </c:pt>
                <c:pt idx="4">
                  <c:v>67.8</c:v>
                </c:pt>
                <c:pt idx="5">
                  <c:v>69.8</c:v>
                </c:pt>
                <c:pt idx="6">
                  <c:v>69.7</c:v>
                </c:pt>
                <c:pt idx="7">
                  <c:v>72.6</c:v>
                </c:pt>
                <c:pt idx="8">
                  <c:v>75.6</c:v>
                </c:pt>
              </c:numCache>
            </c:numRef>
          </c:val>
          <c:smooth val="0"/>
        </c:ser>
        <c:ser>
          <c:idx val="1"/>
          <c:order val="1"/>
          <c:tx>
            <c:strRef>
              <c:f>Sheet1!$C$1</c:f>
              <c:strCache>
                <c:ptCount val="1"/>
                <c:pt idx="0">
                  <c:v>RAG subscore</c:v>
                </c:pt>
              </c:strCache>
            </c:strRef>
          </c:tx>
          <c:spPr>
            <a:solidFill>
              <a:srgbClr val="C4B5FD"/>
            </a:solidFill>
            <a:ln w="38100" cap="flat">
              <a:solidFill>
                <a:srgbClr val="C4B5F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4B5FD"/>
              </a:solidFill>
              <a:ln w="9525" cap="flat">
                <a:solidFill>
                  <a:srgbClr val="C4B5FD"/>
                </a:solidFill>
                <a:prstDash val="solid"/>
                <a:round/>
              </a:ln>
              <a:effectLst/>
            </c:spPr>
          </c:marker>
          <c:cat>
            <c:multiLvlStrRef>
              <c:f>Sheet1!$A$2:$A$10</c:f>
              <c:multiLvlStrCache>
                <c:ptCount val="9"/>
                <c:lvl>
                  <c:pt idx="0">
                    <c:v>S1</c:v>
                  </c:pt>
                  <c:pt idx="1">
                    <c:v>S2</c:v>
                  </c:pt>
                  <c:pt idx="2">
                    <c:v>S3</c:v>
                  </c:pt>
                  <c:pt idx="3">
                    <c:v>S4</c:v>
                  </c:pt>
                  <c:pt idx="4">
                    <c:v>S5</c:v>
                  </c:pt>
                  <c:pt idx="5">
                    <c:v>S6</c:v>
                  </c:pt>
                  <c:pt idx="6">
                    <c:v>S7</c:v>
                  </c:pt>
                  <c:pt idx="7">
                    <c:v>S8</c:v>
                  </c:pt>
                  <c:pt idx="8">
                    <c:v>S9</c:v>
                  </c:pt>
                </c:lvl>
              </c:multiLvlStrCache>
            </c:multiLvlStrRef>
          </c:cat>
          <c:val>
            <c:numRef>
              <c:f>Sheet1!$C$2:$C$10</c:f>
              <c:numCache>
                <c:formatCode>General</c:formatCode>
                <c:ptCount val="9"/>
                <c:pt idx="0">
                  <c:v>28.9</c:v>
                </c:pt>
                <c:pt idx="1">
                  <c:v>34.6</c:v>
                </c:pt>
                <c:pt idx="2">
                  <c:v>64.6</c:v>
                </c:pt>
                <c:pt idx="3">
                  <c:v>44.6</c:v>
                </c:pt>
                <c:pt idx="4">
                  <c:v>46.3</c:v>
                </c:pt>
                <c:pt idx="5">
                  <c:v>48.7</c:v>
                </c:pt>
                <c:pt idx="6">
                  <c:v>50</c:v>
                </c:pt>
                <c:pt idx="7">
                  <c:v>55.9</c:v>
                </c:pt>
                <c:pt idx="8">
                  <c:v>61.6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9EEF5"/>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334155"/>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built a Cyber Threat Intelligence platform designed specifically for Open RAN. Over the next ten minutes I will show you why generic CTI tools fail in a telecom network, what we built across a four-region O-RAN testbed, and the measured results — including a head-to-head against OpenCTI, the leading open-source CTI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 disaggregates the base station into components from different vendors, connected by open interfaces. That gives operators flexibility and lower cost — but it multiplies the attack surface: the radio units, the distributed and central units, the RIC, and the cloud platform underneath. The key point is at the bottom: in O-RAN, a threat only means something in the context of which component and which interface it touches.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CTI platforms are excellent at what they were built for — enterprise IT. But they have no native representation of radio components, open interfaces, RIC applications or RAN measurements. Our literature review identified four concrete gaps. And this is not theoretical: we measured it. On six ground-truth 5G security scenarios, OpenCTI retrieved the correct threat zero percent of the time. I will show that evidence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organised the work around three objectives. O1 — build a disaggregated, O-RAN-specific CTI platform. O2 — integrate agentic AI so the platform reasons about threats rather than just storing them. O3 — validate it properly, with a frozen benchmark and a baseline comparison. All three are implemented. We are careful to say O3 is evaluated within our declared prototype scope — I will be explicit about the limits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platform. The blue slab at the top is the Non-RT RIC and SMO layer — it holds the Global RAG agent, the MCP server, the CTI ingestion rApp and the dashboard. Below it sit four independent Near-RT RIC regions, each with its own radio access network, its own xApps, and critically its own Mini-RAG agent with its own knowledge base. The design principle is local-first: a region answers from its own knowledge if it can, and only escalates when it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for credibility: it is not a paper design. Four regions run on a single Netslab K3s cluster with a Threadripper host — 128 logical CPUs, 250 gigabytes of RAM. Regions 1 and 2 each run two gNB groups and six UEs against a real Open5GS core. We drove 750 emulated security events through it across a five-day campaign. Everything from the radio layer up to the dashboard is deployed and wired through explicit Kubernetes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contribution is the knowledge layer. We harvest MITRE ATT&amp;CK and FiGHT, normalise everything to STIX 2.1, then apply a two-stage semantic pruning model — Max-Sim relevance scoring — to keep only what is relevant to O-RAN. A bounded two-hop breadth-first search extracts the connected subgraph and we adjust risk using CVSS and EPSS. The result is an 85 to 90 percent reduction in data footprint. That is what makes it deployable at the edge and what keeps retrieval precise.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contribution is the Anomaly Detection Gateway. We take four very different evidence sources — Prometheus metrics, Loki logs, Falco runtime security and RAN KPM telemetry — and normalise them into one transparent event schema. The critical design decision is on the bottom left: the rule that fired, the threshold and the measured value are stored separately from the AI explanation. So if every LLM provider is down, an operator can still see exactly why an event exists. The AI explains; it never decides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contribution: hierarchical retrieval. Each region tries to answer from its own knowledge base first. Only if local confidence falls below the routing threshold — or the severity is high — does it escalate to the central Global RAG. That escalation happens over MCP, the Model Context Protocol, as a typed tool call on a streaming connection. And crucially, when the global answer comes back, the region learns it — so next time it answers locally. That is how each region gets smarter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contribution: controlled sharing. When a region confirms a serious threat, the Inter-Platform Agent sanitises it — stripping IP addresses, MAC addresses, subscriber identities — tags the source, then concurrently asks every other region whether they already know it. Only regions that lack the intelligence receive it. The source region is always excluded, which prevents loops. The operational payoff is pre-arming: a peer region is defended before the threat ever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Fifth contribution, and the one we are proudest of from a safety standpoint: guarded mitigation. The AI produces a recommendation, but it has no authority to act. Every candidate goes through a state machine with deterministic gates — actuator type, severity, confidence, and whether the target is even eligible. We learned this the hard way: an early broad policy accidentally quarantined one of our own Mini-RAG pods. That incident is in the report, and it is why protected-target checks are now explicit. After execution we verify the effect with PromQL and roll back if it did not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evaluated. Two instruments. First, a 750-event emulation campaign — a deterministic schedule across eight threat families, run over five days. Second, a frozen benchmark: a fixed, checksummed ground-truth case set, evaluated read-only so that sessions are actually comparable. The composite score is 54 percent RAG intelligence, 36 percent detection, 10 percent mitigation. Those weights were declared in advance, not tuned to flatter the result — and if something was not measured, we omit it rather than scoring it as zero or as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headline result. Across nine complete measurement sessions the closed-loop intelligence score rose from 30.6 percent to 75.6 percent. Notice the two lines: detection saturated early at 100 percent — every emulated event reached persisted evidence — while the RAG subscore is what drove continued improvement as the regions learned. We are deliberately honest here: severity accuracy is 71 percent and grounded retrieval is 54 percent. Those are our weak points and we say so. We also do not claim this is pure learning — some movement comes from corrected ground truth and evaluator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"why does this need to exist?". We ran six ground-truth 5G scenarios against both platforms concurrently. On STIX precision, we retrieve the correct threat 100 percent of the time; OpenCTI, zero. On taxonomy alignment, 100 versus 33 percent — OpenCTI simply has no schema for a UE traffic surge or xApp API abuse. We are equal on detection capture and stability. And I want to be straight about the one place we lose: latency. We are about a hundred times slower, because we run vector embedding, MCP escalation and generative synthesis instead of a keyword lookup. That is a deliberate trade, and for threat analysis at the Non-RT tier it is the right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We delivered five contributions — the platform itself, the detection gateway, hierarchical RAG over MCP, privacy-preserving sharing, and guarded mitigation. And we are explicit about the limits: this is a single-node cluster, three of our interface anomalies are detector-contract simulations, and we have not validated against commercial multi-vendor hardware. The next steps follow directly from those limits. Thank you —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330"/>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132048"/>
          </a:solidFill>
          <a:ln w="12700">
            <a:solidFill>
              <a:srgbClr val="333333"/>
            </a:solidFill>
            <a:prstDash val="solid"/>
          </a:ln>
        </p:spPr>
      </p:sp>
      <p:sp>
        <p:nvSpPr>
          <p:cNvPr id="3" name="Shape 1"/>
          <p:cNvSpPr/>
          <p:nvPr/>
        </p:nvSpPr>
        <p:spPr>
          <a:xfrm>
            <a:off x="9601200" y="-548640"/>
            <a:ext cx="4023360" cy="4023360"/>
          </a:xfrm>
          <a:prstGeom prst="ellipse">
            <a:avLst/>
          </a:prstGeom>
          <a:solidFill>
            <a:srgbClr val="18275A"/>
          </a:solidFill>
          <a:ln w="12700">
            <a:solidFill>
              <a:srgbClr val="333333"/>
            </a:solidFill>
            <a:prstDash val="solid"/>
          </a:ln>
        </p:spPr>
      </p:sp>
      <p:sp>
        <p:nvSpPr>
          <p:cNvPr id="4" name="Shape 2"/>
          <p:cNvSpPr/>
          <p:nvPr/>
        </p:nvSpPr>
        <p:spPr>
          <a:xfrm>
            <a:off x="10378440" y="228600"/>
            <a:ext cx="2468880" cy="2468880"/>
          </a:xfrm>
          <a:prstGeom prst="ellipse">
            <a:avLst/>
          </a:prstGeom>
          <a:solidFill>
            <a:srgbClr val="1E3170"/>
          </a:solidFill>
          <a:ln w="12700">
            <a:solidFill>
              <a:srgbClr val="333333"/>
            </a:solidFill>
            <a:prstDash val="solid"/>
          </a:ln>
        </p:spPr>
      </p:sp>
      <p:sp>
        <p:nvSpPr>
          <p:cNvPr id="5" name="Text 3"/>
          <p:cNvSpPr/>
          <p:nvPr/>
        </p:nvSpPr>
        <p:spPr>
          <a:xfrm>
            <a:off x="566928" y="960120"/>
            <a:ext cx="8686800" cy="274320"/>
          </a:xfrm>
          <a:prstGeom prst="rect">
            <a:avLst/>
          </a:prstGeom>
          <a:noFill/>
          <a:ln/>
        </p:spPr>
        <p:txBody>
          <a:bodyPr wrap="square" lIns="0" tIns="0" rIns="0" bIns="0"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UNIVERSITY OF RUHUNA  ·  FINAL YEAR RESEARCH PROJECT</a:t>
            </a:r>
            <a:endParaRPr lang="en-US" sz="1150" dirty="0"/>
          </a:p>
        </p:txBody>
      </p:sp>
      <p:sp>
        <p:nvSpPr>
          <p:cNvPr id="6" name="Text 4"/>
          <p:cNvSpPr/>
          <p:nvPr/>
        </p:nvSpPr>
        <p:spPr>
          <a:xfrm>
            <a:off x="566928" y="1371600"/>
            <a:ext cx="8503920" cy="173736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Cyber Threat Intelligence</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Platform for Open RAN</a:t>
            </a:r>
            <a:endParaRPr lang="en-US" sz="4200" dirty="0"/>
          </a:p>
        </p:txBody>
      </p:sp>
      <p:sp>
        <p:nvSpPr>
          <p:cNvPr id="7" name="Text 5"/>
          <p:cNvSpPr/>
          <p:nvPr/>
        </p:nvSpPr>
        <p:spPr>
          <a:xfrm>
            <a:off x="566928" y="3200400"/>
            <a:ext cx="7863840" cy="731520"/>
          </a:xfrm>
          <a:prstGeom prst="rect">
            <a:avLst/>
          </a:prstGeom>
          <a:noFill/>
          <a:ln/>
        </p:spPr>
        <p:txBody>
          <a:bodyPr wrap="square" lIns="0" tIns="0" rIns="0" bIns="0" rtlCol="0" anchor="ctr"/>
          <a:lstStyle/>
          <a:p>
            <a:pPr indent="0" marL="0">
              <a:lnSpc>
                <a:spcPts val="2200"/>
              </a:lnSpc>
              <a:buNone/>
            </a:pPr>
            <a:r>
              <a:rPr lang="en-US" sz="1500" dirty="0">
                <a:solidFill>
                  <a:srgbClr val="A9BCDA"/>
                </a:solidFill>
                <a:latin typeface="Calibri" pitchFamily="34" charset="0"/>
                <a:ea typeface="Calibri" pitchFamily="34" charset="-122"/>
                <a:cs typeface="Calibri" pitchFamily="34" charset="-120"/>
              </a:rPr>
              <a:t>Agentic AI for multi-region O-RAN threat detection, hierarchical intelligence sharing and guarded automated mitigation</a:t>
            </a:r>
            <a:endParaRPr lang="en-US" sz="1500" dirty="0"/>
          </a:p>
        </p:txBody>
      </p:sp>
      <p:sp>
        <p:nvSpPr>
          <p:cNvPr id="8" name="Text 6"/>
          <p:cNvSpPr/>
          <p:nvPr/>
        </p:nvSpPr>
        <p:spPr>
          <a:xfrm>
            <a:off x="566928" y="4343400"/>
            <a:ext cx="3291840" cy="1280160"/>
          </a:xfrm>
          <a:prstGeom prst="rect">
            <a:avLst/>
          </a:prstGeom>
          <a:noFill/>
          <a:ln/>
        </p:spPr>
        <p:txBody>
          <a:bodyPr wrap="square" lIns="0" tIns="0" rIns="0" bIns="0" rtlCol="0" anchor="ctr"/>
          <a:lstStyle/>
          <a:p>
            <a:pPr indent="0" marL="0">
              <a:lnSpc>
                <a:spcPts val="1900"/>
              </a:lnSpc>
              <a:buNone/>
            </a:pPr>
            <a:r>
              <a:rPr lang="en-US" sz="1250" dirty="0">
                <a:solidFill>
                  <a:srgbClr val="FFFFFF"/>
                </a:solidFill>
                <a:latin typeface="Calibri" pitchFamily="34" charset="0"/>
                <a:ea typeface="Calibri" pitchFamily="34" charset="-122"/>
                <a:cs typeface="Calibri" pitchFamily="34" charset="-120"/>
              </a:rPr>
              <a:t>I.U. Madakaladeniya</a:t>
            </a:r>
            <a:endParaRPr lang="en-US" sz="1250" dirty="0"/>
          </a:p>
          <a:p>
            <a:pPr indent="0" marL="0">
              <a:lnSpc>
                <a:spcPts val="1900"/>
              </a:lnSpc>
              <a:buNone/>
            </a:pPr>
            <a:r>
              <a:rPr lang="en-US" sz="1250" dirty="0">
                <a:solidFill>
                  <a:srgbClr val="FFFFFF"/>
                </a:solidFill>
                <a:latin typeface="Calibri" pitchFamily="34" charset="0"/>
                <a:ea typeface="Calibri" pitchFamily="34" charset="-122"/>
                <a:cs typeface="Calibri" pitchFamily="34" charset="-120"/>
              </a:rPr>
              <a:t>S.A. Wijesinghe</a:t>
            </a:r>
            <a:endParaRPr lang="en-US" sz="1250" dirty="0"/>
          </a:p>
          <a:p>
            <a:pPr indent="0" marL="0">
              <a:lnSpc>
                <a:spcPts val="1900"/>
              </a:lnSpc>
              <a:buNone/>
            </a:pPr>
            <a:r>
              <a:rPr lang="en-US" sz="1250" dirty="0">
                <a:solidFill>
                  <a:srgbClr val="FFFFFF"/>
                </a:solidFill>
                <a:latin typeface="Calibri" pitchFamily="34" charset="0"/>
                <a:ea typeface="Calibri" pitchFamily="34" charset="-122"/>
                <a:cs typeface="Calibri" pitchFamily="34" charset="-120"/>
              </a:rPr>
              <a:t>P.A.G.N. Rathnaweera</a:t>
            </a:r>
            <a:endParaRPr lang="en-US" sz="1250" dirty="0"/>
          </a:p>
          <a:p>
            <a:pPr indent="0" marL="0">
              <a:lnSpc>
                <a:spcPts val="1900"/>
              </a:lnSpc>
              <a:buNone/>
            </a:pPr>
            <a:r>
              <a:rPr lang="en-US" sz="1250" dirty="0">
                <a:solidFill>
                  <a:srgbClr val="FFFFFF"/>
                </a:solidFill>
                <a:latin typeface="Calibri" pitchFamily="34" charset="0"/>
                <a:ea typeface="Calibri" pitchFamily="34" charset="-122"/>
                <a:cs typeface="Calibri" pitchFamily="34" charset="-120"/>
              </a:rPr>
              <a:t>H.G.R. Achintha</a:t>
            </a:r>
            <a:endParaRPr lang="en-US" sz="1250" dirty="0"/>
          </a:p>
        </p:txBody>
      </p:sp>
      <p:sp>
        <p:nvSpPr>
          <p:cNvPr id="9" name="Text 7"/>
          <p:cNvSpPr/>
          <p:nvPr/>
        </p:nvSpPr>
        <p:spPr>
          <a:xfrm>
            <a:off x="4114800" y="4343400"/>
            <a:ext cx="3840480" cy="1371600"/>
          </a:xfrm>
          <a:prstGeom prst="rect">
            <a:avLst/>
          </a:prstGeom>
          <a:noFill/>
          <a:ln/>
        </p:spPr>
        <p:txBody>
          <a:bodyPr wrap="square" lIns="0" tIns="0" rIns="0" bIns="0" rtlCol="0" anchor="ctr"/>
          <a:lstStyle/>
          <a:p>
            <a:pPr indent="0" marL="0">
              <a:lnSpc>
                <a:spcPts val="1800"/>
              </a:lnSpc>
              <a:buNone/>
            </a:pPr>
            <a:r>
              <a:rPr lang="en-US" sz="1250" b="1" dirty="0">
                <a:solidFill>
                  <a:srgbClr val="22D3EE"/>
                </a:solidFill>
                <a:latin typeface="Calibri" pitchFamily="34" charset="0"/>
                <a:ea typeface="Calibri" pitchFamily="34" charset="-122"/>
                <a:cs typeface="Calibri" pitchFamily="34" charset="-120"/>
              </a:rPr>
              <a:t>Supervisor</a:t>
            </a:r>
            <a:endParaRPr lang="en-US" sz="1250" dirty="0"/>
          </a:p>
          <a:p>
            <a:pPr indent="0" marL="0">
              <a:lnSpc>
                <a:spcPts val="1800"/>
              </a:lnSpc>
              <a:buNone/>
            </a:pPr>
            <a:r>
              <a:rPr lang="en-US" sz="1250" dirty="0">
                <a:solidFill>
                  <a:srgbClr val="A9BCDA"/>
                </a:solidFill>
                <a:latin typeface="Calibri" pitchFamily="34" charset="0"/>
                <a:ea typeface="Calibri" pitchFamily="34" charset="-122"/>
                <a:cs typeface="Calibri" pitchFamily="34" charset="-120"/>
              </a:rPr>
              <a:t>Dr. Geeth Priyankara</a:t>
            </a:r>
            <a:endParaRPr lang="en-US" sz="1250" dirty="0"/>
          </a:p>
          <a:p>
            <a:pPr indent="0" marL="0">
              <a:lnSpc>
                <a:spcPts val="1800"/>
              </a:lnSpc>
              <a:buNone/>
            </a:pPr>
            <a:endParaRPr lang="en-US" sz="1250" dirty="0"/>
          </a:p>
          <a:p>
            <a:pPr indent="0" marL="0">
              <a:lnSpc>
                <a:spcPts val="1800"/>
              </a:lnSpc>
              <a:buNone/>
            </a:pPr>
            <a:r>
              <a:rPr lang="en-US" sz="1250" b="1" dirty="0">
                <a:solidFill>
                  <a:srgbClr val="22D3EE"/>
                </a:solidFill>
                <a:latin typeface="Calibri" pitchFamily="34" charset="0"/>
                <a:ea typeface="Calibri" pitchFamily="34" charset="-122"/>
                <a:cs typeface="Calibri" pitchFamily="34" charset="-120"/>
              </a:rPr>
              <a:t>External Supervisor</a:t>
            </a:r>
            <a:endParaRPr lang="en-US" sz="1250" dirty="0"/>
          </a:p>
          <a:p>
            <a:pPr indent="0" marL="0">
              <a:lnSpc>
                <a:spcPts val="1800"/>
              </a:lnSpc>
              <a:buNone/>
            </a:pPr>
            <a:r>
              <a:rPr lang="en-US" sz="1250" dirty="0">
                <a:solidFill>
                  <a:srgbClr val="A9BCDA"/>
                </a:solidFill>
                <a:latin typeface="Calibri" pitchFamily="34" charset="0"/>
                <a:ea typeface="Calibri" pitchFamily="34" charset="-122"/>
                <a:cs typeface="Calibri" pitchFamily="34" charset="-120"/>
              </a:rPr>
              <a:t>Asst. Prof. Pasika Ranaweera</a:t>
            </a:r>
            <a:endParaRPr lang="en-US" sz="1250" dirty="0"/>
          </a:p>
        </p:txBody>
      </p:sp>
      <p:sp>
        <p:nvSpPr>
          <p:cNvPr id="10" name="Text 8"/>
          <p:cNvSpPr/>
          <p:nvPr/>
        </p:nvSpPr>
        <p:spPr>
          <a:xfrm>
            <a:off x="566928" y="5989320"/>
            <a:ext cx="10058400" cy="274320"/>
          </a:xfrm>
          <a:prstGeom prst="rect">
            <a:avLst/>
          </a:prstGeom>
          <a:noFill/>
          <a:ln/>
        </p:spPr>
        <p:txBody>
          <a:bodyPr wrap="square" lIns="0" tIns="0" rIns="0" bIns="0" rtlCol="0" anchor="ctr"/>
          <a:lstStyle/>
          <a:p>
            <a:pPr indent="0" marL="0">
              <a:buNone/>
            </a:pPr>
            <a:r>
              <a:rPr lang="en-US" sz="1100" dirty="0">
                <a:solidFill>
                  <a:srgbClr val="6C82A8"/>
                </a:solidFill>
                <a:latin typeface="Calibri" pitchFamily="34" charset="0"/>
                <a:ea typeface="Calibri" pitchFamily="34" charset="-122"/>
                <a:cs typeface="Calibri" pitchFamily="34" charset="-120"/>
              </a:rPr>
              <a:t>Department of Electrical and Information Engineering  ·  Faculty of Engineering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56032"/>
          </a:xfrm>
          <a:prstGeom prst="rect">
            <a:avLst/>
          </a:prstGeom>
          <a:noFill/>
          <a:ln/>
        </p:spPr>
        <p:txBody>
          <a:bodyPr wrap="square" lIns="0" tIns="0" rIns="0" bIns="0" rtlCol="0" anchor="ctr"/>
          <a:lstStyle/>
          <a:p>
            <a:pPr indent="0" marL="0">
              <a:buNone/>
            </a:pPr>
            <a:r>
              <a:rPr lang="en-US" sz="1150" b="1" spc="200" kern="0" dirty="0">
                <a:solidFill>
                  <a:srgbClr val="0E7490"/>
                </a:solidFill>
                <a:latin typeface="Calibri" pitchFamily="34" charset="0"/>
                <a:ea typeface="Calibri" pitchFamily="34" charset="-122"/>
                <a:cs typeface="Calibri" pitchFamily="34" charset="-120"/>
              </a:rPr>
              <a:t>THE PROBLEM</a:t>
            </a:r>
            <a:endParaRPr lang="en-US" sz="1150" dirty="0"/>
          </a:p>
        </p:txBody>
      </p:sp>
      <p:sp>
        <p:nvSpPr>
          <p:cNvPr id="3" name="Text 1"/>
          <p:cNvSpPr/>
          <p:nvPr/>
        </p:nvSpPr>
        <p:spPr>
          <a:xfrm>
            <a:off x="566928" y="603504"/>
            <a:ext cx="11027664" cy="65836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O-RAN opened the network — and the attack surface</a:t>
            </a:r>
            <a:endParaRPr lang="en-US" sz="3300" dirty="0"/>
          </a:p>
        </p:txBody>
      </p:sp>
      <p:sp>
        <p:nvSpPr>
          <p:cNvPr id="4" name="Text 2"/>
          <p:cNvSpPr/>
          <p:nvPr/>
        </p:nvSpPr>
        <p:spPr>
          <a:xfrm>
            <a:off x="566928" y="1389888"/>
            <a:ext cx="10881360" cy="548640"/>
          </a:xfrm>
          <a:prstGeom prst="rect">
            <a:avLst/>
          </a:prstGeom>
          <a:noFill/>
          <a:ln/>
        </p:spPr>
        <p:txBody>
          <a:bodyPr wrap="square" lIns="0" tIns="0" rIns="0" bIns="0" rtlCol="0" anchor="ctr"/>
          <a:lstStyle/>
          <a:p>
            <a:pPr indent="0" marL="0">
              <a:lnSpc>
                <a:spcPts val="2100"/>
              </a:lnSpc>
              <a:buNone/>
            </a:pPr>
            <a:r>
              <a:rPr lang="en-US" sz="1400" dirty="0">
                <a:solidFill>
                  <a:srgbClr val="334155"/>
                </a:solidFill>
                <a:latin typeface="Calibri" pitchFamily="34" charset="0"/>
                <a:ea typeface="Calibri" pitchFamily="34" charset="-122"/>
                <a:cs typeface="Calibri" pitchFamily="34" charset="-120"/>
              </a:rPr>
              <a:t>O-RAN replaced closed, single-vendor base stations with disaggregated multi-vendor components talking over open interfaces. That openness is the innovation — and the vulnerability.</a:t>
            </a:r>
            <a:endParaRPr lang="en-US" sz="1400" dirty="0"/>
          </a:p>
        </p:txBody>
      </p:sp>
      <p:sp>
        <p:nvSpPr>
          <p:cNvPr id="5" name="Shape 3"/>
          <p:cNvSpPr/>
          <p:nvPr/>
        </p:nvSpPr>
        <p:spPr>
          <a:xfrm>
            <a:off x="566928" y="2121408"/>
            <a:ext cx="5239512" cy="1627632"/>
          </a:xfrm>
          <a:prstGeom prst="roundRect">
            <a:avLst>
              <a:gd name="adj" fmla="val 5056"/>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6" name="Shape 4"/>
          <p:cNvSpPr/>
          <p:nvPr/>
        </p:nvSpPr>
        <p:spPr>
          <a:xfrm>
            <a:off x="822960" y="2395728"/>
            <a:ext cx="384048" cy="384048"/>
          </a:xfrm>
          <a:prstGeom prst="ellipse">
            <a:avLst/>
          </a:prstGeom>
          <a:solidFill>
            <a:srgbClr val="E11D48"/>
          </a:solidFill>
          <a:ln w="12700">
            <a:solidFill>
              <a:srgbClr val="E11D48"/>
            </a:solidFill>
            <a:prstDash val="solid"/>
          </a:ln>
        </p:spPr>
      </p:sp>
      <p:sp>
        <p:nvSpPr>
          <p:cNvPr id="7" name="Text 5"/>
          <p:cNvSpPr/>
          <p:nvPr/>
        </p:nvSpPr>
        <p:spPr>
          <a:xfrm>
            <a:off x="822960" y="23957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344168" y="2359152"/>
            <a:ext cx="4206240" cy="310896"/>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Expanded attack surface</a:t>
            </a:r>
            <a:endParaRPr lang="en-US" sz="1450" dirty="0"/>
          </a:p>
        </p:txBody>
      </p:sp>
      <p:sp>
        <p:nvSpPr>
          <p:cNvPr id="9" name="Text 7"/>
          <p:cNvSpPr/>
          <p:nvPr/>
        </p:nvSpPr>
        <p:spPr>
          <a:xfrm>
            <a:off x="1344168" y="2724912"/>
            <a:ext cx="4251960" cy="86868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O-RU, O-DU, O-CU, RIC and O-Cloud each add entry points that monolithic RAN never exposed.</a:t>
            </a:r>
            <a:endParaRPr lang="en-US" sz="1150" dirty="0"/>
          </a:p>
        </p:txBody>
      </p:sp>
      <p:sp>
        <p:nvSpPr>
          <p:cNvPr id="10" name="Shape 8"/>
          <p:cNvSpPr/>
          <p:nvPr/>
        </p:nvSpPr>
        <p:spPr>
          <a:xfrm>
            <a:off x="6355080" y="2121408"/>
            <a:ext cx="5239512" cy="1627632"/>
          </a:xfrm>
          <a:prstGeom prst="roundRect">
            <a:avLst>
              <a:gd name="adj" fmla="val 5056"/>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1" name="Shape 9"/>
          <p:cNvSpPr/>
          <p:nvPr/>
        </p:nvSpPr>
        <p:spPr>
          <a:xfrm>
            <a:off x="6611112" y="2395728"/>
            <a:ext cx="384048" cy="384048"/>
          </a:xfrm>
          <a:prstGeom prst="ellipse">
            <a:avLst/>
          </a:prstGeom>
          <a:solidFill>
            <a:srgbClr val="D97706"/>
          </a:solidFill>
          <a:ln w="12700">
            <a:solidFill>
              <a:srgbClr val="D97706"/>
            </a:solidFill>
            <a:prstDash val="solid"/>
          </a:ln>
        </p:spPr>
      </p:sp>
      <p:sp>
        <p:nvSpPr>
          <p:cNvPr id="12" name="Text 10"/>
          <p:cNvSpPr/>
          <p:nvPr/>
        </p:nvSpPr>
        <p:spPr>
          <a:xfrm>
            <a:off x="6611112" y="23957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7132320" y="2359152"/>
            <a:ext cx="4206240" cy="310896"/>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Open interface exposure</a:t>
            </a:r>
            <a:endParaRPr lang="en-US" sz="1450" dirty="0"/>
          </a:p>
        </p:txBody>
      </p:sp>
      <p:sp>
        <p:nvSpPr>
          <p:cNvPr id="14" name="Text 12"/>
          <p:cNvSpPr/>
          <p:nvPr/>
        </p:nvSpPr>
        <p:spPr>
          <a:xfrm>
            <a:off x="7132320" y="2724912"/>
            <a:ext cx="4251960" cy="86868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E2, A1, O1 and Open Fronthaul carry strict latency budgets that resist heavy security.</a:t>
            </a:r>
            <a:endParaRPr lang="en-US" sz="1150" dirty="0"/>
          </a:p>
        </p:txBody>
      </p:sp>
      <p:sp>
        <p:nvSpPr>
          <p:cNvPr id="15" name="Shape 13"/>
          <p:cNvSpPr/>
          <p:nvPr/>
        </p:nvSpPr>
        <p:spPr>
          <a:xfrm>
            <a:off x="566928" y="3950208"/>
            <a:ext cx="5239512" cy="1627632"/>
          </a:xfrm>
          <a:prstGeom prst="roundRect">
            <a:avLst>
              <a:gd name="adj" fmla="val 5056"/>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6" name="Shape 14"/>
          <p:cNvSpPr/>
          <p:nvPr/>
        </p:nvSpPr>
        <p:spPr>
          <a:xfrm>
            <a:off x="822960" y="4224528"/>
            <a:ext cx="384048" cy="384048"/>
          </a:xfrm>
          <a:prstGeom prst="ellipse">
            <a:avLst/>
          </a:prstGeom>
          <a:solidFill>
            <a:srgbClr val="7C3AED"/>
          </a:solidFill>
          <a:ln w="12700">
            <a:solidFill>
              <a:srgbClr val="7C3AED"/>
            </a:solidFill>
            <a:prstDash val="solid"/>
          </a:ln>
        </p:spPr>
      </p:sp>
      <p:sp>
        <p:nvSpPr>
          <p:cNvPr id="17" name="Text 15"/>
          <p:cNvSpPr/>
          <p:nvPr/>
        </p:nvSpPr>
        <p:spPr>
          <a:xfrm>
            <a:off x="822960" y="42245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344168" y="4187952"/>
            <a:ext cx="4206240" cy="310896"/>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Malicious xApps / rApps</a:t>
            </a:r>
            <a:endParaRPr lang="en-US" sz="1450" dirty="0"/>
          </a:p>
        </p:txBody>
      </p:sp>
      <p:sp>
        <p:nvSpPr>
          <p:cNvPr id="19" name="Text 17"/>
          <p:cNvSpPr/>
          <p:nvPr/>
        </p:nvSpPr>
        <p:spPr>
          <a:xfrm>
            <a:off x="1344168" y="4553712"/>
            <a:ext cx="4251960" cy="86868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A rogue app can alter radio parameters, track users or poison the ML models behind control.</a:t>
            </a:r>
            <a:endParaRPr lang="en-US" sz="1150" dirty="0"/>
          </a:p>
        </p:txBody>
      </p:sp>
      <p:sp>
        <p:nvSpPr>
          <p:cNvPr id="20" name="Shape 18"/>
          <p:cNvSpPr/>
          <p:nvPr/>
        </p:nvSpPr>
        <p:spPr>
          <a:xfrm>
            <a:off x="6355080" y="3950208"/>
            <a:ext cx="5239512" cy="1627632"/>
          </a:xfrm>
          <a:prstGeom prst="roundRect">
            <a:avLst>
              <a:gd name="adj" fmla="val 5056"/>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1" name="Shape 19"/>
          <p:cNvSpPr/>
          <p:nvPr/>
        </p:nvSpPr>
        <p:spPr>
          <a:xfrm>
            <a:off x="6611112" y="4224528"/>
            <a:ext cx="384048" cy="384048"/>
          </a:xfrm>
          <a:prstGeom prst="ellipse">
            <a:avLst/>
          </a:prstGeom>
          <a:solidFill>
            <a:srgbClr val="0E7490"/>
          </a:solidFill>
          <a:ln w="12700">
            <a:solidFill>
              <a:srgbClr val="0E7490"/>
            </a:solidFill>
            <a:prstDash val="solid"/>
          </a:ln>
        </p:spPr>
      </p:sp>
      <p:sp>
        <p:nvSpPr>
          <p:cNvPr id="22" name="Text 20"/>
          <p:cNvSpPr/>
          <p:nvPr/>
        </p:nvSpPr>
        <p:spPr>
          <a:xfrm>
            <a:off x="6611112" y="42245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7132320" y="4187952"/>
            <a:ext cx="4206240" cy="310896"/>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Multi-vendor supply chain</a:t>
            </a:r>
            <a:endParaRPr lang="en-US" sz="1450" dirty="0"/>
          </a:p>
        </p:txBody>
      </p:sp>
      <p:sp>
        <p:nvSpPr>
          <p:cNvPr id="24" name="Text 22"/>
          <p:cNvSpPr/>
          <p:nvPr/>
        </p:nvSpPr>
        <p:spPr>
          <a:xfrm>
            <a:off x="7132320" y="4553712"/>
            <a:ext cx="4251960" cy="86868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Mixed vendors and open-source components make trust and incident attribution far harder.</a:t>
            </a:r>
            <a:endParaRPr lang="en-US" sz="1150" dirty="0"/>
          </a:p>
        </p:txBody>
      </p:sp>
      <p:sp>
        <p:nvSpPr>
          <p:cNvPr id="25" name="Text 23"/>
          <p:cNvSpPr/>
          <p:nvPr/>
        </p:nvSpPr>
        <p:spPr>
          <a:xfrm>
            <a:off x="566928" y="5897880"/>
            <a:ext cx="10972800" cy="502920"/>
          </a:xfrm>
          <a:prstGeom prst="rect">
            <a:avLst/>
          </a:prstGeom>
          <a:noFill/>
          <a:ln/>
        </p:spPr>
        <p:txBody>
          <a:bodyPr wrap="square" lIns="0" tIns="0" rIns="0" bIns="0" rtlCol="0" anchor="ctr"/>
          <a:lstStyle/>
          <a:p>
            <a:pPr indent="0" marL="0">
              <a:buNone/>
            </a:pPr>
            <a:r>
              <a:rPr lang="en-US" sz="1250" i="1" dirty="0">
                <a:solidFill>
                  <a:srgbClr val="0E7490"/>
                </a:solidFill>
                <a:latin typeface="Calibri" pitchFamily="34" charset="0"/>
                <a:ea typeface="Calibri" pitchFamily="34" charset="-122"/>
                <a:cs typeface="Calibri" pitchFamily="34" charset="-120"/>
              </a:rPr>
              <a:t>A security event on an O-DU or an E2 interface is not a generic software bug — its meaning depends on the component's role, the affected control path and the live network state.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56032"/>
          </a:xfrm>
          <a:prstGeom prst="rect">
            <a:avLst/>
          </a:prstGeom>
          <a:noFill/>
          <a:ln/>
        </p:spPr>
        <p:txBody>
          <a:bodyPr wrap="square" lIns="0" tIns="0" rIns="0" bIns="0" rtlCol="0" anchor="ctr"/>
          <a:lstStyle/>
          <a:p>
            <a:pPr indent="0" marL="0">
              <a:buNone/>
            </a:pPr>
            <a:r>
              <a:rPr lang="en-US" sz="1150" b="1" spc="200" kern="0" dirty="0">
                <a:solidFill>
                  <a:srgbClr val="0E7490"/>
                </a:solidFill>
                <a:latin typeface="Calibri" pitchFamily="34" charset="0"/>
                <a:ea typeface="Calibri" pitchFamily="34" charset="-122"/>
                <a:cs typeface="Calibri" pitchFamily="34" charset="-120"/>
              </a:rPr>
              <a:t>THE GAP</a:t>
            </a:r>
            <a:endParaRPr lang="en-US" sz="1150" dirty="0"/>
          </a:p>
        </p:txBody>
      </p:sp>
      <p:sp>
        <p:nvSpPr>
          <p:cNvPr id="3" name="Text 1"/>
          <p:cNvSpPr/>
          <p:nvPr/>
        </p:nvSpPr>
        <p:spPr>
          <a:xfrm>
            <a:off x="566928" y="603504"/>
            <a:ext cx="11027664" cy="65836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Generic CTI platforms cannot speak O-RAN</a:t>
            </a:r>
            <a:endParaRPr lang="en-US" sz="3300" dirty="0"/>
          </a:p>
        </p:txBody>
      </p:sp>
      <p:sp>
        <p:nvSpPr>
          <p:cNvPr id="4" name="Text 2"/>
          <p:cNvSpPr/>
          <p:nvPr/>
        </p:nvSpPr>
        <p:spPr>
          <a:xfrm>
            <a:off x="566928" y="1389888"/>
            <a:ext cx="10881360" cy="603504"/>
          </a:xfrm>
          <a:prstGeom prst="rect">
            <a:avLst/>
          </a:prstGeom>
          <a:noFill/>
          <a:ln/>
        </p:spPr>
        <p:txBody>
          <a:bodyPr wrap="square" lIns="0" tIns="0" rIns="0" bIns="0" rtlCol="0" anchor="ctr"/>
          <a:lstStyle/>
          <a:p>
            <a:pPr indent="0" marL="0">
              <a:lnSpc>
                <a:spcPts val="2100"/>
              </a:lnSpc>
              <a:buNone/>
            </a:pPr>
            <a:r>
              <a:rPr lang="en-US" sz="1400" dirty="0">
                <a:solidFill>
                  <a:srgbClr val="334155"/>
                </a:solidFill>
                <a:latin typeface="Calibri" pitchFamily="34" charset="0"/>
                <a:ea typeface="Calibri" pitchFamily="34" charset="-122"/>
                <a:cs typeface="Calibri" pitchFamily="34" charset="-120"/>
              </a:rPr>
              <a:t>Enterprise CTI tools — Recorded Future, ThreatConnect, Anomali, OpenCTI — are mature, but their data models describe IT assets, not radio components. A feed may correctly describe a technique and still fail to say which O-RAN element is exposed.</a:t>
            </a:r>
            <a:endParaRPr lang="en-US" sz="1400" dirty="0"/>
          </a:p>
        </p:txBody>
      </p:sp>
      <p:sp>
        <p:nvSpPr>
          <p:cNvPr id="5" name="Shape 3"/>
          <p:cNvSpPr/>
          <p:nvPr/>
        </p:nvSpPr>
        <p:spPr>
          <a:xfrm>
            <a:off x="566928" y="2194560"/>
            <a:ext cx="5486400" cy="3063240"/>
          </a:xfrm>
          <a:prstGeom prst="roundRect">
            <a:avLst>
              <a:gd name="adj" fmla="val 2687"/>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6" name="Text 4"/>
          <p:cNvSpPr/>
          <p:nvPr/>
        </p:nvSpPr>
        <p:spPr>
          <a:xfrm>
            <a:off x="886968" y="2395728"/>
            <a:ext cx="4846320" cy="32004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What generic CTI cannot answer</a:t>
            </a:r>
            <a:endParaRPr lang="en-US" sz="1450" dirty="0"/>
          </a:p>
        </p:txBody>
      </p:sp>
      <p:sp>
        <p:nvSpPr>
          <p:cNvPr id="7" name="Text 5"/>
          <p:cNvSpPr/>
          <p:nvPr/>
        </p:nvSpPr>
        <p:spPr>
          <a:xfrm>
            <a:off x="886968" y="2788920"/>
            <a:ext cx="4892040" cy="228600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Which O-RAN component or interface is actually exposed?</a:t>
            </a:r>
            <a:endParaRPr lang="en-US" sz="1250" dirty="0"/>
          </a:p>
          <a:p>
            <a:pPr marL="342900" indent="-342900">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How would this threat propagate through a disaggregated RAN?</a:t>
            </a:r>
            <a:endParaRPr lang="en-US" sz="1250" dirty="0"/>
          </a:p>
          <a:p>
            <a:pPr marL="342900" indent="-342900">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Which radio or cloud observation supports the assessment?</a:t>
            </a:r>
            <a:endParaRPr lang="en-US" sz="1250" dirty="0"/>
          </a:p>
          <a:p>
            <a:pPr marL="342900" indent="-342900">
              <a:spcAft>
                <a:spcPts val="900"/>
              </a:spcAft>
              <a:buSzPct val="100000"/>
              <a:buChar char="•"/>
            </a:pPr>
            <a:r>
              <a:rPr lang="en-US" sz="1250" dirty="0">
                <a:solidFill>
                  <a:srgbClr val="334155"/>
                </a:solidFill>
                <a:latin typeface="Calibri" pitchFamily="34" charset="0"/>
                <a:ea typeface="Calibri" pitchFamily="34" charset="-122"/>
                <a:cs typeface="Calibri" pitchFamily="34" charset="-120"/>
              </a:rPr>
              <a:t>What response is safe for this specific deployment?</a:t>
            </a:r>
            <a:endParaRPr lang="en-US" sz="1250" dirty="0"/>
          </a:p>
        </p:txBody>
      </p:sp>
      <p:sp>
        <p:nvSpPr>
          <p:cNvPr id="8" name="Text 6"/>
          <p:cNvSpPr/>
          <p:nvPr/>
        </p:nvSpPr>
        <p:spPr>
          <a:xfrm>
            <a:off x="6400800" y="2212848"/>
            <a:ext cx="5212080" cy="292608"/>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Four gaps identified in the literature</a:t>
            </a:r>
            <a:endParaRPr lang="en-US" sz="1450" dirty="0"/>
          </a:p>
        </p:txBody>
      </p:sp>
      <p:sp>
        <p:nvSpPr>
          <p:cNvPr id="9" name="Shape 7"/>
          <p:cNvSpPr/>
          <p:nvPr/>
        </p:nvSpPr>
        <p:spPr>
          <a:xfrm>
            <a:off x="6400800" y="2651760"/>
            <a:ext cx="5193792" cy="548640"/>
          </a:xfrm>
          <a:prstGeom prst="roundRect">
            <a:avLst>
              <a:gd name="adj" fmla="val 150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0" name="Shape 8"/>
          <p:cNvSpPr/>
          <p:nvPr/>
        </p:nvSpPr>
        <p:spPr>
          <a:xfrm>
            <a:off x="6565392" y="2770632"/>
            <a:ext cx="310896" cy="310896"/>
          </a:xfrm>
          <a:prstGeom prst="ellipse">
            <a:avLst/>
          </a:prstGeom>
          <a:solidFill>
            <a:srgbClr val="E11D48"/>
          </a:solidFill>
          <a:ln w="12700">
            <a:solidFill>
              <a:srgbClr val="E11D48"/>
            </a:solidFill>
            <a:prstDash val="solid"/>
          </a:ln>
        </p:spPr>
      </p:sp>
      <p:sp>
        <p:nvSpPr>
          <p:cNvPr id="11" name="Text 9"/>
          <p:cNvSpPr/>
          <p:nvPr/>
        </p:nvSpPr>
        <p:spPr>
          <a:xfrm>
            <a:off x="6565392" y="27706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G1</a:t>
            </a:r>
            <a:endParaRPr lang="en-US" sz="1200" dirty="0"/>
          </a:p>
        </p:txBody>
      </p:sp>
      <p:sp>
        <p:nvSpPr>
          <p:cNvPr id="12" name="Text 10"/>
          <p:cNvSpPr/>
          <p:nvPr/>
        </p:nvSpPr>
        <p:spPr>
          <a:xfrm>
            <a:off x="7022592" y="2770632"/>
            <a:ext cx="4434840" cy="310896"/>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No O-RAN-specific CTI platform</a:t>
            </a:r>
            <a:endParaRPr lang="en-US" sz="1250" dirty="0"/>
          </a:p>
        </p:txBody>
      </p:sp>
      <p:sp>
        <p:nvSpPr>
          <p:cNvPr id="13" name="Shape 11"/>
          <p:cNvSpPr/>
          <p:nvPr/>
        </p:nvSpPr>
        <p:spPr>
          <a:xfrm>
            <a:off x="6400800" y="3310128"/>
            <a:ext cx="5193792" cy="548640"/>
          </a:xfrm>
          <a:prstGeom prst="roundRect">
            <a:avLst>
              <a:gd name="adj" fmla="val 150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4" name="Shape 12"/>
          <p:cNvSpPr/>
          <p:nvPr/>
        </p:nvSpPr>
        <p:spPr>
          <a:xfrm>
            <a:off x="6565392" y="3429000"/>
            <a:ext cx="310896" cy="310896"/>
          </a:xfrm>
          <a:prstGeom prst="ellipse">
            <a:avLst/>
          </a:prstGeom>
          <a:solidFill>
            <a:srgbClr val="D97706"/>
          </a:solidFill>
          <a:ln w="12700">
            <a:solidFill>
              <a:srgbClr val="D97706"/>
            </a:solidFill>
            <a:prstDash val="solid"/>
          </a:ln>
        </p:spPr>
      </p:sp>
      <p:sp>
        <p:nvSpPr>
          <p:cNvPr id="15" name="Text 13"/>
          <p:cNvSpPr/>
          <p:nvPr/>
        </p:nvSpPr>
        <p:spPr>
          <a:xfrm>
            <a:off x="6565392" y="34290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G2</a:t>
            </a:r>
            <a:endParaRPr lang="en-US" sz="1200" dirty="0"/>
          </a:p>
        </p:txBody>
      </p:sp>
      <p:sp>
        <p:nvSpPr>
          <p:cNvPr id="16" name="Text 14"/>
          <p:cNvSpPr/>
          <p:nvPr/>
        </p:nvSpPr>
        <p:spPr>
          <a:xfrm>
            <a:off x="7022592" y="3429000"/>
            <a:ext cx="4434840" cy="310896"/>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No automated telecom threat contextualisation</a:t>
            </a:r>
            <a:endParaRPr lang="en-US" sz="1250" dirty="0"/>
          </a:p>
        </p:txBody>
      </p:sp>
      <p:sp>
        <p:nvSpPr>
          <p:cNvPr id="17" name="Shape 15"/>
          <p:cNvSpPr/>
          <p:nvPr/>
        </p:nvSpPr>
        <p:spPr>
          <a:xfrm>
            <a:off x="6400800" y="3968496"/>
            <a:ext cx="5193792" cy="548640"/>
          </a:xfrm>
          <a:prstGeom prst="roundRect">
            <a:avLst>
              <a:gd name="adj" fmla="val 150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8" name="Shape 16"/>
          <p:cNvSpPr/>
          <p:nvPr/>
        </p:nvSpPr>
        <p:spPr>
          <a:xfrm>
            <a:off x="6565392" y="4087368"/>
            <a:ext cx="310896" cy="310896"/>
          </a:xfrm>
          <a:prstGeom prst="ellipse">
            <a:avLst/>
          </a:prstGeom>
          <a:solidFill>
            <a:srgbClr val="7C3AED"/>
          </a:solidFill>
          <a:ln w="12700">
            <a:solidFill>
              <a:srgbClr val="7C3AED"/>
            </a:solidFill>
            <a:prstDash val="solid"/>
          </a:ln>
        </p:spPr>
      </p:sp>
      <p:sp>
        <p:nvSpPr>
          <p:cNvPr id="19" name="Text 17"/>
          <p:cNvSpPr/>
          <p:nvPr/>
        </p:nvSpPr>
        <p:spPr>
          <a:xfrm>
            <a:off x="6565392" y="40873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G3</a:t>
            </a:r>
            <a:endParaRPr lang="en-US" sz="1200" dirty="0"/>
          </a:p>
        </p:txBody>
      </p:sp>
      <p:sp>
        <p:nvSpPr>
          <p:cNvPr id="20" name="Text 18"/>
          <p:cNvSpPr/>
          <p:nvPr/>
        </p:nvSpPr>
        <p:spPr>
          <a:xfrm>
            <a:off x="7022592" y="4087368"/>
            <a:ext cx="4434840" cy="310896"/>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No intelligent inter-platform coordination</a:t>
            </a:r>
            <a:endParaRPr lang="en-US" sz="1250" dirty="0"/>
          </a:p>
        </p:txBody>
      </p:sp>
      <p:sp>
        <p:nvSpPr>
          <p:cNvPr id="21" name="Shape 19"/>
          <p:cNvSpPr/>
          <p:nvPr/>
        </p:nvSpPr>
        <p:spPr>
          <a:xfrm>
            <a:off x="6400800" y="4626864"/>
            <a:ext cx="5193792" cy="548640"/>
          </a:xfrm>
          <a:prstGeom prst="roundRect">
            <a:avLst>
              <a:gd name="adj" fmla="val 150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2" name="Shape 20"/>
          <p:cNvSpPr/>
          <p:nvPr/>
        </p:nvSpPr>
        <p:spPr>
          <a:xfrm>
            <a:off x="6565392" y="4745736"/>
            <a:ext cx="310896" cy="310896"/>
          </a:xfrm>
          <a:prstGeom prst="ellipse">
            <a:avLst/>
          </a:prstGeom>
          <a:solidFill>
            <a:srgbClr val="0E7490"/>
          </a:solidFill>
          <a:ln w="12700">
            <a:solidFill>
              <a:srgbClr val="0E7490"/>
            </a:solidFill>
            <a:prstDash val="solid"/>
          </a:ln>
        </p:spPr>
      </p:sp>
      <p:sp>
        <p:nvSpPr>
          <p:cNvPr id="23" name="Text 21"/>
          <p:cNvSpPr/>
          <p:nvPr/>
        </p:nvSpPr>
        <p:spPr>
          <a:xfrm>
            <a:off x="6565392" y="47457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G4</a:t>
            </a:r>
            <a:endParaRPr lang="en-US" sz="1200" dirty="0"/>
          </a:p>
        </p:txBody>
      </p:sp>
      <p:sp>
        <p:nvSpPr>
          <p:cNvPr id="24" name="Text 22"/>
          <p:cNvSpPr/>
          <p:nvPr/>
        </p:nvSpPr>
        <p:spPr>
          <a:xfrm>
            <a:off x="7022592" y="4745736"/>
            <a:ext cx="4434840" cy="310896"/>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No RIC integration for threat intelligence</a:t>
            </a:r>
            <a:endParaRPr lang="en-US" sz="1250" dirty="0"/>
          </a:p>
        </p:txBody>
      </p:sp>
      <p:sp>
        <p:nvSpPr>
          <p:cNvPr id="25" name="Shape 23"/>
          <p:cNvSpPr/>
          <p:nvPr/>
        </p:nvSpPr>
        <p:spPr>
          <a:xfrm>
            <a:off x="566928" y="5440680"/>
            <a:ext cx="11027664" cy="914400"/>
          </a:xfrm>
          <a:prstGeom prst="roundRect">
            <a:avLst>
              <a:gd name="adj" fmla="val 9000"/>
            </a:avLst>
          </a:prstGeom>
          <a:solidFill>
            <a:srgbClr val="0E7490"/>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6" name="Text 24"/>
          <p:cNvSpPr/>
          <p:nvPr/>
        </p:nvSpPr>
        <p:spPr>
          <a:xfrm>
            <a:off x="932688" y="5596128"/>
            <a:ext cx="10332720" cy="60350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Measured later in this deck: on six ground-truth 5G scenarios, OpenCTI retrieved the correct threat 0% of the time. Our platform: 100%.</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56032"/>
          </a:xfrm>
          <a:prstGeom prst="rect">
            <a:avLst/>
          </a:prstGeom>
          <a:noFill/>
          <a:ln/>
        </p:spPr>
        <p:txBody>
          <a:bodyPr wrap="square" lIns="0" tIns="0" rIns="0" bIns="0" rtlCol="0" anchor="ctr"/>
          <a:lstStyle/>
          <a:p>
            <a:pPr indent="0" marL="0">
              <a:buNone/>
            </a:pPr>
            <a:r>
              <a:rPr lang="en-US" sz="1150" b="1" spc="200" kern="0" dirty="0">
                <a:solidFill>
                  <a:srgbClr val="0E7490"/>
                </a:solidFill>
                <a:latin typeface="Calibri" pitchFamily="34" charset="0"/>
                <a:ea typeface="Calibri" pitchFamily="34" charset="-122"/>
                <a:cs typeface="Calibri" pitchFamily="34" charset="-120"/>
              </a:rPr>
              <a:t>OBJECTIVES</a:t>
            </a:r>
            <a:endParaRPr lang="en-US" sz="1150" dirty="0"/>
          </a:p>
        </p:txBody>
      </p:sp>
      <p:sp>
        <p:nvSpPr>
          <p:cNvPr id="3" name="Text 1"/>
          <p:cNvSpPr/>
          <p:nvPr/>
        </p:nvSpPr>
        <p:spPr>
          <a:xfrm>
            <a:off x="566928" y="603504"/>
            <a:ext cx="11027664" cy="65836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Three objectives, all implemented and evaluated</a:t>
            </a:r>
            <a:endParaRPr lang="en-US" sz="3300" dirty="0"/>
          </a:p>
        </p:txBody>
      </p:sp>
      <p:sp>
        <p:nvSpPr>
          <p:cNvPr id="4" name="Shape 2"/>
          <p:cNvSpPr/>
          <p:nvPr/>
        </p:nvSpPr>
        <p:spPr>
          <a:xfrm>
            <a:off x="566928" y="1572768"/>
            <a:ext cx="3493008" cy="4160520"/>
          </a:xfrm>
          <a:prstGeom prst="roundRect">
            <a:avLst>
              <a:gd name="adj" fmla="val 2356"/>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5" name="Shape 3"/>
          <p:cNvSpPr/>
          <p:nvPr/>
        </p:nvSpPr>
        <p:spPr>
          <a:xfrm>
            <a:off x="841248" y="1810512"/>
            <a:ext cx="512064" cy="512064"/>
          </a:xfrm>
          <a:prstGeom prst="ellipse">
            <a:avLst/>
          </a:prstGeom>
          <a:solidFill>
            <a:srgbClr val="0E7490"/>
          </a:solidFill>
          <a:ln w="12700">
            <a:solidFill>
              <a:srgbClr val="0E7490"/>
            </a:solidFill>
            <a:prstDash val="solid"/>
          </a:ln>
        </p:spPr>
      </p:sp>
      <p:sp>
        <p:nvSpPr>
          <p:cNvPr id="6" name="Text 4"/>
          <p:cNvSpPr/>
          <p:nvPr/>
        </p:nvSpPr>
        <p:spPr>
          <a:xfrm>
            <a:off x="841248" y="181051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O1</a:t>
            </a:r>
            <a:endParaRPr lang="en-US" sz="1500" dirty="0"/>
          </a:p>
        </p:txBody>
      </p:sp>
      <p:sp>
        <p:nvSpPr>
          <p:cNvPr id="7" name="Text 5"/>
          <p:cNvSpPr/>
          <p:nvPr/>
        </p:nvSpPr>
        <p:spPr>
          <a:xfrm>
            <a:off x="1463040" y="1874520"/>
            <a:ext cx="2468880" cy="38404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Build the platform</a:t>
            </a:r>
            <a:endParaRPr lang="en-US" sz="1600" dirty="0"/>
          </a:p>
        </p:txBody>
      </p:sp>
      <p:sp>
        <p:nvSpPr>
          <p:cNvPr id="8" name="Text 6"/>
          <p:cNvSpPr/>
          <p:nvPr/>
        </p:nvSpPr>
        <p:spPr>
          <a:xfrm>
            <a:off x="859536" y="2542032"/>
            <a:ext cx="2971800" cy="2926080"/>
          </a:xfrm>
          <a:prstGeom prst="rect">
            <a:avLst/>
          </a:prstGeom>
          <a:noFill/>
          <a:ln/>
        </p:spPr>
        <p:txBody>
          <a:bodyPr wrap="square" lIns="0" tIns="0" rIns="0" bIns="0" rtlCol="0" anchor="t"/>
          <a:lstStyle/>
          <a:p>
            <a:pPr marL="342900" indent="-342900">
              <a:spcAft>
                <a:spcPts val="1000"/>
              </a:spcAft>
              <a:buSzPct val="100000"/>
              <a:buChar char="•"/>
            </a:pPr>
            <a:r>
              <a:rPr lang="en-US" sz="1150" dirty="0">
                <a:solidFill>
                  <a:srgbClr val="334155"/>
                </a:solidFill>
                <a:latin typeface="Calibri" pitchFamily="34" charset="0"/>
                <a:ea typeface="Calibri" pitchFamily="34" charset="-122"/>
                <a:cs typeface="Calibri" pitchFamily="34" charset="-120"/>
              </a:rPr>
              <a:t>Repeatable multi-region O-RAN testbed</a:t>
            </a:r>
            <a:endParaRPr lang="en-US" sz="1150" dirty="0"/>
          </a:p>
          <a:p>
            <a:pPr marL="342900" indent="-342900">
              <a:spcAft>
                <a:spcPts val="1000"/>
              </a:spcAft>
              <a:buSzPct val="100000"/>
              <a:buChar char="•"/>
            </a:pPr>
            <a:r>
              <a:rPr lang="en-US" sz="1150" dirty="0">
                <a:solidFill>
                  <a:srgbClr val="334155"/>
                </a:solidFill>
                <a:latin typeface="Calibri" pitchFamily="34" charset="0"/>
                <a:ea typeface="Calibri" pitchFamily="34" charset="-122"/>
                <a:cs typeface="Calibri" pitchFamily="34" charset="-120"/>
              </a:rPr>
              <a:t>Explainable evidence from E2SM-KPM, Prometheus, Loki, Falco</a:t>
            </a:r>
            <a:endParaRPr lang="en-US" sz="1150" dirty="0"/>
          </a:p>
          <a:p>
            <a:pPr marL="342900" indent="-342900">
              <a:spcAft>
                <a:spcPts val="1000"/>
              </a:spcAft>
              <a:buSzPct val="100000"/>
              <a:buChar char="•"/>
            </a:pPr>
            <a:r>
              <a:rPr lang="en-US" sz="1150" dirty="0">
                <a:solidFill>
                  <a:srgbClr val="334155"/>
                </a:solidFill>
                <a:latin typeface="Calibri" pitchFamily="34" charset="0"/>
                <a:ea typeface="Calibri" pitchFamily="34" charset="-122"/>
                <a:cs typeface="Calibri" pitchFamily="34" charset="-120"/>
              </a:rPr>
              <a:t>ATT&amp;CK / FiGHT ingested into O-RAN-aware CTI registries</a:t>
            </a:r>
            <a:endParaRPr lang="en-US" sz="1150" dirty="0"/>
          </a:p>
          <a:p>
            <a:pPr marL="342900" indent="-342900">
              <a:spcAft>
                <a:spcPts val="1000"/>
              </a:spcAft>
              <a:buSzPct val="100000"/>
              <a:buChar char="•"/>
            </a:pPr>
            <a:r>
              <a:rPr lang="en-US" sz="1150" dirty="0">
                <a:solidFill>
                  <a:srgbClr val="334155"/>
                </a:solidFill>
                <a:latin typeface="Calibri" pitchFamily="34" charset="0"/>
                <a:ea typeface="Calibri" pitchFamily="34" charset="-122"/>
                <a:cs typeface="Calibri" pitchFamily="34" charset="-120"/>
              </a:rPr>
              <a:t>Privacy-aware dissemination with provenance</a:t>
            </a:r>
            <a:endParaRPr lang="en-US" sz="1150" dirty="0"/>
          </a:p>
        </p:txBody>
      </p:sp>
      <p:sp>
        <p:nvSpPr>
          <p:cNvPr id="9" name="Shape 7"/>
          <p:cNvSpPr/>
          <p:nvPr/>
        </p:nvSpPr>
        <p:spPr>
          <a:xfrm>
            <a:off x="4279392" y="1572768"/>
            <a:ext cx="3493008" cy="4160520"/>
          </a:xfrm>
          <a:prstGeom prst="roundRect">
            <a:avLst>
              <a:gd name="adj" fmla="val 2356"/>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0" name="Shape 8"/>
          <p:cNvSpPr/>
          <p:nvPr/>
        </p:nvSpPr>
        <p:spPr>
          <a:xfrm>
            <a:off x="4553712" y="1810512"/>
            <a:ext cx="512064" cy="512064"/>
          </a:xfrm>
          <a:prstGeom prst="ellipse">
            <a:avLst/>
          </a:prstGeom>
          <a:solidFill>
            <a:srgbClr val="7C3AED"/>
          </a:solidFill>
          <a:ln w="12700">
            <a:solidFill>
              <a:srgbClr val="7C3AED"/>
            </a:solidFill>
            <a:prstDash val="solid"/>
          </a:ln>
        </p:spPr>
      </p:sp>
      <p:sp>
        <p:nvSpPr>
          <p:cNvPr id="11" name="Text 9"/>
          <p:cNvSpPr/>
          <p:nvPr/>
        </p:nvSpPr>
        <p:spPr>
          <a:xfrm>
            <a:off x="4553712" y="181051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O2</a:t>
            </a:r>
            <a:endParaRPr lang="en-US" sz="1500" dirty="0"/>
          </a:p>
        </p:txBody>
      </p:sp>
      <p:sp>
        <p:nvSpPr>
          <p:cNvPr id="12" name="Text 10"/>
          <p:cNvSpPr/>
          <p:nvPr/>
        </p:nvSpPr>
        <p:spPr>
          <a:xfrm>
            <a:off x="5175504" y="1874520"/>
            <a:ext cx="2468880" cy="38404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Integrate agentic AI</a:t>
            </a:r>
            <a:endParaRPr lang="en-US" sz="1600" dirty="0"/>
          </a:p>
        </p:txBody>
      </p:sp>
      <p:sp>
        <p:nvSpPr>
          <p:cNvPr id="13" name="Text 11"/>
          <p:cNvSpPr/>
          <p:nvPr/>
        </p:nvSpPr>
        <p:spPr>
          <a:xfrm>
            <a:off x="4572000" y="2542032"/>
            <a:ext cx="2971800" cy="2926080"/>
          </a:xfrm>
          <a:prstGeom prst="rect">
            <a:avLst/>
          </a:prstGeom>
          <a:noFill/>
          <a:ln/>
        </p:spPr>
        <p:txBody>
          <a:bodyPr wrap="square" lIns="0" tIns="0" rIns="0" bIns="0" rtlCol="0" anchor="t"/>
          <a:lstStyle/>
          <a:p>
            <a:pPr marL="342900" indent="-342900">
              <a:spcAft>
                <a:spcPts val="1000"/>
              </a:spcAft>
              <a:buSzPct val="100000"/>
              <a:buChar char="•"/>
            </a:pPr>
            <a:r>
              <a:rPr lang="en-US" sz="1150" dirty="0">
                <a:solidFill>
                  <a:srgbClr val="334155"/>
                </a:solidFill>
                <a:latin typeface="Calibri" pitchFamily="34" charset="0"/>
                <a:ea typeface="Calibri" pitchFamily="34" charset="-122"/>
                <a:cs typeface="Calibri" pitchFamily="34" charset="-120"/>
              </a:rPr>
              <a:t>Regional RAG agents for component-aware retrieval</a:t>
            </a:r>
            <a:endParaRPr lang="en-US" sz="1150" dirty="0"/>
          </a:p>
          <a:p>
            <a:pPr marL="342900" indent="-342900">
              <a:spcAft>
                <a:spcPts val="1000"/>
              </a:spcAft>
              <a:buSzPct val="100000"/>
              <a:buChar char="•"/>
            </a:pPr>
            <a:r>
              <a:rPr lang="en-US" sz="1150" dirty="0">
                <a:solidFill>
                  <a:srgbClr val="334155"/>
                </a:solidFill>
                <a:latin typeface="Calibri" pitchFamily="34" charset="0"/>
                <a:ea typeface="Calibri" pitchFamily="34" charset="-122"/>
                <a:cs typeface="Calibri" pitchFamily="34" charset="-120"/>
              </a:rPr>
              <a:t>MCP escalation to Global-RAG when local evidence is weak</a:t>
            </a:r>
            <a:endParaRPr lang="en-US" sz="1150" dirty="0"/>
          </a:p>
          <a:p>
            <a:pPr marL="342900" indent="-342900">
              <a:spcAft>
                <a:spcPts val="1000"/>
              </a:spcAft>
              <a:buSzPct val="100000"/>
              <a:buChar char="•"/>
            </a:pPr>
            <a:r>
              <a:rPr lang="en-US" sz="1150" dirty="0">
                <a:solidFill>
                  <a:srgbClr val="334155"/>
                </a:solidFill>
                <a:latin typeface="Calibri" pitchFamily="34" charset="0"/>
                <a:ea typeface="Calibri" pitchFamily="34" charset="-122"/>
                <a:cs typeface="Calibri" pitchFamily="34" charset="-120"/>
              </a:rPr>
              <a:t>Controlled regional learning with de-duplication</a:t>
            </a:r>
            <a:endParaRPr lang="en-US" sz="1150" dirty="0"/>
          </a:p>
          <a:p>
            <a:pPr marL="342900" indent="-342900">
              <a:spcAft>
                <a:spcPts val="1000"/>
              </a:spcAft>
              <a:buSzPct val="100000"/>
              <a:buChar char="•"/>
            </a:pPr>
            <a:r>
              <a:rPr lang="en-US" sz="1150" dirty="0">
                <a:solidFill>
                  <a:srgbClr val="334155"/>
                </a:solidFill>
                <a:latin typeface="Calibri" pitchFamily="34" charset="0"/>
                <a:ea typeface="Calibri" pitchFamily="34" charset="-122"/>
                <a:cs typeface="Calibri" pitchFamily="34" charset="-120"/>
              </a:rPr>
              <a:t>Recommendations behind deterministic policy gates</a:t>
            </a:r>
            <a:endParaRPr lang="en-US" sz="1150" dirty="0"/>
          </a:p>
        </p:txBody>
      </p:sp>
      <p:sp>
        <p:nvSpPr>
          <p:cNvPr id="14" name="Shape 12"/>
          <p:cNvSpPr/>
          <p:nvPr/>
        </p:nvSpPr>
        <p:spPr>
          <a:xfrm>
            <a:off x="7991856" y="1572768"/>
            <a:ext cx="3493008" cy="4160520"/>
          </a:xfrm>
          <a:prstGeom prst="roundRect">
            <a:avLst>
              <a:gd name="adj" fmla="val 2356"/>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5" name="Shape 13"/>
          <p:cNvSpPr/>
          <p:nvPr/>
        </p:nvSpPr>
        <p:spPr>
          <a:xfrm>
            <a:off x="8266176" y="1810512"/>
            <a:ext cx="512064" cy="512064"/>
          </a:xfrm>
          <a:prstGeom prst="ellipse">
            <a:avLst/>
          </a:prstGeom>
          <a:solidFill>
            <a:srgbClr val="16A34A"/>
          </a:solidFill>
          <a:ln w="12700">
            <a:solidFill>
              <a:srgbClr val="16A34A"/>
            </a:solidFill>
            <a:prstDash val="solid"/>
          </a:ln>
        </p:spPr>
      </p:sp>
      <p:sp>
        <p:nvSpPr>
          <p:cNvPr id="16" name="Text 14"/>
          <p:cNvSpPr/>
          <p:nvPr/>
        </p:nvSpPr>
        <p:spPr>
          <a:xfrm>
            <a:off x="8266176" y="181051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O3</a:t>
            </a:r>
            <a:endParaRPr lang="en-US" sz="1500" dirty="0"/>
          </a:p>
        </p:txBody>
      </p:sp>
      <p:sp>
        <p:nvSpPr>
          <p:cNvPr id="17" name="Text 15"/>
          <p:cNvSpPr/>
          <p:nvPr/>
        </p:nvSpPr>
        <p:spPr>
          <a:xfrm>
            <a:off x="8887968" y="1874520"/>
            <a:ext cx="2468880" cy="38404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Validate and evaluate</a:t>
            </a:r>
            <a:endParaRPr lang="en-US" sz="1600" dirty="0"/>
          </a:p>
        </p:txBody>
      </p:sp>
      <p:sp>
        <p:nvSpPr>
          <p:cNvPr id="18" name="Text 16"/>
          <p:cNvSpPr/>
          <p:nvPr/>
        </p:nvSpPr>
        <p:spPr>
          <a:xfrm>
            <a:off x="8284464" y="2542032"/>
            <a:ext cx="2971800" cy="2926080"/>
          </a:xfrm>
          <a:prstGeom prst="rect">
            <a:avLst/>
          </a:prstGeom>
          <a:noFill/>
          <a:ln/>
        </p:spPr>
        <p:txBody>
          <a:bodyPr wrap="square" lIns="0" tIns="0" rIns="0" bIns="0" rtlCol="0" anchor="t"/>
          <a:lstStyle/>
          <a:p>
            <a:pPr marL="342900" indent="-342900">
              <a:spcAft>
                <a:spcPts val="1000"/>
              </a:spcAft>
              <a:buSzPct val="100000"/>
              <a:buChar char="•"/>
            </a:pPr>
            <a:r>
              <a:rPr lang="en-US" sz="1150" dirty="0">
                <a:solidFill>
                  <a:srgbClr val="334155"/>
                </a:solidFill>
                <a:latin typeface="Calibri" pitchFamily="34" charset="0"/>
                <a:ea typeface="Calibri" pitchFamily="34" charset="-122"/>
                <a:cs typeface="Calibri" pitchFamily="34" charset="-120"/>
              </a:rPr>
              <a:t>Frozen ground-truth intelligence benchmark</a:t>
            </a:r>
            <a:endParaRPr lang="en-US" sz="1150" dirty="0"/>
          </a:p>
          <a:p>
            <a:pPr marL="342900" indent="-342900">
              <a:spcAft>
                <a:spcPts val="1000"/>
              </a:spcAft>
              <a:buSzPct val="100000"/>
              <a:buChar char="•"/>
            </a:pPr>
            <a:r>
              <a:rPr lang="en-US" sz="1150" dirty="0">
                <a:solidFill>
                  <a:srgbClr val="334155"/>
                </a:solidFill>
                <a:latin typeface="Calibri" pitchFamily="34" charset="0"/>
                <a:ea typeface="Calibri" pitchFamily="34" charset="-122"/>
                <a:cs typeface="Calibri" pitchFamily="34" charset="-120"/>
              </a:rPr>
              <a:t>Controlled detector and mitigation experiments</a:t>
            </a:r>
            <a:endParaRPr lang="en-US" sz="1150" dirty="0"/>
          </a:p>
          <a:p>
            <a:pPr marL="342900" indent="-342900">
              <a:spcAft>
                <a:spcPts val="1000"/>
              </a:spcAft>
              <a:buSzPct val="100000"/>
              <a:buChar char="•"/>
            </a:pPr>
            <a:r>
              <a:rPr lang="en-US" sz="1150" dirty="0">
                <a:solidFill>
                  <a:srgbClr val="334155"/>
                </a:solidFill>
                <a:latin typeface="Calibri" pitchFamily="34" charset="0"/>
                <a:ea typeface="Calibri" pitchFamily="34" charset="-122"/>
                <a:cs typeface="Calibri" pitchFamily="34" charset="-120"/>
              </a:rPr>
              <a:t>Head-to-head comparison against OpenCTI</a:t>
            </a:r>
            <a:endParaRPr lang="en-US" sz="1150" dirty="0"/>
          </a:p>
          <a:p>
            <a:pPr marL="342900" indent="-342900">
              <a:spcAft>
                <a:spcPts val="1000"/>
              </a:spcAft>
              <a:buSzPct val="100000"/>
              <a:buChar char="•"/>
            </a:pPr>
            <a:r>
              <a:rPr lang="en-US" sz="1150" dirty="0">
                <a:solidFill>
                  <a:srgbClr val="334155"/>
                </a:solidFill>
                <a:latin typeface="Calibri" pitchFamily="34" charset="0"/>
                <a:ea typeface="Calibri" pitchFamily="34" charset="-122"/>
                <a:cs typeface="Calibri" pitchFamily="34" charset="-120"/>
              </a:rPr>
              <a:t>Operational security score per region</a:t>
            </a:r>
            <a:endParaRPr lang="en-US" sz="1150" dirty="0"/>
          </a:p>
        </p:txBody>
      </p:sp>
      <p:sp>
        <p:nvSpPr>
          <p:cNvPr id="19" name="Text 17"/>
          <p:cNvSpPr/>
          <p:nvPr/>
        </p:nvSpPr>
        <p:spPr>
          <a:xfrm>
            <a:off x="566928" y="5943600"/>
            <a:ext cx="1097280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All three objectives were implemented; O3 is evaluated within the declared prototype scope.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56032"/>
          </a:xfrm>
          <a:prstGeom prst="rect">
            <a:avLst/>
          </a:prstGeom>
          <a:noFill/>
          <a:ln/>
        </p:spPr>
        <p:txBody>
          <a:bodyPr wrap="square" lIns="0" tIns="0" rIns="0" bIns="0" rtlCol="0" anchor="ctr"/>
          <a:lstStyle/>
          <a:p>
            <a:pPr indent="0" marL="0">
              <a:buNone/>
            </a:pPr>
            <a:r>
              <a:rPr lang="en-US" sz="1150" b="1" spc="200" kern="0" dirty="0">
                <a:solidFill>
                  <a:srgbClr val="0E7490"/>
                </a:solidFill>
                <a:latin typeface="Calibri" pitchFamily="34" charset="0"/>
                <a:ea typeface="Calibri" pitchFamily="34" charset="-122"/>
                <a:cs typeface="Calibri" pitchFamily="34" charset="-120"/>
              </a:rPr>
              <a:t>SYSTEM ARCHITECTURE</a:t>
            </a:r>
            <a:endParaRPr lang="en-US" sz="1150" dirty="0"/>
          </a:p>
        </p:txBody>
      </p:sp>
      <p:sp>
        <p:nvSpPr>
          <p:cNvPr id="3" name="Text 1"/>
          <p:cNvSpPr/>
          <p:nvPr/>
        </p:nvSpPr>
        <p:spPr>
          <a:xfrm>
            <a:off x="566928" y="603504"/>
            <a:ext cx="11027664" cy="65836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Local-first intelligence, globally coordinated</a:t>
            </a:r>
            <a:endParaRPr lang="en-US" sz="3300" dirty="0"/>
          </a:p>
        </p:txBody>
      </p:sp>
      <p:pic>
        <p:nvPicPr>
          <p:cNvPr id="4" name="Image 0" descr="img/architecture.png">    </p:cNvPr>
          <p:cNvPicPr>
            <a:picLocks noChangeAspect="1"/>
          </p:cNvPicPr>
          <p:nvPr/>
        </p:nvPicPr>
        <p:blipFill>
          <a:blip r:embed="rId1"/>
          <a:stretch>
            <a:fillRect/>
          </a:stretch>
        </p:blipFill>
        <p:spPr>
          <a:xfrm>
            <a:off x="658368" y="1298448"/>
            <a:ext cx="7818120" cy="5431536"/>
          </a:xfrm>
          <a:prstGeom prst="rect">
            <a:avLst/>
          </a:prstGeom>
        </p:spPr>
      </p:pic>
      <p:sp>
        <p:nvSpPr>
          <p:cNvPr id="5" name="Text 2"/>
          <p:cNvSpPr/>
          <p:nvPr/>
        </p:nvSpPr>
        <p:spPr>
          <a:xfrm>
            <a:off x="8686800" y="1371600"/>
            <a:ext cx="301752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Two tiers, four regions</a:t>
            </a:r>
            <a:endParaRPr lang="en-US" sz="1500" dirty="0"/>
          </a:p>
        </p:txBody>
      </p:sp>
      <p:sp>
        <p:nvSpPr>
          <p:cNvPr id="6" name="Shape 3"/>
          <p:cNvSpPr/>
          <p:nvPr/>
        </p:nvSpPr>
        <p:spPr>
          <a:xfrm>
            <a:off x="8686800" y="1856232"/>
            <a:ext cx="292608" cy="292608"/>
          </a:xfrm>
          <a:prstGeom prst="ellipse">
            <a:avLst/>
          </a:prstGeom>
          <a:solidFill>
            <a:srgbClr val="0E7490"/>
          </a:solidFill>
          <a:ln w="12700">
            <a:solidFill>
              <a:srgbClr val="0E7490"/>
            </a:solidFill>
            <a:prstDash val="solid"/>
          </a:ln>
        </p:spPr>
      </p:sp>
      <p:sp>
        <p:nvSpPr>
          <p:cNvPr id="7" name="Text 4"/>
          <p:cNvSpPr/>
          <p:nvPr/>
        </p:nvSpPr>
        <p:spPr>
          <a:xfrm>
            <a:off x="8686800" y="18562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5"/>
          <p:cNvSpPr/>
          <p:nvPr/>
        </p:nvSpPr>
        <p:spPr>
          <a:xfrm>
            <a:off x="9098280" y="1828800"/>
            <a:ext cx="265176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Non-RT RIC / SMO</a:t>
            </a:r>
            <a:endParaRPr lang="en-US" sz="1250" dirty="0"/>
          </a:p>
        </p:txBody>
      </p:sp>
      <p:sp>
        <p:nvSpPr>
          <p:cNvPr id="9" name="Text 6"/>
          <p:cNvSpPr/>
          <p:nvPr/>
        </p:nvSpPr>
        <p:spPr>
          <a:xfrm>
            <a:off x="8686800" y="2157984"/>
            <a:ext cx="3063240" cy="777240"/>
          </a:xfrm>
          <a:prstGeom prst="rect">
            <a:avLst/>
          </a:prstGeom>
          <a:noFill/>
          <a:ln/>
        </p:spPr>
        <p:txBody>
          <a:bodyPr wrap="square" lIns="0" tIns="0" rIns="0" bIns="0" rtlCol="0" anchor="t"/>
          <a:lstStyle/>
          <a:p>
            <a:pPr indent="0" marL="0">
              <a:lnSpc>
                <a:spcPts val="1500"/>
              </a:lnSpc>
              <a:buNone/>
            </a:pPr>
            <a:r>
              <a:rPr lang="en-US" sz="1100" dirty="0">
                <a:solidFill>
                  <a:srgbClr val="334155"/>
                </a:solidFill>
                <a:latin typeface="Calibri" pitchFamily="34" charset="0"/>
                <a:ea typeface="Calibri" pitchFamily="34" charset="-122"/>
                <a:cs typeface="Calibri" pitchFamily="34" charset="-120"/>
              </a:rPr>
              <a:t>Global-RAG, MCP server, CTI ingestion rApp, threat-intel store and the operator dashboard.</a:t>
            </a:r>
            <a:endParaRPr lang="en-US" sz="1100" dirty="0"/>
          </a:p>
        </p:txBody>
      </p:sp>
      <p:sp>
        <p:nvSpPr>
          <p:cNvPr id="10" name="Shape 7"/>
          <p:cNvSpPr/>
          <p:nvPr/>
        </p:nvSpPr>
        <p:spPr>
          <a:xfrm>
            <a:off x="8686800" y="3063240"/>
            <a:ext cx="292608" cy="292608"/>
          </a:xfrm>
          <a:prstGeom prst="ellipse">
            <a:avLst/>
          </a:prstGeom>
          <a:solidFill>
            <a:srgbClr val="7C3AED"/>
          </a:solidFill>
          <a:ln w="12700">
            <a:solidFill>
              <a:srgbClr val="7C3AED"/>
            </a:solidFill>
            <a:prstDash val="solid"/>
          </a:ln>
        </p:spPr>
      </p:sp>
      <p:sp>
        <p:nvSpPr>
          <p:cNvPr id="11" name="Text 8"/>
          <p:cNvSpPr/>
          <p:nvPr/>
        </p:nvSpPr>
        <p:spPr>
          <a:xfrm>
            <a:off x="8686800" y="30632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9"/>
          <p:cNvSpPr/>
          <p:nvPr/>
        </p:nvSpPr>
        <p:spPr>
          <a:xfrm>
            <a:off x="9098280" y="3035808"/>
            <a:ext cx="265176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Near-RT RIC ×4</a:t>
            </a:r>
            <a:endParaRPr lang="en-US" sz="1250" dirty="0"/>
          </a:p>
        </p:txBody>
      </p:sp>
      <p:sp>
        <p:nvSpPr>
          <p:cNvPr id="13" name="Text 10"/>
          <p:cNvSpPr/>
          <p:nvPr/>
        </p:nvSpPr>
        <p:spPr>
          <a:xfrm>
            <a:off x="8686800" y="3364992"/>
            <a:ext cx="3063240" cy="777240"/>
          </a:xfrm>
          <a:prstGeom prst="rect">
            <a:avLst/>
          </a:prstGeom>
          <a:noFill/>
          <a:ln/>
        </p:spPr>
        <p:txBody>
          <a:bodyPr wrap="square" lIns="0" tIns="0" rIns="0" bIns="0" rtlCol="0" anchor="t"/>
          <a:lstStyle/>
          <a:p>
            <a:pPr indent="0" marL="0">
              <a:lnSpc>
                <a:spcPts val="1500"/>
              </a:lnSpc>
              <a:buNone/>
            </a:pPr>
            <a:r>
              <a:rPr lang="en-US" sz="1100" dirty="0">
                <a:solidFill>
                  <a:srgbClr val="334155"/>
                </a:solidFill>
                <a:latin typeface="Calibri" pitchFamily="34" charset="0"/>
                <a:ea typeface="Calibri" pitchFamily="34" charset="-122"/>
                <a:cs typeface="Calibri" pitchFamily="34" charset="-120"/>
              </a:rPr>
              <a:t>Each region runs its own xApps, Mini-RAG agent, MCP client and Inter-Platform Agent.</a:t>
            </a:r>
            <a:endParaRPr lang="en-US" sz="1100" dirty="0"/>
          </a:p>
        </p:txBody>
      </p:sp>
      <p:sp>
        <p:nvSpPr>
          <p:cNvPr id="14" name="Shape 11"/>
          <p:cNvSpPr/>
          <p:nvPr/>
        </p:nvSpPr>
        <p:spPr>
          <a:xfrm>
            <a:off x="8686800" y="4270248"/>
            <a:ext cx="292608" cy="292608"/>
          </a:xfrm>
          <a:prstGeom prst="ellipse">
            <a:avLst/>
          </a:prstGeom>
          <a:solidFill>
            <a:srgbClr val="16A34A"/>
          </a:solidFill>
          <a:ln w="12700">
            <a:solidFill>
              <a:srgbClr val="16A34A"/>
            </a:solidFill>
            <a:prstDash val="solid"/>
          </a:ln>
        </p:spPr>
      </p:sp>
      <p:sp>
        <p:nvSpPr>
          <p:cNvPr id="15" name="Text 12"/>
          <p:cNvSpPr/>
          <p:nvPr/>
        </p:nvSpPr>
        <p:spPr>
          <a:xfrm>
            <a:off x="8686800" y="427024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3"/>
          <p:cNvSpPr/>
          <p:nvPr/>
        </p:nvSpPr>
        <p:spPr>
          <a:xfrm>
            <a:off x="9098280" y="4242816"/>
            <a:ext cx="265176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RAN + core per region</a:t>
            </a:r>
            <a:endParaRPr lang="en-US" sz="1250" dirty="0"/>
          </a:p>
        </p:txBody>
      </p:sp>
      <p:sp>
        <p:nvSpPr>
          <p:cNvPr id="17" name="Text 14"/>
          <p:cNvSpPr/>
          <p:nvPr/>
        </p:nvSpPr>
        <p:spPr>
          <a:xfrm>
            <a:off x="8686800" y="4572000"/>
            <a:ext cx="3063240" cy="777240"/>
          </a:xfrm>
          <a:prstGeom prst="rect">
            <a:avLst/>
          </a:prstGeom>
          <a:noFill/>
          <a:ln/>
        </p:spPr>
        <p:txBody>
          <a:bodyPr wrap="square" lIns="0" tIns="0" rIns="0" bIns="0" rtlCol="0" anchor="t"/>
          <a:lstStyle/>
          <a:p>
            <a:pPr indent="0" marL="0">
              <a:lnSpc>
                <a:spcPts val="1500"/>
              </a:lnSpc>
              <a:buNone/>
            </a:pPr>
            <a:r>
              <a:rPr lang="en-US" sz="1100" dirty="0">
                <a:solidFill>
                  <a:srgbClr val="334155"/>
                </a:solidFill>
                <a:latin typeface="Calibri" pitchFamily="34" charset="0"/>
                <a:ea typeface="Calibri" pitchFamily="34" charset="-122"/>
                <a:cs typeface="Calibri" pitchFamily="34" charset="-120"/>
              </a:rPr>
              <a:t>srsRAN gNBs, Open5GS core and UEs observed over E2 with KPM telemetry.</a:t>
            </a:r>
            <a:endParaRPr lang="en-US" sz="1100" dirty="0"/>
          </a:p>
        </p:txBody>
      </p:sp>
      <p:sp>
        <p:nvSpPr>
          <p:cNvPr id="18" name="Shape 15"/>
          <p:cNvSpPr/>
          <p:nvPr/>
        </p:nvSpPr>
        <p:spPr>
          <a:xfrm>
            <a:off x="8686800" y="5477256"/>
            <a:ext cx="292608" cy="292608"/>
          </a:xfrm>
          <a:prstGeom prst="ellipse">
            <a:avLst/>
          </a:prstGeom>
          <a:solidFill>
            <a:srgbClr val="E11D48"/>
          </a:solidFill>
          <a:ln w="12700">
            <a:solidFill>
              <a:srgbClr val="E11D48"/>
            </a:solidFill>
            <a:prstDash val="solid"/>
          </a:ln>
        </p:spPr>
      </p:sp>
      <p:sp>
        <p:nvSpPr>
          <p:cNvPr id="19" name="Text 16"/>
          <p:cNvSpPr/>
          <p:nvPr/>
        </p:nvSpPr>
        <p:spPr>
          <a:xfrm>
            <a:off x="8686800" y="54772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7"/>
          <p:cNvSpPr/>
          <p:nvPr/>
        </p:nvSpPr>
        <p:spPr>
          <a:xfrm>
            <a:off x="9098280" y="5449824"/>
            <a:ext cx="265176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Isolation by design</a:t>
            </a:r>
            <a:endParaRPr lang="en-US" sz="1250" dirty="0"/>
          </a:p>
        </p:txBody>
      </p:sp>
      <p:sp>
        <p:nvSpPr>
          <p:cNvPr id="21" name="Text 18"/>
          <p:cNvSpPr/>
          <p:nvPr/>
        </p:nvSpPr>
        <p:spPr>
          <a:xfrm>
            <a:off x="8686800" y="5779008"/>
            <a:ext cx="3063240" cy="777240"/>
          </a:xfrm>
          <a:prstGeom prst="rect">
            <a:avLst/>
          </a:prstGeom>
          <a:noFill/>
          <a:ln/>
        </p:spPr>
        <p:txBody>
          <a:bodyPr wrap="square" lIns="0" tIns="0" rIns="0" bIns="0" rtlCol="0" anchor="t"/>
          <a:lstStyle/>
          <a:p>
            <a:pPr indent="0" marL="0">
              <a:lnSpc>
                <a:spcPts val="1500"/>
              </a:lnSpc>
              <a:buNone/>
            </a:pPr>
            <a:r>
              <a:rPr lang="en-US" sz="1100" dirty="0">
                <a:solidFill>
                  <a:srgbClr val="334155"/>
                </a:solidFill>
                <a:latin typeface="Calibri" pitchFamily="34" charset="0"/>
                <a:ea typeface="Calibri" pitchFamily="34" charset="-122"/>
                <a:cs typeface="Calibri" pitchFamily="34" charset="-120"/>
              </a:rPr>
              <a:t>No region reads or writes another region's data — sharing only via the agent.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56032"/>
          </a:xfrm>
          <a:prstGeom prst="rect">
            <a:avLst/>
          </a:prstGeom>
          <a:noFill/>
          <a:ln/>
        </p:spPr>
        <p:txBody>
          <a:bodyPr wrap="square" lIns="0" tIns="0" rIns="0" bIns="0" rtlCol="0" anchor="ctr"/>
          <a:lstStyle/>
          <a:p>
            <a:pPr indent="0" marL="0">
              <a:buNone/>
            </a:pPr>
            <a:r>
              <a:rPr lang="en-US" sz="1150" b="1" spc="200" kern="0" dirty="0">
                <a:solidFill>
                  <a:srgbClr val="0E7490"/>
                </a:solidFill>
                <a:latin typeface="Calibri" pitchFamily="34" charset="0"/>
                <a:ea typeface="Calibri" pitchFamily="34" charset="-122"/>
                <a:cs typeface="Calibri" pitchFamily="34" charset="-120"/>
              </a:rPr>
              <a:t>THE TESTBED</a:t>
            </a:r>
            <a:endParaRPr lang="en-US" sz="1150" dirty="0"/>
          </a:p>
        </p:txBody>
      </p:sp>
      <p:sp>
        <p:nvSpPr>
          <p:cNvPr id="3" name="Text 1"/>
          <p:cNvSpPr/>
          <p:nvPr/>
        </p:nvSpPr>
        <p:spPr>
          <a:xfrm>
            <a:off x="566928" y="603504"/>
            <a:ext cx="11027664" cy="65836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A real four-region O-RAN deployment, not a simulation</a:t>
            </a:r>
            <a:endParaRPr lang="en-US" sz="3300" dirty="0"/>
          </a:p>
        </p:txBody>
      </p:sp>
      <p:sp>
        <p:nvSpPr>
          <p:cNvPr id="4" name="Text 2"/>
          <p:cNvSpPr/>
          <p:nvPr/>
        </p:nvSpPr>
        <p:spPr>
          <a:xfrm>
            <a:off x="566928" y="1371600"/>
            <a:ext cx="10881360" cy="548640"/>
          </a:xfrm>
          <a:prstGeom prst="rect">
            <a:avLst/>
          </a:prstGeom>
          <a:noFill/>
          <a:ln/>
        </p:spPr>
        <p:txBody>
          <a:bodyPr wrap="square" lIns="0" tIns="0" rIns="0" bIns="0" rtlCol="0" anchor="ctr"/>
          <a:lstStyle/>
          <a:p>
            <a:pPr indent="0" marL="0">
              <a:lnSpc>
                <a:spcPts val="2100"/>
              </a:lnSpc>
              <a:buNone/>
            </a:pPr>
            <a:r>
              <a:rPr lang="en-US" sz="1400" dirty="0">
                <a:solidFill>
                  <a:srgbClr val="334155"/>
                </a:solidFill>
                <a:latin typeface="Calibri" pitchFamily="34" charset="0"/>
                <a:ea typeface="Calibri" pitchFamily="34" charset="-122"/>
                <a:cs typeface="Calibri" pitchFamily="34" charset="-120"/>
              </a:rPr>
              <a:t>The final artefact runs on the Netslab K3s cluster with active O-RAN SC Near-RT RIC services, srsRAN radio workloads and an Open5GS 5G core — real traffic flows through the emulated radio path.</a:t>
            </a:r>
            <a:endParaRPr lang="en-US" sz="1400" dirty="0"/>
          </a:p>
        </p:txBody>
      </p:sp>
      <p:sp>
        <p:nvSpPr>
          <p:cNvPr id="5" name="Shape 3"/>
          <p:cNvSpPr/>
          <p:nvPr/>
        </p:nvSpPr>
        <p:spPr>
          <a:xfrm>
            <a:off x="566928" y="2057400"/>
            <a:ext cx="11027664" cy="1417320"/>
          </a:xfrm>
          <a:prstGeom prst="roundRect">
            <a:avLst>
              <a:gd name="adj" fmla="val 5806"/>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6" name="Text 4"/>
          <p:cNvSpPr/>
          <p:nvPr/>
        </p:nvSpPr>
        <p:spPr>
          <a:xfrm>
            <a:off x="704088" y="2212848"/>
            <a:ext cx="2011680" cy="566928"/>
          </a:xfrm>
          <a:prstGeom prst="rect">
            <a:avLst/>
          </a:prstGeom>
          <a:noFill/>
          <a:ln/>
        </p:spPr>
        <p:txBody>
          <a:bodyPr wrap="square" lIns="0" tIns="0" rIns="0" bIns="0" rtlCol="0" anchor="ctr"/>
          <a:lstStyle/>
          <a:p>
            <a:pPr algn="ctr" indent="0" marL="0">
              <a:buNone/>
            </a:pPr>
            <a:r>
              <a:rPr lang="en-US" sz="3400" b="1" dirty="0">
                <a:solidFill>
                  <a:srgbClr val="0E7490"/>
                </a:solidFill>
                <a:latin typeface="Cambria" pitchFamily="34" charset="0"/>
                <a:ea typeface="Cambria" pitchFamily="34" charset="-122"/>
                <a:cs typeface="Cambria" pitchFamily="34" charset="-120"/>
              </a:rPr>
              <a:t>4</a:t>
            </a:r>
            <a:endParaRPr lang="en-US" sz="3400" dirty="0"/>
          </a:p>
        </p:txBody>
      </p:sp>
      <p:sp>
        <p:nvSpPr>
          <p:cNvPr id="7" name="Text 5"/>
          <p:cNvSpPr/>
          <p:nvPr/>
        </p:nvSpPr>
        <p:spPr>
          <a:xfrm>
            <a:off x="704088" y="2761488"/>
            <a:ext cx="2011680" cy="475488"/>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O-RAN regions</a:t>
            </a:r>
            <a:endParaRPr lang="en-US" sz="1100" dirty="0"/>
          </a:p>
        </p:txBody>
      </p:sp>
      <p:sp>
        <p:nvSpPr>
          <p:cNvPr id="8" name="Text 6"/>
          <p:cNvSpPr/>
          <p:nvPr/>
        </p:nvSpPr>
        <p:spPr>
          <a:xfrm>
            <a:off x="2862072" y="2212848"/>
            <a:ext cx="2011680" cy="566928"/>
          </a:xfrm>
          <a:prstGeom prst="rect">
            <a:avLst/>
          </a:prstGeom>
          <a:noFill/>
          <a:ln/>
        </p:spPr>
        <p:txBody>
          <a:bodyPr wrap="square" lIns="0" tIns="0" rIns="0" bIns="0" rtlCol="0" anchor="ctr"/>
          <a:lstStyle/>
          <a:p>
            <a:pPr algn="ctr" indent="0" marL="0">
              <a:buNone/>
            </a:pPr>
            <a:r>
              <a:rPr lang="en-US" sz="3400" b="1" dirty="0">
                <a:solidFill>
                  <a:srgbClr val="7C3AED"/>
                </a:solidFill>
                <a:latin typeface="Cambria" pitchFamily="34" charset="0"/>
                <a:ea typeface="Cambria" pitchFamily="34" charset="-122"/>
                <a:cs typeface="Cambria" pitchFamily="34" charset="-120"/>
              </a:rPr>
              <a:t>12</a:t>
            </a:r>
            <a:endParaRPr lang="en-US" sz="3400" dirty="0"/>
          </a:p>
        </p:txBody>
      </p:sp>
      <p:sp>
        <p:nvSpPr>
          <p:cNvPr id="9" name="Text 7"/>
          <p:cNvSpPr/>
          <p:nvPr/>
        </p:nvSpPr>
        <p:spPr>
          <a:xfrm>
            <a:off x="2862072" y="2761488"/>
            <a:ext cx="2011680" cy="475488"/>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UE namespaces</a:t>
            </a:r>
            <a:endParaRPr lang="en-US" sz="1100" dirty="0"/>
          </a:p>
        </p:txBody>
      </p:sp>
      <p:sp>
        <p:nvSpPr>
          <p:cNvPr id="10" name="Text 8"/>
          <p:cNvSpPr/>
          <p:nvPr/>
        </p:nvSpPr>
        <p:spPr>
          <a:xfrm>
            <a:off x="5020056" y="2212848"/>
            <a:ext cx="2011680" cy="566928"/>
          </a:xfrm>
          <a:prstGeom prst="rect">
            <a:avLst/>
          </a:prstGeom>
          <a:noFill/>
          <a:ln/>
        </p:spPr>
        <p:txBody>
          <a:bodyPr wrap="square" lIns="0" tIns="0" rIns="0" bIns="0" rtlCol="0" anchor="ctr"/>
          <a:lstStyle/>
          <a:p>
            <a:pPr algn="ctr" indent="0" marL="0">
              <a:buNone/>
            </a:pPr>
            <a:r>
              <a:rPr lang="en-US" sz="3400" b="1" dirty="0">
                <a:solidFill>
                  <a:srgbClr val="16A34A"/>
                </a:solidFill>
                <a:latin typeface="Cambria" pitchFamily="34" charset="0"/>
                <a:ea typeface="Cambria" pitchFamily="34" charset="-122"/>
                <a:cs typeface="Cambria" pitchFamily="34" charset="-120"/>
              </a:rPr>
              <a:t>128</a:t>
            </a:r>
            <a:endParaRPr lang="en-US" sz="3400" dirty="0"/>
          </a:p>
        </p:txBody>
      </p:sp>
      <p:sp>
        <p:nvSpPr>
          <p:cNvPr id="11" name="Text 9"/>
          <p:cNvSpPr/>
          <p:nvPr/>
        </p:nvSpPr>
        <p:spPr>
          <a:xfrm>
            <a:off x="5020056" y="2761488"/>
            <a:ext cx="2011680" cy="475488"/>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logical CPUs</a:t>
            </a:r>
            <a:endParaRPr lang="en-US" sz="1100" dirty="0"/>
          </a:p>
        </p:txBody>
      </p:sp>
      <p:sp>
        <p:nvSpPr>
          <p:cNvPr id="12" name="Text 10"/>
          <p:cNvSpPr/>
          <p:nvPr/>
        </p:nvSpPr>
        <p:spPr>
          <a:xfrm>
            <a:off x="7178040" y="2212848"/>
            <a:ext cx="2011680" cy="566928"/>
          </a:xfrm>
          <a:prstGeom prst="rect">
            <a:avLst/>
          </a:prstGeom>
          <a:noFill/>
          <a:ln/>
        </p:spPr>
        <p:txBody>
          <a:bodyPr wrap="square" lIns="0" tIns="0" rIns="0" bIns="0" rtlCol="0" anchor="ctr"/>
          <a:lstStyle/>
          <a:p>
            <a:pPr algn="ctr" indent="0" marL="0">
              <a:buNone/>
            </a:pPr>
            <a:r>
              <a:rPr lang="en-US" sz="3400" b="1" dirty="0">
                <a:solidFill>
                  <a:srgbClr val="D97706"/>
                </a:solidFill>
                <a:latin typeface="Cambria" pitchFamily="34" charset="0"/>
                <a:ea typeface="Cambria" pitchFamily="34" charset="-122"/>
                <a:cs typeface="Cambria" pitchFamily="34" charset="-120"/>
              </a:rPr>
              <a:t>250 GiB</a:t>
            </a:r>
            <a:endParaRPr lang="en-US" sz="3400" dirty="0"/>
          </a:p>
        </p:txBody>
      </p:sp>
      <p:sp>
        <p:nvSpPr>
          <p:cNvPr id="13" name="Text 11"/>
          <p:cNvSpPr/>
          <p:nvPr/>
        </p:nvSpPr>
        <p:spPr>
          <a:xfrm>
            <a:off x="7178040" y="2761488"/>
            <a:ext cx="2011680" cy="475488"/>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host RAM</a:t>
            </a:r>
            <a:endParaRPr lang="en-US" sz="1100" dirty="0"/>
          </a:p>
        </p:txBody>
      </p:sp>
      <p:sp>
        <p:nvSpPr>
          <p:cNvPr id="14" name="Text 12"/>
          <p:cNvSpPr/>
          <p:nvPr/>
        </p:nvSpPr>
        <p:spPr>
          <a:xfrm>
            <a:off x="9336024" y="2212848"/>
            <a:ext cx="2011680" cy="566928"/>
          </a:xfrm>
          <a:prstGeom prst="rect">
            <a:avLst/>
          </a:prstGeom>
          <a:noFill/>
          <a:ln/>
        </p:spPr>
        <p:txBody>
          <a:bodyPr wrap="square" lIns="0" tIns="0" rIns="0" bIns="0" rtlCol="0" anchor="ctr"/>
          <a:lstStyle/>
          <a:p>
            <a:pPr algn="ctr" indent="0" marL="0">
              <a:buNone/>
            </a:pPr>
            <a:r>
              <a:rPr lang="en-US" sz="3400" b="1" dirty="0">
                <a:solidFill>
                  <a:srgbClr val="E11D48"/>
                </a:solidFill>
                <a:latin typeface="Cambria" pitchFamily="34" charset="0"/>
                <a:ea typeface="Cambria" pitchFamily="34" charset="-122"/>
                <a:cs typeface="Cambria" pitchFamily="34" charset="-120"/>
              </a:rPr>
              <a:t>750</a:t>
            </a:r>
            <a:endParaRPr lang="en-US" sz="3400" dirty="0"/>
          </a:p>
        </p:txBody>
      </p:sp>
      <p:sp>
        <p:nvSpPr>
          <p:cNvPr id="15" name="Text 13"/>
          <p:cNvSpPr/>
          <p:nvPr/>
        </p:nvSpPr>
        <p:spPr>
          <a:xfrm>
            <a:off x="9336024" y="2761488"/>
            <a:ext cx="2011680" cy="475488"/>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emulated events</a:t>
            </a:r>
            <a:endParaRPr lang="en-US" sz="1100" dirty="0"/>
          </a:p>
        </p:txBody>
      </p:sp>
      <p:sp>
        <p:nvSpPr>
          <p:cNvPr id="16" name="Shape 14"/>
          <p:cNvSpPr/>
          <p:nvPr/>
        </p:nvSpPr>
        <p:spPr>
          <a:xfrm>
            <a:off x="566928" y="3703320"/>
            <a:ext cx="11027664" cy="457200"/>
          </a:xfrm>
          <a:prstGeom prst="roundRect">
            <a:avLst>
              <a:gd name="adj" fmla="val 180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7" name="Text 15"/>
          <p:cNvSpPr/>
          <p:nvPr/>
        </p:nvSpPr>
        <p:spPr>
          <a:xfrm>
            <a:off x="795528" y="3703320"/>
            <a:ext cx="2286000" cy="457200"/>
          </a:xfrm>
          <a:prstGeom prst="rect">
            <a:avLst/>
          </a:prstGeom>
          <a:noFill/>
          <a:ln/>
        </p:spPr>
        <p:txBody>
          <a:bodyPr wrap="square" lIns="0" tIns="0" rIns="0" bIns="0" rtlCol="0" anchor="ctr"/>
          <a:lstStyle/>
          <a:p>
            <a:pPr indent="0" marL="0">
              <a:buNone/>
            </a:pPr>
            <a:r>
              <a:rPr lang="en-US" sz="1200" b="1" dirty="0">
                <a:solidFill>
                  <a:srgbClr val="0E7490"/>
                </a:solidFill>
                <a:latin typeface="Calibri" pitchFamily="34" charset="0"/>
                <a:ea typeface="Calibri" pitchFamily="34" charset="-122"/>
                <a:cs typeface="Calibri" pitchFamily="34" charset="-120"/>
              </a:rPr>
              <a:t>Radio &amp; core</a:t>
            </a:r>
            <a:endParaRPr lang="en-US" sz="1200" dirty="0"/>
          </a:p>
        </p:txBody>
      </p:sp>
      <p:sp>
        <p:nvSpPr>
          <p:cNvPr id="18" name="Text 16"/>
          <p:cNvSpPr/>
          <p:nvPr/>
        </p:nvSpPr>
        <p:spPr>
          <a:xfrm>
            <a:off x="3127248" y="3703320"/>
            <a:ext cx="8321040" cy="4572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srsRAN gNBs · Open5GS AMF/UPF/SMF · srsUE with ZMQ RF simulation</a:t>
            </a:r>
            <a:endParaRPr lang="en-US" sz="1150" dirty="0"/>
          </a:p>
        </p:txBody>
      </p:sp>
      <p:sp>
        <p:nvSpPr>
          <p:cNvPr id="19" name="Shape 17"/>
          <p:cNvSpPr/>
          <p:nvPr/>
        </p:nvSpPr>
        <p:spPr>
          <a:xfrm>
            <a:off x="566928" y="4251960"/>
            <a:ext cx="11027664" cy="457200"/>
          </a:xfrm>
          <a:prstGeom prst="roundRect">
            <a:avLst>
              <a:gd name="adj" fmla="val 180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0" name="Text 18"/>
          <p:cNvSpPr/>
          <p:nvPr/>
        </p:nvSpPr>
        <p:spPr>
          <a:xfrm>
            <a:off x="795528" y="4251960"/>
            <a:ext cx="2286000" cy="457200"/>
          </a:xfrm>
          <a:prstGeom prst="rect">
            <a:avLst/>
          </a:prstGeom>
          <a:noFill/>
          <a:ln/>
        </p:spPr>
        <p:txBody>
          <a:bodyPr wrap="square" lIns="0" tIns="0" rIns="0" bIns="0" rtlCol="0" anchor="ctr"/>
          <a:lstStyle/>
          <a:p>
            <a:pPr indent="0" marL="0">
              <a:buNone/>
            </a:pPr>
            <a:r>
              <a:rPr lang="en-US" sz="1200" b="1" dirty="0">
                <a:solidFill>
                  <a:srgbClr val="0E7490"/>
                </a:solidFill>
                <a:latin typeface="Calibri" pitchFamily="34" charset="0"/>
                <a:ea typeface="Calibri" pitchFamily="34" charset="-122"/>
                <a:cs typeface="Calibri" pitchFamily="34" charset="-120"/>
              </a:rPr>
              <a:t>O-RAN control</a:t>
            </a:r>
            <a:endParaRPr lang="en-US" sz="1200" dirty="0"/>
          </a:p>
        </p:txBody>
      </p:sp>
      <p:sp>
        <p:nvSpPr>
          <p:cNvPr id="21" name="Text 19"/>
          <p:cNvSpPr/>
          <p:nvPr/>
        </p:nvSpPr>
        <p:spPr>
          <a:xfrm>
            <a:off x="3127248" y="4251960"/>
            <a:ext cx="8321040" cy="4572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O-RAN SC Near-RT RIC · E2 termination · A1 mediator · xApp1 probe manager · xApp2 KPM detector</a:t>
            </a:r>
            <a:endParaRPr lang="en-US" sz="1150" dirty="0"/>
          </a:p>
        </p:txBody>
      </p:sp>
      <p:sp>
        <p:nvSpPr>
          <p:cNvPr id="22" name="Shape 20"/>
          <p:cNvSpPr/>
          <p:nvPr/>
        </p:nvSpPr>
        <p:spPr>
          <a:xfrm>
            <a:off x="566928" y="4800600"/>
            <a:ext cx="11027664" cy="457200"/>
          </a:xfrm>
          <a:prstGeom prst="roundRect">
            <a:avLst>
              <a:gd name="adj" fmla="val 180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3" name="Text 21"/>
          <p:cNvSpPr/>
          <p:nvPr/>
        </p:nvSpPr>
        <p:spPr>
          <a:xfrm>
            <a:off x="795528" y="4800600"/>
            <a:ext cx="2286000" cy="457200"/>
          </a:xfrm>
          <a:prstGeom prst="rect">
            <a:avLst/>
          </a:prstGeom>
          <a:noFill/>
          <a:ln/>
        </p:spPr>
        <p:txBody>
          <a:bodyPr wrap="square" lIns="0" tIns="0" rIns="0" bIns="0" rtlCol="0" anchor="ctr"/>
          <a:lstStyle/>
          <a:p>
            <a:pPr indent="0" marL="0">
              <a:buNone/>
            </a:pPr>
            <a:r>
              <a:rPr lang="en-US" sz="1200" b="1" dirty="0">
                <a:solidFill>
                  <a:srgbClr val="0E7490"/>
                </a:solidFill>
                <a:latin typeface="Calibri" pitchFamily="34" charset="0"/>
                <a:ea typeface="Calibri" pitchFamily="34" charset="-122"/>
                <a:cs typeface="Calibri" pitchFamily="34" charset="-120"/>
              </a:rPr>
              <a:t>Evidence &amp; telemetry</a:t>
            </a:r>
            <a:endParaRPr lang="en-US" sz="1200" dirty="0"/>
          </a:p>
        </p:txBody>
      </p:sp>
      <p:sp>
        <p:nvSpPr>
          <p:cNvPr id="24" name="Text 22"/>
          <p:cNvSpPr/>
          <p:nvPr/>
        </p:nvSpPr>
        <p:spPr>
          <a:xfrm>
            <a:off x="3127248" y="4800600"/>
            <a:ext cx="8321040" cy="4572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Prometheus · Alertmanager · Loki / LogQL · Falco runtime security · E2SM-KPM</a:t>
            </a:r>
            <a:endParaRPr lang="en-US" sz="1150" dirty="0"/>
          </a:p>
        </p:txBody>
      </p:sp>
      <p:sp>
        <p:nvSpPr>
          <p:cNvPr id="25" name="Shape 23"/>
          <p:cNvSpPr/>
          <p:nvPr/>
        </p:nvSpPr>
        <p:spPr>
          <a:xfrm>
            <a:off x="566928" y="5349240"/>
            <a:ext cx="11027664" cy="457200"/>
          </a:xfrm>
          <a:prstGeom prst="roundRect">
            <a:avLst>
              <a:gd name="adj" fmla="val 180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6" name="Text 24"/>
          <p:cNvSpPr/>
          <p:nvPr/>
        </p:nvSpPr>
        <p:spPr>
          <a:xfrm>
            <a:off x="795528" y="5349240"/>
            <a:ext cx="2286000" cy="457200"/>
          </a:xfrm>
          <a:prstGeom prst="rect">
            <a:avLst/>
          </a:prstGeom>
          <a:noFill/>
          <a:ln/>
        </p:spPr>
        <p:txBody>
          <a:bodyPr wrap="square" lIns="0" tIns="0" rIns="0" bIns="0" rtlCol="0" anchor="ctr"/>
          <a:lstStyle/>
          <a:p>
            <a:pPr indent="0" marL="0">
              <a:buNone/>
            </a:pPr>
            <a:r>
              <a:rPr lang="en-US" sz="1200" b="1" dirty="0">
                <a:solidFill>
                  <a:srgbClr val="0E7490"/>
                </a:solidFill>
                <a:latin typeface="Calibri" pitchFamily="34" charset="0"/>
                <a:ea typeface="Calibri" pitchFamily="34" charset="-122"/>
                <a:cs typeface="Calibri" pitchFamily="34" charset="-120"/>
              </a:rPr>
              <a:t>Intelligence</a:t>
            </a:r>
            <a:endParaRPr lang="en-US" sz="1200" dirty="0"/>
          </a:p>
        </p:txBody>
      </p:sp>
      <p:sp>
        <p:nvSpPr>
          <p:cNvPr id="27" name="Text 25"/>
          <p:cNvSpPr/>
          <p:nvPr/>
        </p:nvSpPr>
        <p:spPr>
          <a:xfrm>
            <a:off x="3127248" y="5349240"/>
            <a:ext cx="8321040" cy="4572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Mini-RAG per region · Global-RAG · FastMCP over SSE · ChromaDB vector stores · ArangoDB graph</a:t>
            </a:r>
            <a:endParaRPr lang="en-US" sz="1150" dirty="0"/>
          </a:p>
        </p:txBody>
      </p:sp>
      <p:sp>
        <p:nvSpPr>
          <p:cNvPr id="28" name="Shape 26"/>
          <p:cNvSpPr/>
          <p:nvPr/>
        </p:nvSpPr>
        <p:spPr>
          <a:xfrm>
            <a:off x="566928" y="5897880"/>
            <a:ext cx="11027664" cy="457200"/>
          </a:xfrm>
          <a:prstGeom prst="roundRect">
            <a:avLst>
              <a:gd name="adj" fmla="val 180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9" name="Text 27"/>
          <p:cNvSpPr/>
          <p:nvPr/>
        </p:nvSpPr>
        <p:spPr>
          <a:xfrm>
            <a:off x="795528" y="5897880"/>
            <a:ext cx="2286000" cy="457200"/>
          </a:xfrm>
          <a:prstGeom prst="rect">
            <a:avLst/>
          </a:prstGeom>
          <a:noFill/>
          <a:ln/>
        </p:spPr>
        <p:txBody>
          <a:bodyPr wrap="square" lIns="0" tIns="0" rIns="0" bIns="0" rtlCol="0" anchor="ctr"/>
          <a:lstStyle/>
          <a:p>
            <a:pPr indent="0" marL="0">
              <a:buNone/>
            </a:pPr>
            <a:r>
              <a:rPr lang="en-US" sz="1200" b="1" dirty="0">
                <a:solidFill>
                  <a:srgbClr val="0E7490"/>
                </a:solidFill>
                <a:latin typeface="Calibri" pitchFamily="34" charset="0"/>
                <a:ea typeface="Calibri" pitchFamily="34" charset="-122"/>
                <a:cs typeface="Calibri" pitchFamily="34" charset="-120"/>
              </a:rPr>
              <a:t>Persistence &amp; UI</a:t>
            </a:r>
            <a:endParaRPr lang="en-US" sz="1200" dirty="0"/>
          </a:p>
        </p:txBody>
      </p:sp>
      <p:sp>
        <p:nvSpPr>
          <p:cNvPr id="30" name="Text 28"/>
          <p:cNvSpPr/>
          <p:nvPr/>
        </p:nvSpPr>
        <p:spPr>
          <a:xfrm>
            <a:off x="3127248" y="5897880"/>
            <a:ext cx="8321040" cy="457200"/>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rApp2 PostgreSQL registries · React operator dashboard · email notification service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56032"/>
          </a:xfrm>
          <a:prstGeom prst="rect">
            <a:avLst/>
          </a:prstGeom>
          <a:noFill/>
          <a:ln/>
        </p:spPr>
        <p:txBody>
          <a:bodyPr wrap="square" lIns="0" tIns="0" rIns="0" bIns="0" rtlCol="0" anchor="ctr"/>
          <a:lstStyle/>
          <a:p>
            <a:pPr indent="0" marL="0">
              <a:buNone/>
            </a:pPr>
            <a:r>
              <a:rPr lang="en-US" sz="1150" b="1" spc="200" kern="0" dirty="0">
                <a:solidFill>
                  <a:srgbClr val="0E7490"/>
                </a:solidFill>
                <a:latin typeface="Calibri" pitchFamily="34" charset="0"/>
                <a:ea typeface="Calibri" pitchFamily="34" charset="-122"/>
                <a:cs typeface="Calibri" pitchFamily="34" charset="-120"/>
              </a:rPr>
              <a:t>CONTRIBUTION 1 · KNOWLEDGE CONSTRUCTION</a:t>
            </a:r>
            <a:endParaRPr lang="en-US" sz="1150" dirty="0"/>
          </a:p>
        </p:txBody>
      </p:sp>
      <p:sp>
        <p:nvSpPr>
          <p:cNvPr id="3" name="Text 1"/>
          <p:cNvSpPr/>
          <p:nvPr/>
        </p:nvSpPr>
        <p:spPr>
          <a:xfrm>
            <a:off x="566928" y="603504"/>
            <a:ext cx="11027664" cy="65836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Turning global CTI into O-RAN-specific intelligence</a:t>
            </a:r>
            <a:endParaRPr lang="en-US" sz="3300" dirty="0"/>
          </a:p>
        </p:txBody>
      </p:sp>
      <p:sp>
        <p:nvSpPr>
          <p:cNvPr id="4" name="Shape 2"/>
          <p:cNvSpPr/>
          <p:nvPr/>
        </p:nvSpPr>
        <p:spPr>
          <a:xfrm>
            <a:off x="566928" y="1554480"/>
            <a:ext cx="2615184" cy="2103120"/>
          </a:xfrm>
          <a:prstGeom prst="roundRect">
            <a:avLst>
              <a:gd name="adj" fmla="val 3913"/>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5" name="Shape 3"/>
          <p:cNvSpPr/>
          <p:nvPr/>
        </p:nvSpPr>
        <p:spPr>
          <a:xfrm>
            <a:off x="822960" y="1783080"/>
            <a:ext cx="420624" cy="420624"/>
          </a:xfrm>
          <a:prstGeom prst="ellipse">
            <a:avLst/>
          </a:prstGeom>
          <a:solidFill>
            <a:srgbClr val="0E7490"/>
          </a:solidFill>
          <a:ln w="12700">
            <a:solidFill>
              <a:srgbClr val="0E7490"/>
            </a:solidFill>
            <a:prstDash val="solid"/>
          </a:ln>
        </p:spPr>
      </p:sp>
      <p:sp>
        <p:nvSpPr>
          <p:cNvPr id="6" name="Text 4"/>
          <p:cNvSpPr/>
          <p:nvPr/>
        </p:nvSpPr>
        <p:spPr>
          <a:xfrm>
            <a:off x="822960" y="178308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53312" y="1819656"/>
            <a:ext cx="1737360" cy="347472"/>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Harvest</a:t>
            </a:r>
            <a:endParaRPr lang="en-US" sz="1500" dirty="0"/>
          </a:p>
        </p:txBody>
      </p:sp>
      <p:sp>
        <p:nvSpPr>
          <p:cNvPr id="8" name="Text 6"/>
          <p:cNvSpPr/>
          <p:nvPr/>
        </p:nvSpPr>
        <p:spPr>
          <a:xfrm>
            <a:off x="822960" y="2340864"/>
            <a:ext cx="2148840" cy="118872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MITRE ATT&amp;CK, MITRE FiGHT and vulnerability feeds normalised to a STIX 2.1 schema.</a:t>
            </a:r>
            <a:endParaRPr lang="en-US" sz="1150" dirty="0"/>
          </a:p>
        </p:txBody>
      </p:sp>
      <p:sp>
        <p:nvSpPr>
          <p:cNvPr id="9" name="Text 7"/>
          <p:cNvSpPr/>
          <p:nvPr/>
        </p:nvSpPr>
        <p:spPr>
          <a:xfrm>
            <a:off x="3200400" y="2331720"/>
            <a:ext cx="182880" cy="365760"/>
          </a:xfrm>
          <a:prstGeom prst="rect">
            <a:avLst/>
          </a:prstGeom>
          <a:noFill/>
          <a:ln/>
        </p:spPr>
        <p:txBody>
          <a:bodyPr wrap="square" lIns="0" tIns="0" rIns="0" bIns="0" rtlCol="0" anchor="ctr"/>
          <a:lstStyle/>
          <a:p>
            <a:pPr algn="ctr" indent="0" marL="0">
              <a:buNone/>
            </a:pPr>
            <a:r>
              <a:rPr lang="en-US" sz="2200" b="1" dirty="0">
                <a:solidFill>
                  <a:srgbClr val="D8E1EC"/>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392424" y="1554480"/>
            <a:ext cx="2615184" cy="2103120"/>
          </a:xfrm>
          <a:prstGeom prst="roundRect">
            <a:avLst>
              <a:gd name="adj" fmla="val 3913"/>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1" name="Shape 9"/>
          <p:cNvSpPr/>
          <p:nvPr/>
        </p:nvSpPr>
        <p:spPr>
          <a:xfrm>
            <a:off x="3648456" y="1783080"/>
            <a:ext cx="420624" cy="420624"/>
          </a:xfrm>
          <a:prstGeom prst="ellipse">
            <a:avLst/>
          </a:prstGeom>
          <a:solidFill>
            <a:srgbClr val="7C3AED"/>
          </a:solidFill>
          <a:ln w="12700">
            <a:solidFill>
              <a:srgbClr val="7C3AED"/>
            </a:solidFill>
            <a:prstDash val="solid"/>
          </a:ln>
        </p:spPr>
      </p:sp>
      <p:sp>
        <p:nvSpPr>
          <p:cNvPr id="12" name="Text 10"/>
          <p:cNvSpPr/>
          <p:nvPr/>
        </p:nvSpPr>
        <p:spPr>
          <a:xfrm>
            <a:off x="3648456" y="178308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4178808" y="1819656"/>
            <a:ext cx="1737360" cy="347472"/>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Prune</a:t>
            </a:r>
            <a:endParaRPr lang="en-US" sz="1500" dirty="0"/>
          </a:p>
        </p:txBody>
      </p:sp>
      <p:sp>
        <p:nvSpPr>
          <p:cNvPr id="14" name="Text 12"/>
          <p:cNvSpPr/>
          <p:nvPr/>
        </p:nvSpPr>
        <p:spPr>
          <a:xfrm>
            <a:off x="3648456" y="2340864"/>
            <a:ext cx="2148840" cy="118872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Dual-stage Max-Sim semantic relevance scoring keeps only O-RAN-relevant knowledge.</a:t>
            </a:r>
            <a:endParaRPr lang="en-US" sz="1150" dirty="0"/>
          </a:p>
        </p:txBody>
      </p:sp>
      <p:sp>
        <p:nvSpPr>
          <p:cNvPr id="15" name="Text 13"/>
          <p:cNvSpPr/>
          <p:nvPr/>
        </p:nvSpPr>
        <p:spPr>
          <a:xfrm>
            <a:off x="6025896" y="2331720"/>
            <a:ext cx="182880" cy="365760"/>
          </a:xfrm>
          <a:prstGeom prst="rect">
            <a:avLst/>
          </a:prstGeom>
          <a:noFill/>
          <a:ln/>
        </p:spPr>
        <p:txBody>
          <a:bodyPr wrap="square" lIns="0" tIns="0" rIns="0" bIns="0" rtlCol="0" anchor="ctr"/>
          <a:lstStyle/>
          <a:p>
            <a:pPr algn="ctr" indent="0" marL="0">
              <a:buNone/>
            </a:pPr>
            <a:r>
              <a:rPr lang="en-US" sz="2200" b="1" dirty="0">
                <a:solidFill>
                  <a:srgbClr val="D8E1EC"/>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6217920" y="1554480"/>
            <a:ext cx="2615184" cy="2103120"/>
          </a:xfrm>
          <a:prstGeom prst="roundRect">
            <a:avLst>
              <a:gd name="adj" fmla="val 3913"/>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7" name="Shape 15"/>
          <p:cNvSpPr/>
          <p:nvPr/>
        </p:nvSpPr>
        <p:spPr>
          <a:xfrm>
            <a:off x="6473952" y="1783080"/>
            <a:ext cx="420624" cy="420624"/>
          </a:xfrm>
          <a:prstGeom prst="ellipse">
            <a:avLst/>
          </a:prstGeom>
          <a:solidFill>
            <a:srgbClr val="D97706"/>
          </a:solidFill>
          <a:ln w="12700">
            <a:solidFill>
              <a:srgbClr val="D97706"/>
            </a:solidFill>
            <a:prstDash val="solid"/>
          </a:ln>
        </p:spPr>
      </p:sp>
      <p:sp>
        <p:nvSpPr>
          <p:cNvPr id="18" name="Text 16"/>
          <p:cNvSpPr/>
          <p:nvPr/>
        </p:nvSpPr>
        <p:spPr>
          <a:xfrm>
            <a:off x="6473952" y="178308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7004304" y="1819656"/>
            <a:ext cx="1737360" cy="347472"/>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Reduce</a:t>
            </a:r>
            <a:endParaRPr lang="en-US" sz="1500" dirty="0"/>
          </a:p>
        </p:txBody>
      </p:sp>
      <p:sp>
        <p:nvSpPr>
          <p:cNvPr id="20" name="Text 18"/>
          <p:cNvSpPr/>
          <p:nvPr/>
        </p:nvSpPr>
        <p:spPr>
          <a:xfrm>
            <a:off x="6473952" y="2340864"/>
            <a:ext cx="2148840" cy="118872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Bounded 2-hop BFS subgraph extraction with CVSS v3.1 and EPSS risk adjustment.</a:t>
            </a:r>
            <a:endParaRPr lang="en-US" sz="1150" dirty="0"/>
          </a:p>
        </p:txBody>
      </p:sp>
      <p:sp>
        <p:nvSpPr>
          <p:cNvPr id="21" name="Text 19"/>
          <p:cNvSpPr/>
          <p:nvPr/>
        </p:nvSpPr>
        <p:spPr>
          <a:xfrm>
            <a:off x="8851392" y="2331720"/>
            <a:ext cx="182880" cy="365760"/>
          </a:xfrm>
          <a:prstGeom prst="rect">
            <a:avLst/>
          </a:prstGeom>
          <a:noFill/>
          <a:ln/>
        </p:spPr>
        <p:txBody>
          <a:bodyPr wrap="square" lIns="0" tIns="0" rIns="0" bIns="0" rtlCol="0" anchor="ctr"/>
          <a:lstStyle/>
          <a:p>
            <a:pPr algn="ctr" indent="0" marL="0">
              <a:buNone/>
            </a:pPr>
            <a:r>
              <a:rPr lang="en-US" sz="2200" b="1" dirty="0">
                <a:solidFill>
                  <a:srgbClr val="D8E1EC"/>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9043416" y="1554480"/>
            <a:ext cx="2615184" cy="2103120"/>
          </a:xfrm>
          <a:prstGeom prst="roundRect">
            <a:avLst>
              <a:gd name="adj" fmla="val 3913"/>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3" name="Shape 21"/>
          <p:cNvSpPr/>
          <p:nvPr/>
        </p:nvSpPr>
        <p:spPr>
          <a:xfrm>
            <a:off x="9299448" y="1783080"/>
            <a:ext cx="420624" cy="420624"/>
          </a:xfrm>
          <a:prstGeom prst="ellipse">
            <a:avLst/>
          </a:prstGeom>
          <a:solidFill>
            <a:srgbClr val="16A34A"/>
          </a:solidFill>
          <a:ln w="12700">
            <a:solidFill>
              <a:srgbClr val="16A34A"/>
            </a:solidFill>
            <a:prstDash val="solid"/>
          </a:ln>
        </p:spPr>
      </p:sp>
      <p:sp>
        <p:nvSpPr>
          <p:cNvPr id="24" name="Text 22"/>
          <p:cNvSpPr/>
          <p:nvPr/>
        </p:nvSpPr>
        <p:spPr>
          <a:xfrm>
            <a:off x="9299448" y="178308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9829800" y="1819656"/>
            <a:ext cx="1737360" cy="347472"/>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Serve</a:t>
            </a:r>
            <a:endParaRPr lang="en-US" sz="1500" dirty="0"/>
          </a:p>
        </p:txBody>
      </p:sp>
      <p:sp>
        <p:nvSpPr>
          <p:cNvPr id="26" name="Text 24"/>
          <p:cNvSpPr/>
          <p:nvPr/>
        </p:nvSpPr>
        <p:spPr>
          <a:xfrm>
            <a:off x="9299448" y="2340864"/>
            <a:ext cx="2148840" cy="118872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ArangoDB graph, OASIS TAXII 2.1 gateway and ChromaDB vector stores for retrieval.</a:t>
            </a:r>
            <a:endParaRPr lang="en-US" sz="1150" dirty="0"/>
          </a:p>
        </p:txBody>
      </p:sp>
      <p:sp>
        <p:nvSpPr>
          <p:cNvPr id="27" name="Shape 25"/>
          <p:cNvSpPr/>
          <p:nvPr/>
        </p:nvSpPr>
        <p:spPr>
          <a:xfrm>
            <a:off x="566928" y="3886200"/>
            <a:ext cx="5394960" cy="1965960"/>
          </a:xfrm>
          <a:prstGeom prst="roundRect">
            <a:avLst>
              <a:gd name="adj" fmla="val 4186"/>
            </a:avLst>
          </a:prstGeom>
          <a:solidFill>
            <a:srgbClr val="0E7490"/>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8" name="Text 26"/>
          <p:cNvSpPr/>
          <p:nvPr/>
        </p:nvSpPr>
        <p:spPr>
          <a:xfrm>
            <a:off x="841248" y="4114800"/>
            <a:ext cx="4846320" cy="6858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85 – 90%</a:t>
            </a:r>
            <a:endParaRPr lang="en-US" sz="4200" dirty="0"/>
          </a:p>
        </p:txBody>
      </p:sp>
      <p:sp>
        <p:nvSpPr>
          <p:cNvPr id="29" name="Text 27"/>
          <p:cNvSpPr/>
          <p:nvPr/>
        </p:nvSpPr>
        <p:spPr>
          <a:xfrm>
            <a:off x="841248" y="4828032"/>
            <a:ext cx="4892040" cy="868680"/>
          </a:xfrm>
          <a:prstGeom prst="rect">
            <a:avLst/>
          </a:prstGeom>
          <a:noFill/>
          <a:ln/>
        </p:spPr>
        <p:txBody>
          <a:bodyPr wrap="square" lIns="0" tIns="0" rIns="0" bIns="0" rtlCol="0" anchor="t"/>
          <a:lstStyle/>
          <a:p>
            <a:pPr indent="0" marL="0">
              <a:lnSpc>
                <a:spcPts val="1600"/>
              </a:lnSpc>
              <a:buNone/>
            </a:pPr>
            <a:r>
              <a:rPr lang="en-US" sz="1200" dirty="0">
                <a:solidFill>
                  <a:srgbClr val="D6ECF2"/>
                </a:solidFill>
                <a:latin typeface="Calibri" pitchFamily="34" charset="0"/>
                <a:ea typeface="Calibri" pitchFamily="34" charset="-122"/>
                <a:cs typeface="Calibri" pitchFamily="34" charset="-120"/>
              </a:rPr>
              <a:t>reduction in data footprint after semantic pruning and graph reduction — the knowledge base keeps only what an O-RAN deployment can act on.</a:t>
            </a:r>
            <a:endParaRPr lang="en-US" sz="1200" dirty="0"/>
          </a:p>
        </p:txBody>
      </p:sp>
      <p:sp>
        <p:nvSpPr>
          <p:cNvPr id="30" name="Shape 28"/>
          <p:cNvSpPr/>
          <p:nvPr/>
        </p:nvSpPr>
        <p:spPr>
          <a:xfrm>
            <a:off x="6263640" y="3886200"/>
            <a:ext cx="5330952" cy="1965960"/>
          </a:xfrm>
          <a:prstGeom prst="roundRect">
            <a:avLst>
              <a:gd name="adj" fmla="val 4186"/>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31" name="Text 29"/>
          <p:cNvSpPr/>
          <p:nvPr/>
        </p:nvSpPr>
        <p:spPr>
          <a:xfrm>
            <a:off x="6537960" y="4069080"/>
            <a:ext cx="4754880"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Why pruning matters</a:t>
            </a:r>
            <a:endParaRPr lang="en-US" sz="1400" dirty="0"/>
          </a:p>
        </p:txBody>
      </p:sp>
      <p:sp>
        <p:nvSpPr>
          <p:cNvPr id="32" name="Text 30"/>
          <p:cNvSpPr/>
          <p:nvPr/>
        </p:nvSpPr>
        <p:spPr>
          <a:xfrm>
            <a:off x="6537960" y="4434840"/>
            <a:ext cx="4800600" cy="128016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334155"/>
                </a:solidFill>
                <a:latin typeface="Calibri" pitchFamily="34" charset="0"/>
                <a:ea typeface="Calibri" pitchFamily="34" charset="-122"/>
                <a:cs typeface="Calibri" pitchFamily="34" charset="-120"/>
              </a:rPr>
              <a:t>Edge regions cannot host a full enterprise CTI corpus</a:t>
            </a:r>
            <a:endParaRPr lang="en-US" sz="1150" dirty="0"/>
          </a:p>
          <a:p>
            <a:pPr marL="342900" indent="-342900">
              <a:spcAft>
                <a:spcPts val="800"/>
              </a:spcAft>
              <a:buSzPct val="100000"/>
              <a:buChar char="•"/>
            </a:pPr>
            <a:r>
              <a:rPr lang="en-US" sz="1150" dirty="0">
                <a:solidFill>
                  <a:srgbClr val="334155"/>
                </a:solidFill>
                <a:latin typeface="Calibri" pitchFamily="34" charset="0"/>
                <a:ea typeface="Calibri" pitchFamily="34" charset="-122"/>
                <a:cs typeface="Calibri" pitchFamily="34" charset="-120"/>
              </a:rPr>
              <a:t>Irrelevant intelligence degrades retrieval precision</a:t>
            </a:r>
            <a:endParaRPr lang="en-US" sz="1150" dirty="0"/>
          </a:p>
          <a:p>
            <a:pPr marL="342900" indent="-342900">
              <a:spcAft>
                <a:spcPts val="800"/>
              </a:spcAft>
              <a:buSzPct val="100000"/>
              <a:buChar char="•"/>
            </a:pPr>
            <a:r>
              <a:rPr lang="en-US" sz="1150" dirty="0">
                <a:solidFill>
                  <a:srgbClr val="334155"/>
                </a:solidFill>
                <a:latin typeface="Calibri" pitchFamily="34" charset="0"/>
                <a:ea typeface="Calibri" pitchFamily="34" charset="-122"/>
                <a:cs typeface="Calibri" pitchFamily="34" charset="-120"/>
              </a:rPr>
              <a:t>Smaller payloads keep regional vector search sub-second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56032"/>
          </a:xfrm>
          <a:prstGeom prst="rect">
            <a:avLst/>
          </a:prstGeom>
          <a:noFill/>
          <a:ln/>
        </p:spPr>
        <p:txBody>
          <a:bodyPr wrap="square" lIns="0" tIns="0" rIns="0" bIns="0" rtlCol="0" anchor="ctr"/>
          <a:lstStyle/>
          <a:p>
            <a:pPr indent="0" marL="0">
              <a:buNone/>
            </a:pPr>
            <a:r>
              <a:rPr lang="en-US" sz="1150" b="1" spc="200" kern="0" dirty="0">
                <a:solidFill>
                  <a:srgbClr val="0E7490"/>
                </a:solidFill>
                <a:latin typeface="Calibri" pitchFamily="34" charset="0"/>
                <a:ea typeface="Calibri" pitchFamily="34" charset="-122"/>
                <a:cs typeface="Calibri" pitchFamily="34" charset="-120"/>
              </a:rPr>
              <a:t>CONTRIBUTION 2 · ANOMALY DETECTION GATEWAY</a:t>
            </a:r>
            <a:endParaRPr lang="en-US" sz="1150" dirty="0"/>
          </a:p>
        </p:txBody>
      </p:sp>
      <p:sp>
        <p:nvSpPr>
          <p:cNvPr id="3" name="Text 1"/>
          <p:cNvSpPr/>
          <p:nvPr/>
        </p:nvSpPr>
        <p:spPr>
          <a:xfrm>
            <a:off x="566928" y="603504"/>
            <a:ext cx="11027664" cy="65836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Four evidence sources, one transparent schema</a:t>
            </a:r>
            <a:endParaRPr lang="en-US" sz="3300" dirty="0"/>
          </a:p>
        </p:txBody>
      </p:sp>
      <p:sp>
        <p:nvSpPr>
          <p:cNvPr id="4" name="Text 2"/>
          <p:cNvSpPr/>
          <p:nvPr/>
        </p:nvSpPr>
        <p:spPr>
          <a:xfrm>
            <a:off x="566928" y="1371600"/>
            <a:ext cx="10881360" cy="566928"/>
          </a:xfrm>
          <a:prstGeom prst="rect">
            <a:avLst/>
          </a:prstGeom>
          <a:noFill/>
          <a:ln/>
        </p:spPr>
        <p:txBody>
          <a:bodyPr wrap="square" lIns="0" tIns="0" rIns="0" bIns="0" rtlCol="0" anchor="ctr"/>
          <a:lstStyle/>
          <a:p>
            <a:pPr indent="0" marL="0">
              <a:lnSpc>
                <a:spcPts val="2100"/>
              </a:lnSpc>
              <a:buNone/>
            </a:pPr>
            <a:r>
              <a:rPr lang="en-US" sz="1400" dirty="0">
                <a:solidFill>
                  <a:srgbClr val="334155"/>
                </a:solidFill>
                <a:latin typeface="Calibri" pitchFamily="34" charset="0"/>
                <a:ea typeface="Calibri" pitchFamily="34" charset="-122"/>
                <a:cs typeface="Calibri" pitchFamily="34" charset="-120"/>
              </a:rPr>
              <a:t>Heterogeneous telemetry is normalised into a single event schema that records the rule that fired, the criterion, the measured value, the threshold and the correlation decision — stored independently of any AI explanation.</a:t>
            </a:r>
            <a:endParaRPr lang="en-US" sz="1400" dirty="0"/>
          </a:p>
        </p:txBody>
      </p:sp>
      <p:sp>
        <p:nvSpPr>
          <p:cNvPr id="5" name="Shape 3"/>
          <p:cNvSpPr/>
          <p:nvPr/>
        </p:nvSpPr>
        <p:spPr>
          <a:xfrm>
            <a:off x="566928" y="2103120"/>
            <a:ext cx="2615184" cy="1371600"/>
          </a:xfrm>
          <a:prstGeom prst="roundRect">
            <a:avLst>
              <a:gd name="adj" fmla="val 60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6" name="Shape 4"/>
          <p:cNvSpPr/>
          <p:nvPr/>
        </p:nvSpPr>
        <p:spPr>
          <a:xfrm>
            <a:off x="1691640" y="2286000"/>
            <a:ext cx="365760" cy="365760"/>
          </a:xfrm>
          <a:prstGeom prst="ellipse">
            <a:avLst/>
          </a:prstGeom>
          <a:solidFill>
            <a:srgbClr val="D97706"/>
          </a:solidFill>
          <a:ln w="12700">
            <a:solidFill>
              <a:srgbClr val="D97706"/>
            </a:solidFill>
            <a:prstDash val="solid"/>
          </a:ln>
        </p:spPr>
      </p:sp>
      <p:sp>
        <p:nvSpPr>
          <p:cNvPr id="7" name="Text 5"/>
          <p:cNvSpPr/>
          <p:nvPr/>
        </p:nvSpPr>
        <p:spPr>
          <a:xfrm>
            <a:off x="1691640" y="2286000"/>
            <a:ext cx="365760" cy="365760"/>
          </a:xfrm>
          <a:prstGeom prst="rect">
            <a:avLst/>
          </a:prstGeom>
          <a:noFill/>
          <a:ln/>
        </p:spPr>
        <p:txBody>
          <a:bodyPr wrap="square" lIns="0" tIns="0" rIns="0" bIns="0" rtlCol="0" anchor="ctr"/>
          <a:lstStyle/>
          <a:p>
            <a:pPr algn="ctr" indent="0" marL="0">
              <a:buNone/>
            </a:pPr>
            <a:endParaRPr lang="en-US" sz="1200" dirty="0"/>
          </a:p>
        </p:txBody>
      </p:sp>
      <p:sp>
        <p:nvSpPr>
          <p:cNvPr id="8" name="Text 6"/>
          <p:cNvSpPr/>
          <p:nvPr/>
        </p:nvSpPr>
        <p:spPr>
          <a:xfrm>
            <a:off x="704088" y="2724912"/>
            <a:ext cx="2340864" cy="274320"/>
          </a:xfrm>
          <a:prstGeom prst="rect">
            <a:avLst/>
          </a:prstGeom>
          <a:noFill/>
          <a:ln/>
        </p:spPr>
        <p:txBody>
          <a:bodyPr wrap="square" lIns="0" tIns="0" rIns="0" bIns="0" rtlCol="0" anchor="ctr"/>
          <a:lstStyle/>
          <a:p>
            <a:pPr algn="ctr" indent="0" marL="0">
              <a:buNone/>
            </a:pPr>
            <a:r>
              <a:rPr lang="en-US" sz="1350" b="1" dirty="0">
                <a:solidFill>
                  <a:srgbClr val="0F172A"/>
                </a:solidFill>
                <a:latin typeface="Calibri" pitchFamily="34" charset="0"/>
                <a:ea typeface="Calibri" pitchFamily="34" charset="-122"/>
                <a:cs typeface="Calibri" pitchFamily="34" charset="-120"/>
              </a:rPr>
              <a:t>Prometheus</a:t>
            </a:r>
            <a:endParaRPr lang="en-US" sz="1350" dirty="0"/>
          </a:p>
        </p:txBody>
      </p:sp>
      <p:sp>
        <p:nvSpPr>
          <p:cNvPr id="9" name="Text 7"/>
          <p:cNvSpPr/>
          <p:nvPr/>
        </p:nvSpPr>
        <p:spPr>
          <a:xfrm>
            <a:off x="704088" y="2999232"/>
            <a:ext cx="2340864" cy="411480"/>
          </a:xfrm>
          <a:prstGeom prst="rect">
            <a:avLst/>
          </a:prstGeom>
          <a:noFill/>
          <a:ln/>
        </p:spPr>
        <p:txBody>
          <a:bodyPr wrap="square" lIns="0" tIns="0" rIns="0" bIns="0" rtlCol="0" anchor="ctr"/>
          <a:lstStyle/>
          <a:p>
            <a:pPr algn="ctr" indent="0" marL="0">
              <a:lnSpc>
                <a:spcPts val="1300"/>
              </a:lnSpc>
              <a:buNone/>
            </a:pPr>
            <a:r>
              <a:rPr lang="en-US" sz="1050" dirty="0">
                <a:solidFill>
                  <a:srgbClr val="64748B"/>
                </a:solidFill>
                <a:latin typeface="Calibri" pitchFamily="34" charset="0"/>
                <a:ea typeface="Calibri" pitchFamily="34" charset="-122"/>
                <a:cs typeface="Calibri" pitchFamily="34" charset="-120"/>
              </a:rPr>
              <a:t>metric thresholds</a:t>
            </a:r>
            <a:endParaRPr lang="en-US" sz="1050" dirty="0"/>
          </a:p>
          <a:p>
            <a:pPr algn="ctr" indent="0" marL="0">
              <a:lnSpc>
                <a:spcPts val="1300"/>
              </a:lnSpc>
              <a:buNone/>
            </a:pPr>
            <a:r>
              <a:rPr lang="en-US" sz="1050" dirty="0">
                <a:solidFill>
                  <a:srgbClr val="64748B"/>
                </a:solidFill>
                <a:latin typeface="Calibri" pitchFamily="34" charset="0"/>
                <a:ea typeface="Calibri" pitchFamily="34" charset="-122"/>
                <a:cs typeface="Calibri" pitchFamily="34" charset="-120"/>
              </a:rPr>
              <a:t>&amp; Alertmanager</a:t>
            </a:r>
            <a:endParaRPr lang="en-US" sz="1050" dirty="0"/>
          </a:p>
        </p:txBody>
      </p:sp>
      <p:sp>
        <p:nvSpPr>
          <p:cNvPr id="10" name="Shape 8"/>
          <p:cNvSpPr/>
          <p:nvPr/>
        </p:nvSpPr>
        <p:spPr>
          <a:xfrm>
            <a:off x="3392424" y="2103120"/>
            <a:ext cx="2615184" cy="1371600"/>
          </a:xfrm>
          <a:prstGeom prst="roundRect">
            <a:avLst>
              <a:gd name="adj" fmla="val 60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1" name="Shape 9"/>
          <p:cNvSpPr/>
          <p:nvPr/>
        </p:nvSpPr>
        <p:spPr>
          <a:xfrm>
            <a:off x="4517136" y="2286000"/>
            <a:ext cx="365760" cy="365760"/>
          </a:xfrm>
          <a:prstGeom prst="ellipse">
            <a:avLst/>
          </a:prstGeom>
          <a:solidFill>
            <a:srgbClr val="7C3AED"/>
          </a:solidFill>
          <a:ln w="12700">
            <a:solidFill>
              <a:srgbClr val="7C3AED"/>
            </a:solidFill>
            <a:prstDash val="solid"/>
          </a:ln>
        </p:spPr>
      </p:sp>
      <p:sp>
        <p:nvSpPr>
          <p:cNvPr id="12" name="Text 10"/>
          <p:cNvSpPr/>
          <p:nvPr/>
        </p:nvSpPr>
        <p:spPr>
          <a:xfrm>
            <a:off x="4517136" y="2286000"/>
            <a:ext cx="365760" cy="365760"/>
          </a:xfrm>
          <a:prstGeom prst="rect">
            <a:avLst/>
          </a:prstGeom>
          <a:noFill/>
          <a:ln/>
        </p:spPr>
        <p:txBody>
          <a:bodyPr wrap="square" lIns="0" tIns="0" rIns="0" bIns="0" rtlCol="0" anchor="ctr"/>
          <a:lstStyle/>
          <a:p>
            <a:pPr algn="ctr" indent="0" marL="0">
              <a:buNone/>
            </a:pPr>
            <a:endParaRPr lang="en-US" sz="1200" dirty="0"/>
          </a:p>
        </p:txBody>
      </p:sp>
      <p:sp>
        <p:nvSpPr>
          <p:cNvPr id="13" name="Text 11"/>
          <p:cNvSpPr/>
          <p:nvPr/>
        </p:nvSpPr>
        <p:spPr>
          <a:xfrm>
            <a:off x="3529584" y="2724912"/>
            <a:ext cx="2340864" cy="274320"/>
          </a:xfrm>
          <a:prstGeom prst="rect">
            <a:avLst/>
          </a:prstGeom>
          <a:noFill/>
          <a:ln/>
        </p:spPr>
        <p:txBody>
          <a:bodyPr wrap="square" lIns="0" tIns="0" rIns="0" bIns="0" rtlCol="0" anchor="ctr"/>
          <a:lstStyle/>
          <a:p>
            <a:pPr algn="ctr" indent="0" marL="0">
              <a:buNone/>
            </a:pPr>
            <a:r>
              <a:rPr lang="en-US" sz="1350" b="1" dirty="0">
                <a:solidFill>
                  <a:srgbClr val="0F172A"/>
                </a:solidFill>
                <a:latin typeface="Calibri" pitchFamily="34" charset="0"/>
                <a:ea typeface="Calibri" pitchFamily="34" charset="-122"/>
                <a:cs typeface="Calibri" pitchFamily="34" charset="-120"/>
              </a:rPr>
              <a:t>Loki / LogQL</a:t>
            </a:r>
            <a:endParaRPr lang="en-US" sz="1350" dirty="0"/>
          </a:p>
        </p:txBody>
      </p:sp>
      <p:sp>
        <p:nvSpPr>
          <p:cNvPr id="14" name="Text 12"/>
          <p:cNvSpPr/>
          <p:nvPr/>
        </p:nvSpPr>
        <p:spPr>
          <a:xfrm>
            <a:off x="3529584" y="2999232"/>
            <a:ext cx="2340864" cy="411480"/>
          </a:xfrm>
          <a:prstGeom prst="rect">
            <a:avLst/>
          </a:prstGeom>
          <a:noFill/>
          <a:ln/>
        </p:spPr>
        <p:txBody>
          <a:bodyPr wrap="square" lIns="0" tIns="0" rIns="0" bIns="0" rtlCol="0" anchor="ctr"/>
          <a:lstStyle/>
          <a:p>
            <a:pPr algn="ctr" indent="0" marL="0">
              <a:lnSpc>
                <a:spcPts val="1300"/>
              </a:lnSpc>
              <a:buNone/>
            </a:pPr>
            <a:r>
              <a:rPr lang="en-US" sz="1050" dirty="0">
                <a:solidFill>
                  <a:srgbClr val="64748B"/>
                </a:solidFill>
                <a:latin typeface="Calibri" pitchFamily="34" charset="0"/>
                <a:ea typeface="Calibri" pitchFamily="34" charset="-122"/>
                <a:cs typeface="Calibri" pitchFamily="34" charset="-120"/>
              </a:rPr>
              <a:t>log pattern and</a:t>
            </a:r>
            <a:endParaRPr lang="en-US" sz="1050" dirty="0"/>
          </a:p>
          <a:p>
            <a:pPr algn="ctr" indent="0" marL="0">
              <a:lnSpc>
                <a:spcPts val="1300"/>
              </a:lnSpc>
              <a:buNone/>
            </a:pPr>
            <a:r>
              <a:rPr lang="en-US" sz="1050" dirty="0">
                <a:solidFill>
                  <a:srgbClr val="64748B"/>
                </a:solidFill>
                <a:latin typeface="Calibri" pitchFamily="34" charset="0"/>
                <a:ea typeface="Calibri" pitchFamily="34" charset="-122"/>
                <a:cs typeface="Calibri" pitchFamily="34" charset="-120"/>
              </a:rPr>
              <a:t>authorisation evidence</a:t>
            </a:r>
            <a:endParaRPr lang="en-US" sz="1050" dirty="0"/>
          </a:p>
        </p:txBody>
      </p:sp>
      <p:sp>
        <p:nvSpPr>
          <p:cNvPr id="15" name="Shape 13"/>
          <p:cNvSpPr/>
          <p:nvPr/>
        </p:nvSpPr>
        <p:spPr>
          <a:xfrm>
            <a:off x="6217920" y="2103120"/>
            <a:ext cx="2615184" cy="1371600"/>
          </a:xfrm>
          <a:prstGeom prst="roundRect">
            <a:avLst>
              <a:gd name="adj" fmla="val 60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6" name="Shape 14"/>
          <p:cNvSpPr/>
          <p:nvPr/>
        </p:nvSpPr>
        <p:spPr>
          <a:xfrm>
            <a:off x="7342632" y="2286000"/>
            <a:ext cx="365760" cy="365760"/>
          </a:xfrm>
          <a:prstGeom prst="ellipse">
            <a:avLst/>
          </a:prstGeom>
          <a:solidFill>
            <a:srgbClr val="E11D48"/>
          </a:solidFill>
          <a:ln w="12700">
            <a:solidFill>
              <a:srgbClr val="E11D48"/>
            </a:solidFill>
            <a:prstDash val="solid"/>
          </a:ln>
        </p:spPr>
      </p:sp>
      <p:sp>
        <p:nvSpPr>
          <p:cNvPr id="17" name="Text 15"/>
          <p:cNvSpPr/>
          <p:nvPr/>
        </p:nvSpPr>
        <p:spPr>
          <a:xfrm>
            <a:off x="7342632" y="2286000"/>
            <a:ext cx="365760" cy="365760"/>
          </a:xfrm>
          <a:prstGeom prst="rect">
            <a:avLst/>
          </a:prstGeom>
          <a:noFill/>
          <a:ln/>
        </p:spPr>
        <p:txBody>
          <a:bodyPr wrap="square" lIns="0" tIns="0" rIns="0" bIns="0" rtlCol="0" anchor="ctr"/>
          <a:lstStyle/>
          <a:p>
            <a:pPr algn="ctr" indent="0" marL="0">
              <a:buNone/>
            </a:pPr>
            <a:endParaRPr lang="en-US" sz="1200" dirty="0"/>
          </a:p>
        </p:txBody>
      </p:sp>
      <p:sp>
        <p:nvSpPr>
          <p:cNvPr id="18" name="Text 16"/>
          <p:cNvSpPr/>
          <p:nvPr/>
        </p:nvSpPr>
        <p:spPr>
          <a:xfrm>
            <a:off x="6355080" y="2724912"/>
            <a:ext cx="2340864" cy="274320"/>
          </a:xfrm>
          <a:prstGeom prst="rect">
            <a:avLst/>
          </a:prstGeom>
          <a:noFill/>
          <a:ln/>
        </p:spPr>
        <p:txBody>
          <a:bodyPr wrap="square" lIns="0" tIns="0" rIns="0" bIns="0" rtlCol="0" anchor="ctr"/>
          <a:lstStyle/>
          <a:p>
            <a:pPr algn="ctr" indent="0" marL="0">
              <a:buNone/>
            </a:pPr>
            <a:r>
              <a:rPr lang="en-US" sz="1350" b="1" dirty="0">
                <a:solidFill>
                  <a:srgbClr val="0F172A"/>
                </a:solidFill>
                <a:latin typeface="Calibri" pitchFamily="34" charset="0"/>
                <a:ea typeface="Calibri" pitchFamily="34" charset="-122"/>
                <a:cs typeface="Calibri" pitchFamily="34" charset="-120"/>
              </a:rPr>
              <a:t>Falco</a:t>
            </a:r>
            <a:endParaRPr lang="en-US" sz="1350" dirty="0"/>
          </a:p>
        </p:txBody>
      </p:sp>
      <p:sp>
        <p:nvSpPr>
          <p:cNvPr id="19" name="Text 17"/>
          <p:cNvSpPr/>
          <p:nvPr/>
        </p:nvSpPr>
        <p:spPr>
          <a:xfrm>
            <a:off x="6355080" y="2999232"/>
            <a:ext cx="2340864" cy="411480"/>
          </a:xfrm>
          <a:prstGeom prst="rect">
            <a:avLst/>
          </a:prstGeom>
          <a:noFill/>
          <a:ln/>
        </p:spPr>
        <p:txBody>
          <a:bodyPr wrap="square" lIns="0" tIns="0" rIns="0" bIns="0" rtlCol="0" anchor="ctr"/>
          <a:lstStyle/>
          <a:p>
            <a:pPr algn="ctr" indent="0" marL="0">
              <a:lnSpc>
                <a:spcPts val="1300"/>
              </a:lnSpc>
              <a:buNone/>
            </a:pPr>
            <a:r>
              <a:rPr lang="en-US" sz="1050" dirty="0">
                <a:solidFill>
                  <a:srgbClr val="64748B"/>
                </a:solidFill>
                <a:latin typeface="Calibri" pitchFamily="34" charset="0"/>
                <a:ea typeface="Calibri" pitchFamily="34" charset="-122"/>
                <a:cs typeface="Calibri" pitchFamily="34" charset="-120"/>
              </a:rPr>
              <a:t>container runtime</a:t>
            </a:r>
            <a:endParaRPr lang="en-US" sz="1050" dirty="0"/>
          </a:p>
          <a:p>
            <a:pPr algn="ctr" indent="0" marL="0">
              <a:lnSpc>
                <a:spcPts val="1300"/>
              </a:lnSpc>
              <a:buNone/>
            </a:pPr>
            <a:r>
              <a:rPr lang="en-US" sz="1050" dirty="0">
                <a:solidFill>
                  <a:srgbClr val="64748B"/>
                </a:solidFill>
                <a:latin typeface="Calibri" pitchFamily="34" charset="0"/>
                <a:ea typeface="Calibri" pitchFamily="34" charset="-122"/>
                <a:cs typeface="Calibri" pitchFamily="34" charset="-120"/>
              </a:rPr>
              <a:t>and shell detection</a:t>
            </a:r>
            <a:endParaRPr lang="en-US" sz="1050" dirty="0"/>
          </a:p>
        </p:txBody>
      </p:sp>
      <p:sp>
        <p:nvSpPr>
          <p:cNvPr id="20" name="Shape 18"/>
          <p:cNvSpPr/>
          <p:nvPr/>
        </p:nvSpPr>
        <p:spPr>
          <a:xfrm>
            <a:off x="9043416" y="2103120"/>
            <a:ext cx="2615184" cy="1371600"/>
          </a:xfrm>
          <a:prstGeom prst="roundRect">
            <a:avLst>
              <a:gd name="adj" fmla="val 60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1" name="Shape 19"/>
          <p:cNvSpPr/>
          <p:nvPr/>
        </p:nvSpPr>
        <p:spPr>
          <a:xfrm>
            <a:off x="10168128" y="2286000"/>
            <a:ext cx="365760" cy="365760"/>
          </a:xfrm>
          <a:prstGeom prst="ellipse">
            <a:avLst/>
          </a:prstGeom>
          <a:solidFill>
            <a:srgbClr val="16A34A"/>
          </a:solidFill>
          <a:ln w="12700">
            <a:solidFill>
              <a:srgbClr val="16A34A"/>
            </a:solidFill>
            <a:prstDash val="solid"/>
          </a:ln>
        </p:spPr>
      </p:sp>
      <p:sp>
        <p:nvSpPr>
          <p:cNvPr id="22" name="Text 20"/>
          <p:cNvSpPr/>
          <p:nvPr/>
        </p:nvSpPr>
        <p:spPr>
          <a:xfrm>
            <a:off x="10168128" y="2286000"/>
            <a:ext cx="365760" cy="365760"/>
          </a:xfrm>
          <a:prstGeom prst="rect">
            <a:avLst/>
          </a:prstGeom>
          <a:noFill/>
          <a:ln/>
        </p:spPr>
        <p:txBody>
          <a:bodyPr wrap="square" lIns="0" tIns="0" rIns="0" bIns="0" rtlCol="0" anchor="ctr"/>
          <a:lstStyle/>
          <a:p>
            <a:pPr algn="ctr" indent="0" marL="0">
              <a:buNone/>
            </a:pPr>
            <a:endParaRPr lang="en-US" sz="1200" dirty="0"/>
          </a:p>
        </p:txBody>
      </p:sp>
      <p:sp>
        <p:nvSpPr>
          <p:cNvPr id="23" name="Text 21"/>
          <p:cNvSpPr/>
          <p:nvPr/>
        </p:nvSpPr>
        <p:spPr>
          <a:xfrm>
            <a:off x="9180576" y="2724912"/>
            <a:ext cx="2340864" cy="274320"/>
          </a:xfrm>
          <a:prstGeom prst="rect">
            <a:avLst/>
          </a:prstGeom>
          <a:noFill/>
          <a:ln/>
        </p:spPr>
        <p:txBody>
          <a:bodyPr wrap="square" lIns="0" tIns="0" rIns="0" bIns="0" rtlCol="0" anchor="ctr"/>
          <a:lstStyle/>
          <a:p>
            <a:pPr algn="ctr" indent="0" marL="0">
              <a:buNone/>
            </a:pPr>
            <a:r>
              <a:rPr lang="en-US" sz="1350" b="1" dirty="0">
                <a:solidFill>
                  <a:srgbClr val="0F172A"/>
                </a:solidFill>
                <a:latin typeface="Calibri" pitchFamily="34" charset="0"/>
                <a:ea typeface="Calibri" pitchFamily="34" charset="-122"/>
                <a:cs typeface="Calibri" pitchFamily="34" charset="-120"/>
              </a:rPr>
              <a:t>E2SM-KPM</a:t>
            </a:r>
            <a:endParaRPr lang="en-US" sz="1350" dirty="0"/>
          </a:p>
        </p:txBody>
      </p:sp>
      <p:sp>
        <p:nvSpPr>
          <p:cNvPr id="24" name="Text 22"/>
          <p:cNvSpPr/>
          <p:nvPr/>
        </p:nvSpPr>
        <p:spPr>
          <a:xfrm>
            <a:off x="9180576" y="2999232"/>
            <a:ext cx="2340864" cy="411480"/>
          </a:xfrm>
          <a:prstGeom prst="rect">
            <a:avLst/>
          </a:prstGeom>
          <a:noFill/>
          <a:ln/>
        </p:spPr>
        <p:txBody>
          <a:bodyPr wrap="square" lIns="0" tIns="0" rIns="0" bIns="0" rtlCol="0" anchor="ctr"/>
          <a:lstStyle/>
          <a:p>
            <a:pPr algn="ctr" indent="0" marL="0">
              <a:lnSpc>
                <a:spcPts val="1300"/>
              </a:lnSpc>
              <a:buNone/>
            </a:pPr>
            <a:r>
              <a:rPr lang="en-US" sz="1050" dirty="0">
                <a:solidFill>
                  <a:srgbClr val="64748B"/>
                </a:solidFill>
                <a:latin typeface="Calibri" pitchFamily="34" charset="0"/>
                <a:ea typeface="Calibri" pitchFamily="34" charset="-122"/>
                <a:cs typeface="Calibri" pitchFamily="34" charset="-120"/>
              </a:rPr>
              <a:t>RAN performance</a:t>
            </a:r>
            <a:endParaRPr lang="en-US" sz="1050" dirty="0"/>
          </a:p>
          <a:p>
            <a:pPr algn="ctr" indent="0" marL="0">
              <a:lnSpc>
                <a:spcPts val="1300"/>
              </a:lnSpc>
              <a:buNone/>
            </a:pPr>
            <a:r>
              <a:rPr lang="en-US" sz="1050" dirty="0">
                <a:solidFill>
                  <a:srgbClr val="64748B"/>
                </a:solidFill>
                <a:latin typeface="Calibri" pitchFamily="34" charset="0"/>
                <a:ea typeface="Calibri" pitchFamily="34" charset="-122"/>
                <a:cs typeface="Calibri" pitchFamily="34" charset="-120"/>
              </a:rPr>
              <a:t>measurements</a:t>
            </a:r>
            <a:endParaRPr lang="en-US" sz="1050" dirty="0"/>
          </a:p>
        </p:txBody>
      </p:sp>
      <p:sp>
        <p:nvSpPr>
          <p:cNvPr id="25" name="Shape 23"/>
          <p:cNvSpPr/>
          <p:nvPr/>
        </p:nvSpPr>
        <p:spPr>
          <a:xfrm>
            <a:off x="566928" y="3703320"/>
            <a:ext cx="11027664" cy="658368"/>
          </a:xfrm>
          <a:prstGeom prst="roundRect">
            <a:avLst>
              <a:gd name="adj" fmla="val 12500"/>
            </a:avLst>
          </a:prstGeom>
          <a:solidFill>
            <a:srgbClr val="0E7490"/>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6" name="Text 24"/>
          <p:cNvSpPr/>
          <p:nvPr/>
        </p:nvSpPr>
        <p:spPr>
          <a:xfrm>
            <a:off x="566928" y="3703320"/>
            <a:ext cx="11027664" cy="658368"/>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Normalised threat event  ·  de-duplication  ·  correlation score  ·  UE attribution</a:t>
            </a:r>
            <a:endParaRPr lang="en-US" sz="1450" dirty="0"/>
          </a:p>
        </p:txBody>
      </p:sp>
      <p:sp>
        <p:nvSpPr>
          <p:cNvPr id="27" name="Shape 25"/>
          <p:cNvSpPr/>
          <p:nvPr/>
        </p:nvSpPr>
        <p:spPr>
          <a:xfrm>
            <a:off x="566928" y="4590288"/>
            <a:ext cx="5394960" cy="1691640"/>
          </a:xfrm>
          <a:prstGeom prst="roundRect">
            <a:avLst>
              <a:gd name="adj" fmla="val 4865"/>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8" name="Text 26"/>
          <p:cNvSpPr/>
          <p:nvPr/>
        </p:nvSpPr>
        <p:spPr>
          <a:xfrm>
            <a:off x="841248" y="4754880"/>
            <a:ext cx="4846320"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Explainable without AI</a:t>
            </a:r>
            <a:endParaRPr lang="en-US" sz="1400" dirty="0"/>
          </a:p>
        </p:txBody>
      </p:sp>
      <p:sp>
        <p:nvSpPr>
          <p:cNvPr id="29" name="Text 27"/>
          <p:cNvSpPr/>
          <p:nvPr/>
        </p:nvSpPr>
        <p:spPr>
          <a:xfrm>
            <a:off x="841248" y="5102352"/>
            <a:ext cx="4892040" cy="100584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An operator can inspect exactly why an event exists — rule, threshold, measured value — even when every LLM provider is unavailable. Detection authority never depends on a model.</a:t>
            </a:r>
            <a:endParaRPr lang="en-US" sz="1150" dirty="0"/>
          </a:p>
        </p:txBody>
      </p:sp>
      <p:sp>
        <p:nvSpPr>
          <p:cNvPr id="30" name="Shape 28"/>
          <p:cNvSpPr/>
          <p:nvPr/>
        </p:nvSpPr>
        <p:spPr>
          <a:xfrm>
            <a:off x="6263640" y="4590288"/>
            <a:ext cx="5330952" cy="1691640"/>
          </a:xfrm>
          <a:prstGeom prst="roundRect">
            <a:avLst>
              <a:gd name="adj" fmla="val 4865"/>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31" name="Text 29"/>
          <p:cNvSpPr/>
          <p:nvPr/>
        </p:nvSpPr>
        <p:spPr>
          <a:xfrm>
            <a:off x="6537960" y="4754880"/>
            <a:ext cx="4754880"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Evidence-first design</a:t>
            </a:r>
            <a:endParaRPr lang="en-US" sz="1400" dirty="0"/>
          </a:p>
        </p:txBody>
      </p:sp>
      <p:sp>
        <p:nvSpPr>
          <p:cNvPr id="32" name="Text 30"/>
          <p:cNvSpPr/>
          <p:nvPr/>
        </p:nvSpPr>
        <p:spPr>
          <a:xfrm>
            <a:off x="6537960" y="5102352"/>
            <a:ext cx="4800600" cy="100584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Deterministic detectors remain the source of detection truth; the language model only explains and recommends. This separation is what makes the platform auditable and safe to trust.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56032"/>
          </a:xfrm>
          <a:prstGeom prst="rect">
            <a:avLst/>
          </a:prstGeom>
          <a:noFill/>
          <a:ln/>
        </p:spPr>
        <p:txBody>
          <a:bodyPr wrap="square" lIns="0" tIns="0" rIns="0" bIns="0" rtlCol="0" anchor="ctr"/>
          <a:lstStyle/>
          <a:p>
            <a:pPr indent="0" marL="0">
              <a:buNone/>
            </a:pPr>
            <a:r>
              <a:rPr lang="en-US" sz="1150" b="1" spc="200" kern="0" dirty="0">
                <a:solidFill>
                  <a:srgbClr val="0E7490"/>
                </a:solidFill>
                <a:latin typeface="Calibri" pitchFamily="34" charset="0"/>
                <a:ea typeface="Calibri" pitchFamily="34" charset="-122"/>
                <a:cs typeface="Calibri" pitchFamily="34" charset="-120"/>
              </a:rPr>
              <a:t>CONTRIBUTION 3 · HIERARCHICAL RAG OVER MCP</a:t>
            </a:r>
            <a:endParaRPr lang="en-US" sz="1150" dirty="0"/>
          </a:p>
        </p:txBody>
      </p:sp>
      <p:sp>
        <p:nvSpPr>
          <p:cNvPr id="3" name="Text 1"/>
          <p:cNvSpPr/>
          <p:nvPr/>
        </p:nvSpPr>
        <p:spPr>
          <a:xfrm>
            <a:off x="566928" y="603504"/>
            <a:ext cx="11027664" cy="65836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Answer locally when you can, escalate when you cannot</a:t>
            </a:r>
            <a:endParaRPr lang="en-US" sz="3300" dirty="0"/>
          </a:p>
        </p:txBody>
      </p:sp>
      <p:sp>
        <p:nvSpPr>
          <p:cNvPr id="4" name="Shape 2"/>
          <p:cNvSpPr/>
          <p:nvPr/>
        </p:nvSpPr>
        <p:spPr>
          <a:xfrm>
            <a:off x="566928" y="1536192"/>
            <a:ext cx="3429000" cy="2286000"/>
          </a:xfrm>
          <a:prstGeom prst="roundRect">
            <a:avLst>
              <a:gd name="adj" fmla="val 36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5" name="Shape 3"/>
          <p:cNvSpPr/>
          <p:nvPr/>
        </p:nvSpPr>
        <p:spPr>
          <a:xfrm>
            <a:off x="822960" y="1755648"/>
            <a:ext cx="420624" cy="420624"/>
          </a:xfrm>
          <a:prstGeom prst="ellipse">
            <a:avLst/>
          </a:prstGeom>
          <a:solidFill>
            <a:srgbClr val="16A34A"/>
          </a:solidFill>
          <a:ln w="12700">
            <a:solidFill>
              <a:srgbClr val="16A34A"/>
            </a:solidFill>
            <a:prstDash val="solid"/>
          </a:ln>
        </p:spPr>
      </p:sp>
      <p:sp>
        <p:nvSpPr>
          <p:cNvPr id="6" name="Text 4"/>
          <p:cNvSpPr/>
          <p:nvPr/>
        </p:nvSpPr>
        <p:spPr>
          <a:xfrm>
            <a:off x="822960" y="175564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53312" y="1792224"/>
            <a:ext cx="2468880" cy="347472"/>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Local retrieval first</a:t>
            </a:r>
            <a:endParaRPr lang="en-US" sz="1450" dirty="0"/>
          </a:p>
        </p:txBody>
      </p:sp>
      <p:sp>
        <p:nvSpPr>
          <p:cNvPr id="8" name="Text 6"/>
          <p:cNvSpPr/>
          <p:nvPr/>
        </p:nvSpPr>
        <p:spPr>
          <a:xfrm>
            <a:off x="822960" y="2304288"/>
            <a:ext cx="2926080" cy="137160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The regional Mini-RAG searches only its own vector knowledge base and accepts the answer when local similarity clears the configured routing threshold (0.69) and usability checks.</a:t>
            </a:r>
            <a:endParaRPr lang="en-US" sz="1150" dirty="0"/>
          </a:p>
        </p:txBody>
      </p:sp>
      <p:sp>
        <p:nvSpPr>
          <p:cNvPr id="9" name="Shape 7"/>
          <p:cNvSpPr/>
          <p:nvPr/>
        </p:nvSpPr>
        <p:spPr>
          <a:xfrm>
            <a:off x="4224528" y="1536192"/>
            <a:ext cx="3429000" cy="2286000"/>
          </a:xfrm>
          <a:prstGeom prst="roundRect">
            <a:avLst>
              <a:gd name="adj" fmla="val 36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0" name="Shape 8"/>
          <p:cNvSpPr/>
          <p:nvPr/>
        </p:nvSpPr>
        <p:spPr>
          <a:xfrm>
            <a:off x="4480560" y="1755648"/>
            <a:ext cx="420624" cy="420624"/>
          </a:xfrm>
          <a:prstGeom prst="ellipse">
            <a:avLst/>
          </a:prstGeom>
          <a:solidFill>
            <a:srgbClr val="D97706"/>
          </a:solidFill>
          <a:ln w="12700">
            <a:solidFill>
              <a:srgbClr val="D97706"/>
            </a:solidFill>
            <a:prstDash val="solid"/>
          </a:ln>
        </p:spPr>
      </p:sp>
      <p:sp>
        <p:nvSpPr>
          <p:cNvPr id="11" name="Text 9"/>
          <p:cNvSpPr/>
          <p:nvPr/>
        </p:nvSpPr>
        <p:spPr>
          <a:xfrm>
            <a:off x="4480560" y="175564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5010912" y="1792224"/>
            <a:ext cx="2468880" cy="347472"/>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Escalate over MCP</a:t>
            </a:r>
            <a:endParaRPr lang="en-US" sz="1450" dirty="0"/>
          </a:p>
        </p:txBody>
      </p:sp>
      <p:sp>
        <p:nvSpPr>
          <p:cNvPr id="13" name="Text 11"/>
          <p:cNvSpPr/>
          <p:nvPr/>
        </p:nvSpPr>
        <p:spPr>
          <a:xfrm>
            <a:off x="4480560" y="2304288"/>
            <a:ext cx="2926080" cy="137160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If evidence is insufficient — or severity is high — the agent calls global_rag.analyze_threat as a typed MCP tool over an SSE stream, carrying evidence and provider provenance.</a:t>
            </a:r>
            <a:endParaRPr lang="en-US" sz="1150" dirty="0"/>
          </a:p>
        </p:txBody>
      </p:sp>
      <p:sp>
        <p:nvSpPr>
          <p:cNvPr id="14" name="Shape 12"/>
          <p:cNvSpPr/>
          <p:nvPr/>
        </p:nvSpPr>
        <p:spPr>
          <a:xfrm>
            <a:off x="8165592" y="1536192"/>
            <a:ext cx="3429000" cy="2286000"/>
          </a:xfrm>
          <a:prstGeom prst="roundRect">
            <a:avLst>
              <a:gd name="adj" fmla="val 36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5" name="Shape 13"/>
          <p:cNvSpPr/>
          <p:nvPr/>
        </p:nvSpPr>
        <p:spPr>
          <a:xfrm>
            <a:off x="8421624" y="1755648"/>
            <a:ext cx="420624" cy="420624"/>
          </a:xfrm>
          <a:prstGeom prst="ellipse">
            <a:avLst/>
          </a:prstGeom>
          <a:solidFill>
            <a:srgbClr val="7C3AED"/>
          </a:solidFill>
          <a:ln w="12700">
            <a:solidFill>
              <a:srgbClr val="7C3AED"/>
            </a:solidFill>
            <a:prstDash val="solid"/>
          </a:ln>
        </p:spPr>
      </p:sp>
      <p:sp>
        <p:nvSpPr>
          <p:cNvPr id="16" name="Text 14"/>
          <p:cNvSpPr/>
          <p:nvPr/>
        </p:nvSpPr>
        <p:spPr>
          <a:xfrm>
            <a:off x="8421624" y="175564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8951976" y="1792224"/>
            <a:ext cx="2468880" cy="347472"/>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Learn regionally</a:t>
            </a:r>
            <a:endParaRPr lang="en-US" sz="1450" dirty="0"/>
          </a:p>
        </p:txBody>
      </p:sp>
      <p:sp>
        <p:nvSpPr>
          <p:cNvPr id="18" name="Text 16"/>
          <p:cNvSpPr/>
          <p:nvPr/>
        </p:nvSpPr>
        <p:spPr>
          <a:xfrm>
            <a:off x="8421624" y="2304288"/>
            <a:ext cx="2926080" cy="137160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Eligible global knowledge is canonicalised, de-duplicated and re-vectorised into that region only — so the region answers the next similar event locally.</a:t>
            </a:r>
            <a:endParaRPr lang="en-US" sz="1150" dirty="0"/>
          </a:p>
        </p:txBody>
      </p:sp>
      <p:sp>
        <p:nvSpPr>
          <p:cNvPr id="19" name="Shape 17"/>
          <p:cNvSpPr/>
          <p:nvPr/>
        </p:nvSpPr>
        <p:spPr>
          <a:xfrm>
            <a:off x="566928" y="4023360"/>
            <a:ext cx="11027664" cy="2148840"/>
          </a:xfrm>
          <a:prstGeom prst="roundRect">
            <a:avLst>
              <a:gd name="adj" fmla="val 3830"/>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0" name="Text 18"/>
          <p:cNvSpPr/>
          <p:nvPr/>
        </p:nvSpPr>
        <p:spPr>
          <a:xfrm>
            <a:off x="886968" y="4224528"/>
            <a:ext cx="594360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Three FastMCP servers, four typed tools</a:t>
            </a:r>
            <a:endParaRPr lang="en-US" sz="1500" dirty="0"/>
          </a:p>
        </p:txBody>
      </p:sp>
      <p:sp>
        <p:nvSpPr>
          <p:cNvPr id="21" name="Shape 19"/>
          <p:cNvSpPr/>
          <p:nvPr/>
        </p:nvSpPr>
        <p:spPr>
          <a:xfrm>
            <a:off x="886968" y="4736592"/>
            <a:ext cx="274320" cy="274320"/>
          </a:xfrm>
          <a:prstGeom prst="ellipse">
            <a:avLst/>
          </a:prstGeom>
          <a:solidFill>
            <a:srgbClr val="16A34A"/>
          </a:solidFill>
          <a:ln w="12700">
            <a:solidFill>
              <a:srgbClr val="16A34A"/>
            </a:solidFill>
            <a:prstDash val="solid"/>
          </a:ln>
        </p:spPr>
      </p:sp>
      <p:sp>
        <p:nvSpPr>
          <p:cNvPr id="22" name="Text 20"/>
          <p:cNvSpPr/>
          <p:nvPr/>
        </p:nvSpPr>
        <p:spPr>
          <a:xfrm>
            <a:off x="886968" y="4736592"/>
            <a:ext cx="274320" cy="274320"/>
          </a:xfrm>
          <a:prstGeom prst="rect">
            <a:avLst/>
          </a:prstGeom>
          <a:noFill/>
          <a:ln/>
        </p:spPr>
        <p:txBody>
          <a:bodyPr wrap="square" lIns="0" tIns="0" rIns="0" bIns="0" rtlCol="0" anchor="ctr"/>
          <a:lstStyle/>
          <a:p>
            <a:pPr algn="ctr" indent="0" marL="0">
              <a:buNone/>
            </a:pPr>
            <a:endParaRPr lang="en-US" sz="1200" dirty="0"/>
          </a:p>
        </p:txBody>
      </p:sp>
      <p:sp>
        <p:nvSpPr>
          <p:cNvPr id="23" name="Text 21"/>
          <p:cNvSpPr/>
          <p:nvPr/>
        </p:nvSpPr>
        <p:spPr>
          <a:xfrm>
            <a:off x="1280160" y="4681728"/>
            <a:ext cx="3200400" cy="38404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Mini-RAG Agent  (×4, edge)</a:t>
            </a:r>
            <a:endParaRPr lang="en-US" sz="1200" dirty="0"/>
          </a:p>
        </p:txBody>
      </p:sp>
      <p:sp>
        <p:nvSpPr>
          <p:cNvPr id="24" name="Text 22"/>
          <p:cNvSpPr/>
          <p:nvPr/>
        </p:nvSpPr>
        <p:spPr>
          <a:xfrm>
            <a:off x="4206240" y="4681728"/>
            <a:ext cx="7223760" cy="384048"/>
          </a:xfrm>
          <a:prstGeom prst="rect">
            <a:avLst/>
          </a:prstGeom>
          <a:noFill/>
          <a:ln/>
        </p:spPr>
        <p:txBody>
          <a:bodyPr wrap="square" lIns="0" tIns="0" rIns="0" bIns="0" rtlCol="0" anchor="ctr"/>
          <a:lstStyle/>
          <a:p>
            <a:pPr indent="0" marL="0">
              <a:buNone/>
            </a:pPr>
            <a:r>
              <a:rPr lang="en-US" sz="1100" dirty="0">
                <a:solidFill>
                  <a:srgbClr val="0E7490"/>
                </a:solidFill>
                <a:latin typeface="Courier New" pitchFamily="34" charset="0"/>
                <a:ea typeface="Courier New" pitchFamily="34" charset="-122"/>
                <a:cs typeface="Courier New" pitchFamily="34" charset="-120"/>
              </a:rPr>
              <a:t>mini_rag.check_threat_intel</a:t>
            </a:r>
            <a:endParaRPr lang="en-US" sz="1100" dirty="0"/>
          </a:p>
        </p:txBody>
      </p:sp>
      <p:sp>
        <p:nvSpPr>
          <p:cNvPr id="25" name="Shape 23"/>
          <p:cNvSpPr/>
          <p:nvPr/>
        </p:nvSpPr>
        <p:spPr>
          <a:xfrm>
            <a:off x="886968" y="5248656"/>
            <a:ext cx="274320" cy="274320"/>
          </a:xfrm>
          <a:prstGeom prst="ellipse">
            <a:avLst/>
          </a:prstGeom>
          <a:solidFill>
            <a:srgbClr val="E11D48"/>
          </a:solidFill>
          <a:ln w="12700">
            <a:solidFill>
              <a:srgbClr val="E11D48"/>
            </a:solidFill>
            <a:prstDash val="solid"/>
          </a:ln>
        </p:spPr>
      </p:sp>
      <p:sp>
        <p:nvSpPr>
          <p:cNvPr id="26" name="Text 24"/>
          <p:cNvSpPr/>
          <p:nvPr/>
        </p:nvSpPr>
        <p:spPr>
          <a:xfrm>
            <a:off x="886968" y="5248656"/>
            <a:ext cx="274320" cy="274320"/>
          </a:xfrm>
          <a:prstGeom prst="rect">
            <a:avLst/>
          </a:prstGeom>
          <a:noFill/>
          <a:ln/>
        </p:spPr>
        <p:txBody>
          <a:bodyPr wrap="square" lIns="0" tIns="0" rIns="0" bIns="0" rtlCol="0" anchor="ctr"/>
          <a:lstStyle/>
          <a:p>
            <a:pPr algn="ctr" indent="0" marL="0">
              <a:buNone/>
            </a:pPr>
            <a:endParaRPr lang="en-US" sz="1200" dirty="0"/>
          </a:p>
        </p:txBody>
      </p:sp>
      <p:sp>
        <p:nvSpPr>
          <p:cNvPr id="27" name="Text 25"/>
          <p:cNvSpPr/>
          <p:nvPr/>
        </p:nvSpPr>
        <p:spPr>
          <a:xfrm>
            <a:off x="1280160" y="5193792"/>
            <a:ext cx="3200400" cy="38404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Global RAG Agent  (central)</a:t>
            </a:r>
            <a:endParaRPr lang="en-US" sz="1200" dirty="0"/>
          </a:p>
        </p:txBody>
      </p:sp>
      <p:sp>
        <p:nvSpPr>
          <p:cNvPr id="28" name="Text 26"/>
          <p:cNvSpPr/>
          <p:nvPr/>
        </p:nvSpPr>
        <p:spPr>
          <a:xfrm>
            <a:off x="4206240" y="5193792"/>
            <a:ext cx="7223760" cy="384048"/>
          </a:xfrm>
          <a:prstGeom prst="rect">
            <a:avLst/>
          </a:prstGeom>
          <a:noFill/>
          <a:ln/>
        </p:spPr>
        <p:txBody>
          <a:bodyPr wrap="square" lIns="0" tIns="0" rIns="0" bIns="0" rtlCol="0" anchor="ctr"/>
          <a:lstStyle/>
          <a:p>
            <a:pPr indent="0" marL="0">
              <a:buNone/>
            </a:pPr>
            <a:r>
              <a:rPr lang="en-US" sz="1100" dirty="0">
                <a:solidFill>
                  <a:srgbClr val="0E7490"/>
                </a:solidFill>
                <a:latin typeface="Courier New" pitchFamily="34" charset="0"/>
                <a:ea typeface="Courier New" pitchFamily="34" charset="-122"/>
                <a:cs typeface="Courier New" pitchFamily="34" charset="-120"/>
              </a:rPr>
              <a:t>global_rag.analyze_threat  ·  global_rag.report_local_intel</a:t>
            </a:r>
            <a:endParaRPr lang="en-US" sz="1100" dirty="0"/>
          </a:p>
        </p:txBody>
      </p:sp>
      <p:sp>
        <p:nvSpPr>
          <p:cNvPr id="29" name="Shape 27"/>
          <p:cNvSpPr/>
          <p:nvPr/>
        </p:nvSpPr>
        <p:spPr>
          <a:xfrm>
            <a:off x="886968" y="5760720"/>
            <a:ext cx="274320" cy="274320"/>
          </a:xfrm>
          <a:prstGeom prst="ellipse">
            <a:avLst/>
          </a:prstGeom>
          <a:solidFill>
            <a:srgbClr val="7C3AED"/>
          </a:solidFill>
          <a:ln w="12700">
            <a:solidFill>
              <a:srgbClr val="7C3AED"/>
            </a:solidFill>
            <a:prstDash val="solid"/>
          </a:ln>
        </p:spPr>
      </p:sp>
      <p:sp>
        <p:nvSpPr>
          <p:cNvPr id="30" name="Text 28"/>
          <p:cNvSpPr/>
          <p:nvPr/>
        </p:nvSpPr>
        <p:spPr>
          <a:xfrm>
            <a:off x="886968" y="5760720"/>
            <a:ext cx="274320" cy="274320"/>
          </a:xfrm>
          <a:prstGeom prst="rect">
            <a:avLst/>
          </a:prstGeom>
          <a:noFill/>
          <a:ln/>
        </p:spPr>
        <p:txBody>
          <a:bodyPr wrap="square" lIns="0" tIns="0" rIns="0" bIns="0" rtlCol="0" anchor="ctr"/>
          <a:lstStyle/>
          <a:p>
            <a:pPr algn="ctr" indent="0" marL="0">
              <a:buNone/>
            </a:pPr>
            <a:endParaRPr lang="en-US" sz="1200" dirty="0"/>
          </a:p>
        </p:txBody>
      </p:sp>
      <p:sp>
        <p:nvSpPr>
          <p:cNvPr id="31" name="Text 29"/>
          <p:cNvSpPr/>
          <p:nvPr/>
        </p:nvSpPr>
        <p:spPr>
          <a:xfrm>
            <a:off x="1280160" y="5705856"/>
            <a:ext cx="3200400" cy="38404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Inter-Platform Agent  (central)</a:t>
            </a:r>
            <a:endParaRPr lang="en-US" sz="1200" dirty="0"/>
          </a:p>
        </p:txBody>
      </p:sp>
      <p:sp>
        <p:nvSpPr>
          <p:cNvPr id="32" name="Text 30"/>
          <p:cNvSpPr/>
          <p:nvPr/>
        </p:nvSpPr>
        <p:spPr>
          <a:xfrm>
            <a:off x="4206240" y="5705856"/>
            <a:ext cx="7223760" cy="384048"/>
          </a:xfrm>
          <a:prstGeom prst="rect">
            <a:avLst/>
          </a:prstGeom>
          <a:noFill/>
          <a:ln/>
        </p:spPr>
        <p:txBody>
          <a:bodyPr wrap="square" lIns="0" tIns="0" rIns="0" bIns="0" rtlCol="0" anchor="ctr"/>
          <a:lstStyle/>
          <a:p>
            <a:pPr indent="0" marL="0">
              <a:buNone/>
            </a:pPr>
            <a:r>
              <a:rPr lang="en-US" sz="1100" dirty="0">
                <a:solidFill>
                  <a:srgbClr val="0E7490"/>
                </a:solidFill>
                <a:latin typeface="Courier New" pitchFamily="34" charset="0"/>
                <a:ea typeface="Courier New" pitchFamily="34" charset="-122"/>
                <a:cs typeface="Courier New" pitchFamily="34" charset="-120"/>
              </a:rPr>
              <a:t>inter_platform.distribute_threat</a:t>
            </a:r>
            <a:endParaRPr lang="en-US" sz="1100" dirty="0"/>
          </a:p>
        </p:txBody>
      </p:sp>
      <p:sp>
        <p:nvSpPr>
          <p:cNvPr id="33" name="Text 31"/>
          <p:cNvSpPr/>
          <p:nvPr/>
        </p:nvSpPr>
        <p:spPr>
          <a:xfrm>
            <a:off x="566928" y="6291072"/>
            <a:ext cx="11027664" cy="29260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All three are FastMCP servers mounted at /mcp, serving SSE at /mcp/sse — agents call each other as typed tools, not ad-hoc REST.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56032"/>
          </a:xfrm>
          <a:prstGeom prst="rect">
            <a:avLst/>
          </a:prstGeom>
          <a:noFill/>
          <a:ln/>
        </p:spPr>
        <p:txBody>
          <a:bodyPr wrap="square" lIns="0" tIns="0" rIns="0" bIns="0" rtlCol="0" anchor="ctr"/>
          <a:lstStyle/>
          <a:p>
            <a:pPr indent="0" marL="0">
              <a:buNone/>
            </a:pPr>
            <a:r>
              <a:rPr lang="en-US" sz="1150" b="1" spc="200" kern="0" dirty="0">
                <a:solidFill>
                  <a:srgbClr val="0E7490"/>
                </a:solidFill>
                <a:latin typeface="Calibri" pitchFamily="34" charset="0"/>
                <a:ea typeface="Calibri" pitchFamily="34" charset="-122"/>
                <a:cs typeface="Calibri" pitchFamily="34" charset="-120"/>
              </a:rPr>
              <a:t>CONTRIBUTION 4 · INTER-PLATFORM SHARING</a:t>
            </a:r>
            <a:endParaRPr lang="en-US" sz="1150" dirty="0"/>
          </a:p>
        </p:txBody>
      </p:sp>
      <p:sp>
        <p:nvSpPr>
          <p:cNvPr id="3" name="Text 1"/>
          <p:cNvSpPr/>
          <p:nvPr/>
        </p:nvSpPr>
        <p:spPr>
          <a:xfrm>
            <a:off x="566928" y="603504"/>
            <a:ext cx="11027664" cy="65836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One region learns, every region benefits — safely</a:t>
            </a:r>
            <a:endParaRPr lang="en-US" sz="3300" dirty="0"/>
          </a:p>
        </p:txBody>
      </p:sp>
      <p:sp>
        <p:nvSpPr>
          <p:cNvPr id="4" name="Shape 2"/>
          <p:cNvSpPr/>
          <p:nvPr/>
        </p:nvSpPr>
        <p:spPr>
          <a:xfrm>
            <a:off x="566928" y="1554480"/>
            <a:ext cx="5806440" cy="987552"/>
          </a:xfrm>
          <a:prstGeom prst="roundRect">
            <a:avLst>
              <a:gd name="adj" fmla="val 8333"/>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5" name="Shape 3"/>
          <p:cNvSpPr/>
          <p:nvPr/>
        </p:nvSpPr>
        <p:spPr>
          <a:xfrm>
            <a:off x="804672" y="1810512"/>
            <a:ext cx="457200" cy="457200"/>
          </a:xfrm>
          <a:prstGeom prst="ellipse">
            <a:avLst/>
          </a:prstGeom>
          <a:solidFill>
            <a:srgbClr val="16A34A"/>
          </a:solidFill>
          <a:ln w="12700">
            <a:solidFill>
              <a:srgbClr val="16A34A"/>
            </a:solidFill>
            <a:prstDash val="solid"/>
          </a:ln>
        </p:spPr>
      </p:sp>
      <p:sp>
        <p:nvSpPr>
          <p:cNvPr id="6" name="Text 4"/>
          <p:cNvSpPr/>
          <p:nvPr/>
        </p:nvSpPr>
        <p:spPr>
          <a:xfrm>
            <a:off x="804672" y="181051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89888" y="1700784"/>
            <a:ext cx="2103120"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Confirm</a:t>
            </a:r>
            <a:endParaRPr lang="en-US" sz="1400" dirty="0"/>
          </a:p>
        </p:txBody>
      </p:sp>
      <p:sp>
        <p:nvSpPr>
          <p:cNvPr id="8" name="Text 6"/>
          <p:cNvSpPr/>
          <p:nvPr/>
        </p:nvSpPr>
        <p:spPr>
          <a:xfrm>
            <a:off x="1389888" y="2011680"/>
            <a:ext cx="4800600" cy="457200"/>
          </a:xfrm>
          <a:prstGeom prst="rect">
            <a:avLst/>
          </a:prstGeom>
          <a:noFill/>
          <a:ln/>
        </p:spPr>
        <p:txBody>
          <a:bodyPr wrap="square" lIns="0" tIns="0" rIns="0" bIns="0" rtlCol="0" anchor="t"/>
          <a:lstStyle/>
          <a:p>
            <a:pPr indent="0" marL="0">
              <a:lnSpc>
                <a:spcPts val="1500"/>
              </a:lnSpc>
              <a:buNone/>
            </a:pPr>
            <a:r>
              <a:rPr lang="en-US" sz="1150" dirty="0">
                <a:solidFill>
                  <a:srgbClr val="334155"/>
                </a:solidFill>
                <a:latin typeface="Calibri" pitchFamily="34" charset="0"/>
                <a:ea typeface="Calibri" pitchFamily="34" charset="-122"/>
                <a:cs typeface="Calibri" pitchFamily="34" charset="-120"/>
              </a:rPr>
              <a:t>A region confirms a high or critical threat with its mitigation report.</a:t>
            </a:r>
            <a:endParaRPr lang="en-US" sz="1150" dirty="0"/>
          </a:p>
        </p:txBody>
      </p:sp>
      <p:sp>
        <p:nvSpPr>
          <p:cNvPr id="9" name="Shape 7"/>
          <p:cNvSpPr/>
          <p:nvPr/>
        </p:nvSpPr>
        <p:spPr>
          <a:xfrm>
            <a:off x="566928" y="2670048"/>
            <a:ext cx="5806440" cy="987552"/>
          </a:xfrm>
          <a:prstGeom prst="roundRect">
            <a:avLst>
              <a:gd name="adj" fmla="val 8333"/>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0" name="Shape 8"/>
          <p:cNvSpPr/>
          <p:nvPr/>
        </p:nvSpPr>
        <p:spPr>
          <a:xfrm>
            <a:off x="804672" y="2926080"/>
            <a:ext cx="457200" cy="457200"/>
          </a:xfrm>
          <a:prstGeom prst="ellipse">
            <a:avLst/>
          </a:prstGeom>
          <a:solidFill>
            <a:srgbClr val="D97706"/>
          </a:solidFill>
          <a:ln w="12700">
            <a:solidFill>
              <a:srgbClr val="D97706"/>
            </a:solidFill>
            <a:prstDash val="solid"/>
          </a:ln>
        </p:spPr>
      </p:sp>
      <p:sp>
        <p:nvSpPr>
          <p:cNvPr id="11" name="Text 9"/>
          <p:cNvSpPr/>
          <p:nvPr/>
        </p:nvSpPr>
        <p:spPr>
          <a:xfrm>
            <a:off x="804672" y="2926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389888" y="2816352"/>
            <a:ext cx="2103120"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Sanitise</a:t>
            </a:r>
            <a:endParaRPr lang="en-US" sz="1400" dirty="0"/>
          </a:p>
        </p:txBody>
      </p:sp>
      <p:sp>
        <p:nvSpPr>
          <p:cNvPr id="13" name="Text 11"/>
          <p:cNvSpPr/>
          <p:nvPr/>
        </p:nvSpPr>
        <p:spPr>
          <a:xfrm>
            <a:off x="1389888" y="3127248"/>
            <a:ext cx="4800600" cy="457200"/>
          </a:xfrm>
          <a:prstGeom prst="rect">
            <a:avLst/>
          </a:prstGeom>
          <a:noFill/>
          <a:ln/>
        </p:spPr>
        <p:txBody>
          <a:bodyPr wrap="square" lIns="0" tIns="0" rIns="0" bIns="0" rtlCol="0" anchor="t"/>
          <a:lstStyle/>
          <a:p>
            <a:pPr indent="0" marL="0">
              <a:lnSpc>
                <a:spcPts val="1500"/>
              </a:lnSpc>
              <a:buNone/>
            </a:pPr>
            <a:r>
              <a:rPr lang="en-US" sz="1150" dirty="0">
                <a:solidFill>
                  <a:srgbClr val="334155"/>
                </a:solidFill>
                <a:latin typeface="Calibri" pitchFamily="34" charset="0"/>
                <a:ea typeface="Calibri" pitchFamily="34" charset="-122"/>
                <a:cs typeface="Calibri" pitchFamily="34" charset="-120"/>
              </a:rPr>
              <a:t>The agent redacts IPs, MACs, FQDNs and subscriber identities, then tags the source region.</a:t>
            </a:r>
            <a:endParaRPr lang="en-US" sz="1150" dirty="0"/>
          </a:p>
        </p:txBody>
      </p:sp>
      <p:sp>
        <p:nvSpPr>
          <p:cNvPr id="14" name="Shape 12"/>
          <p:cNvSpPr/>
          <p:nvPr/>
        </p:nvSpPr>
        <p:spPr>
          <a:xfrm>
            <a:off x="566928" y="3785616"/>
            <a:ext cx="5806440" cy="987552"/>
          </a:xfrm>
          <a:prstGeom prst="roundRect">
            <a:avLst>
              <a:gd name="adj" fmla="val 8333"/>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5" name="Shape 13"/>
          <p:cNvSpPr/>
          <p:nvPr/>
        </p:nvSpPr>
        <p:spPr>
          <a:xfrm>
            <a:off x="804672" y="4041648"/>
            <a:ext cx="457200" cy="457200"/>
          </a:xfrm>
          <a:prstGeom prst="ellipse">
            <a:avLst/>
          </a:prstGeom>
          <a:solidFill>
            <a:srgbClr val="7C3AED"/>
          </a:solidFill>
          <a:ln w="12700">
            <a:solidFill>
              <a:srgbClr val="7C3AED"/>
            </a:solidFill>
            <a:prstDash val="solid"/>
          </a:ln>
        </p:spPr>
      </p:sp>
      <p:sp>
        <p:nvSpPr>
          <p:cNvPr id="16" name="Text 14"/>
          <p:cNvSpPr/>
          <p:nvPr/>
        </p:nvSpPr>
        <p:spPr>
          <a:xfrm>
            <a:off x="804672" y="404164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389888" y="3931920"/>
            <a:ext cx="2103120"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Check peers</a:t>
            </a:r>
            <a:endParaRPr lang="en-US" sz="1400" dirty="0"/>
          </a:p>
        </p:txBody>
      </p:sp>
      <p:sp>
        <p:nvSpPr>
          <p:cNvPr id="18" name="Text 16"/>
          <p:cNvSpPr/>
          <p:nvPr/>
        </p:nvSpPr>
        <p:spPr>
          <a:xfrm>
            <a:off x="1389888" y="4242816"/>
            <a:ext cx="4800600" cy="457200"/>
          </a:xfrm>
          <a:prstGeom prst="rect">
            <a:avLst/>
          </a:prstGeom>
          <a:noFill/>
          <a:ln/>
        </p:spPr>
        <p:txBody>
          <a:bodyPr wrap="square" lIns="0" tIns="0" rIns="0" bIns="0" rtlCol="0" anchor="t"/>
          <a:lstStyle/>
          <a:p>
            <a:pPr indent="0" marL="0">
              <a:lnSpc>
                <a:spcPts val="1500"/>
              </a:lnSpc>
              <a:buNone/>
            </a:pPr>
            <a:r>
              <a:rPr lang="en-US" sz="1150" dirty="0">
                <a:solidFill>
                  <a:srgbClr val="334155"/>
                </a:solidFill>
                <a:latin typeface="Calibri" pitchFamily="34" charset="0"/>
                <a:ea typeface="Calibri" pitchFamily="34" charset="-122"/>
                <a:cs typeface="Calibri" pitchFamily="34" charset="-120"/>
              </a:rPr>
              <a:t>Concurrent MCP dedup calls ask every other region: do you already know this?</a:t>
            </a:r>
            <a:endParaRPr lang="en-US" sz="1150" dirty="0"/>
          </a:p>
        </p:txBody>
      </p:sp>
      <p:sp>
        <p:nvSpPr>
          <p:cNvPr id="19" name="Shape 17"/>
          <p:cNvSpPr/>
          <p:nvPr/>
        </p:nvSpPr>
        <p:spPr>
          <a:xfrm>
            <a:off x="566928" y="4901184"/>
            <a:ext cx="5806440" cy="987552"/>
          </a:xfrm>
          <a:prstGeom prst="roundRect">
            <a:avLst>
              <a:gd name="adj" fmla="val 8333"/>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0" name="Shape 18"/>
          <p:cNvSpPr/>
          <p:nvPr/>
        </p:nvSpPr>
        <p:spPr>
          <a:xfrm>
            <a:off x="804672" y="5157216"/>
            <a:ext cx="457200" cy="457200"/>
          </a:xfrm>
          <a:prstGeom prst="ellipse">
            <a:avLst/>
          </a:prstGeom>
          <a:solidFill>
            <a:srgbClr val="E11D48"/>
          </a:solidFill>
          <a:ln w="12700">
            <a:solidFill>
              <a:srgbClr val="E11D48"/>
            </a:solidFill>
            <a:prstDash val="solid"/>
          </a:ln>
        </p:spPr>
      </p:sp>
      <p:sp>
        <p:nvSpPr>
          <p:cNvPr id="21" name="Text 19"/>
          <p:cNvSpPr/>
          <p:nvPr/>
        </p:nvSpPr>
        <p:spPr>
          <a:xfrm>
            <a:off x="804672" y="51572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389888" y="5047488"/>
            <a:ext cx="2103120"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Selective ingest</a:t>
            </a:r>
            <a:endParaRPr lang="en-US" sz="1400" dirty="0"/>
          </a:p>
        </p:txBody>
      </p:sp>
      <p:sp>
        <p:nvSpPr>
          <p:cNvPr id="23" name="Text 21"/>
          <p:cNvSpPr/>
          <p:nvPr/>
        </p:nvSpPr>
        <p:spPr>
          <a:xfrm>
            <a:off x="1389888" y="5358384"/>
            <a:ext cx="4800600" cy="457200"/>
          </a:xfrm>
          <a:prstGeom prst="rect">
            <a:avLst/>
          </a:prstGeom>
          <a:noFill/>
          <a:ln/>
        </p:spPr>
        <p:txBody>
          <a:bodyPr wrap="square" lIns="0" tIns="0" rIns="0" bIns="0" rtlCol="0" anchor="t"/>
          <a:lstStyle/>
          <a:p>
            <a:pPr indent="0" marL="0">
              <a:lnSpc>
                <a:spcPts val="1500"/>
              </a:lnSpc>
              <a:buNone/>
            </a:pPr>
            <a:r>
              <a:rPr lang="en-US" sz="1150" dirty="0">
                <a:solidFill>
                  <a:srgbClr val="334155"/>
                </a:solidFill>
                <a:latin typeface="Calibri" pitchFamily="34" charset="0"/>
                <a:ea typeface="Calibri" pitchFamily="34" charset="-122"/>
                <a:cs typeface="Calibri" pitchFamily="34" charset="-120"/>
              </a:rPr>
              <a:t>Only regions that lack it receive and vector-embed the intel; the source is excluded.</a:t>
            </a:r>
            <a:endParaRPr lang="en-US" sz="1150" dirty="0"/>
          </a:p>
        </p:txBody>
      </p:sp>
      <p:sp>
        <p:nvSpPr>
          <p:cNvPr id="24" name="Shape 22"/>
          <p:cNvSpPr/>
          <p:nvPr/>
        </p:nvSpPr>
        <p:spPr>
          <a:xfrm>
            <a:off x="6720840" y="1554480"/>
            <a:ext cx="4873752" cy="2331720"/>
          </a:xfrm>
          <a:prstGeom prst="roundRect">
            <a:avLst>
              <a:gd name="adj" fmla="val 3529"/>
            </a:avLst>
          </a:prstGeom>
          <a:solidFill>
            <a:srgbClr val="0E7490"/>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5" name="Text 23"/>
          <p:cNvSpPr/>
          <p:nvPr/>
        </p:nvSpPr>
        <p:spPr>
          <a:xfrm>
            <a:off x="6995160" y="1783080"/>
            <a:ext cx="429768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Privacy by construction</a:t>
            </a:r>
            <a:endParaRPr lang="en-US" sz="1500" dirty="0"/>
          </a:p>
        </p:txBody>
      </p:sp>
      <p:sp>
        <p:nvSpPr>
          <p:cNvPr id="26" name="Text 24"/>
          <p:cNvSpPr/>
          <p:nvPr/>
        </p:nvSpPr>
        <p:spPr>
          <a:xfrm>
            <a:off x="6995160" y="2194560"/>
            <a:ext cx="4343400" cy="1463040"/>
          </a:xfrm>
          <a:prstGeom prst="rect">
            <a:avLst/>
          </a:prstGeom>
          <a:noFill/>
          <a:ln/>
        </p:spPr>
        <p:txBody>
          <a:bodyPr wrap="square" lIns="0" tIns="0" rIns="0" bIns="0" rtlCol="0" anchor="t"/>
          <a:lstStyle/>
          <a:p>
            <a:pPr indent="0" marL="0">
              <a:lnSpc>
                <a:spcPts val="1700"/>
              </a:lnSpc>
              <a:buNone/>
            </a:pPr>
            <a:r>
              <a:rPr lang="en-US" sz="1200" dirty="0">
                <a:solidFill>
                  <a:srgbClr val="D6ECF2"/>
                </a:solidFill>
                <a:latin typeface="Calibri" pitchFamily="34" charset="0"/>
                <a:ea typeface="Calibri" pitchFamily="34" charset="-122"/>
                <a:cs typeface="Calibri" pitchFamily="34" charset="-120"/>
              </a:rPr>
              <a:t>No region ever writes into another region's database. Data minimisation strips operational identifiers before anything leaves a region, and every shared record keeps its provenance and an audit trail.</a:t>
            </a:r>
            <a:endParaRPr lang="en-US" sz="1200" dirty="0"/>
          </a:p>
        </p:txBody>
      </p:sp>
      <p:sp>
        <p:nvSpPr>
          <p:cNvPr id="27" name="Shape 25"/>
          <p:cNvSpPr/>
          <p:nvPr/>
        </p:nvSpPr>
        <p:spPr>
          <a:xfrm>
            <a:off x="6720840" y="4041648"/>
            <a:ext cx="4873752" cy="2286000"/>
          </a:xfrm>
          <a:prstGeom prst="roundRect">
            <a:avLst>
              <a:gd name="adj" fmla="val 3600"/>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8" name="Text 26"/>
          <p:cNvSpPr/>
          <p:nvPr/>
        </p:nvSpPr>
        <p:spPr>
          <a:xfrm>
            <a:off x="6995160" y="4224528"/>
            <a:ext cx="4297680" cy="292608"/>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Inter-region pre-arming</a:t>
            </a:r>
            <a:endParaRPr lang="en-US" sz="1500" dirty="0"/>
          </a:p>
        </p:txBody>
      </p:sp>
      <p:sp>
        <p:nvSpPr>
          <p:cNvPr id="29" name="Text 27"/>
          <p:cNvSpPr/>
          <p:nvPr/>
        </p:nvSpPr>
        <p:spPr>
          <a:xfrm>
            <a:off x="6995160" y="4590288"/>
            <a:ext cx="4343400" cy="155448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Because peers receive the intelligence before the threat reaches them, a pre-armed region can respond without repeating the full analysis loop — measured as a large reduction in preparation time over N = 10 bounded quarantine trials.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56032"/>
          </a:xfrm>
          <a:prstGeom prst="rect">
            <a:avLst/>
          </a:prstGeom>
          <a:noFill/>
          <a:ln/>
        </p:spPr>
        <p:txBody>
          <a:bodyPr wrap="square" lIns="0" tIns="0" rIns="0" bIns="0" rtlCol="0" anchor="ctr"/>
          <a:lstStyle/>
          <a:p>
            <a:pPr indent="0" marL="0">
              <a:buNone/>
            </a:pPr>
            <a:r>
              <a:rPr lang="en-US" sz="1150" b="1" spc="200" kern="0" dirty="0">
                <a:solidFill>
                  <a:srgbClr val="0E7490"/>
                </a:solidFill>
                <a:latin typeface="Calibri" pitchFamily="34" charset="0"/>
                <a:ea typeface="Calibri" pitchFamily="34" charset="-122"/>
                <a:cs typeface="Calibri" pitchFamily="34" charset="-120"/>
              </a:rPr>
              <a:t>CONTRIBUTION 5 · GUARDED AUTOMATED MITIGATION</a:t>
            </a:r>
            <a:endParaRPr lang="en-US" sz="1150" dirty="0"/>
          </a:p>
        </p:txBody>
      </p:sp>
      <p:sp>
        <p:nvSpPr>
          <p:cNvPr id="3" name="Text 1"/>
          <p:cNvSpPr/>
          <p:nvPr/>
        </p:nvSpPr>
        <p:spPr>
          <a:xfrm>
            <a:off x="566928" y="603504"/>
            <a:ext cx="11027664" cy="65836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A recommendation is not execution authority</a:t>
            </a:r>
            <a:endParaRPr lang="en-US" sz="3300" dirty="0"/>
          </a:p>
        </p:txBody>
      </p:sp>
      <p:sp>
        <p:nvSpPr>
          <p:cNvPr id="4" name="Text 2"/>
          <p:cNvSpPr/>
          <p:nvPr/>
        </p:nvSpPr>
        <p:spPr>
          <a:xfrm>
            <a:off x="566928" y="1371600"/>
            <a:ext cx="10881360" cy="548640"/>
          </a:xfrm>
          <a:prstGeom prst="rect">
            <a:avLst/>
          </a:prstGeom>
          <a:noFill/>
          <a:ln/>
        </p:spPr>
        <p:txBody>
          <a:bodyPr wrap="square" lIns="0" tIns="0" rIns="0" bIns="0" rtlCol="0" anchor="ctr"/>
          <a:lstStyle/>
          <a:p>
            <a:pPr indent="0" marL="0">
              <a:lnSpc>
                <a:spcPts val="2100"/>
              </a:lnSpc>
              <a:buNone/>
            </a:pPr>
            <a:r>
              <a:rPr lang="en-US" sz="1400" dirty="0">
                <a:solidFill>
                  <a:srgbClr val="334155"/>
                </a:solidFill>
                <a:latin typeface="Calibri" pitchFamily="34" charset="0"/>
                <a:ea typeface="Calibri" pitchFamily="34" charset="-122"/>
                <a:cs typeface="Calibri" pitchFamily="34" charset="-120"/>
              </a:rPr>
              <a:t>Generated advice never actuates the network directly. Every candidate passes deterministic gates before execution, and the controller verifies the effect and rolls back when verification fails.</a:t>
            </a:r>
            <a:endParaRPr lang="en-US" sz="1400" dirty="0"/>
          </a:p>
        </p:txBody>
      </p:sp>
      <p:sp>
        <p:nvSpPr>
          <p:cNvPr id="5" name="Shape 3"/>
          <p:cNvSpPr/>
          <p:nvPr/>
        </p:nvSpPr>
        <p:spPr>
          <a:xfrm>
            <a:off x="566928" y="2057400"/>
            <a:ext cx="2011680" cy="566928"/>
          </a:xfrm>
          <a:prstGeom prst="roundRect">
            <a:avLst>
              <a:gd name="adj" fmla="val 14516"/>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6" name="Text 4"/>
          <p:cNvSpPr/>
          <p:nvPr/>
        </p:nvSpPr>
        <p:spPr>
          <a:xfrm>
            <a:off x="566928" y="2057400"/>
            <a:ext cx="2011680" cy="566928"/>
          </a:xfrm>
          <a:prstGeom prst="rect">
            <a:avLst/>
          </a:prstGeom>
          <a:noFill/>
          <a:ln/>
        </p:spPr>
        <p:txBody>
          <a:bodyPr wrap="square" lIns="0" tIns="0" rIns="0" bIns="0" rtlCol="0" anchor="ctr"/>
          <a:lstStyle/>
          <a:p>
            <a:pPr algn="ctr" indent="0" marL="0">
              <a:buNone/>
            </a:pPr>
            <a:r>
              <a:rPr lang="en-US" sz="1250" b="1" dirty="0">
                <a:solidFill>
                  <a:srgbClr val="0F172A"/>
                </a:solidFill>
                <a:latin typeface="Courier New" pitchFamily="34" charset="0"/>
                <a:ea typeface="Courier New" pitchFamily="34" charset="-122"/>
                <a:cs typeface="Courier New" pitchFamily="34" charset="-120"/>
              </a:rPr>
              <a:t>pending</a:t>
            </a:r>
            <a:endParaRPr lang="en-US" sz="1250" dirty="0"/>
          </a:p>
        </p:txBody>
      </p:sp>
      <p:sp>
        <p:nvSpPr>
          <p:cNvPr id="7" name="Text 5"/>
          <p:cNvSpPr/>
          <p:nvPr/>
        </p:nvSpPr>
        <p:spPr>
          <a:xfrm>
            <a:off x="2578608" y="2084832"/>
            <a:ext cx="201168" cy="512064"/>
          </a:xfrm>
          <a:prstGeom prst="rect">
            <a:avLst/>
          </a:prstGeom>
          <a:noFill/>
          <a:ln/>
        </p:spPr>
        <p:txBody>
          <a:bodyPr wrap="square" lIns="0" tIns="0" rIns="0" bIns="0" rtlCol="0" anchor="ctr"/>
          <a:lstStyle/>
          <a:p>
            <a:pPr algn="ctr" indent="0" marL="0">
              <a:buNone/>
            </a:pPr>
            <a:r>
              <a:rPr lang="en-US" sz="2000" b="1" dirty="0">
                <a:solidFill>
                  <a:srgbClr val="D8E1EC"/>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779776" y="2057400"/>
            <a:ext cx="2011680" cy="566928"/>
          </a:xfrm>
          <a:prstGeom prst="roundRect">
            <a:avLst>
              <a:gd name="adj" fmla="val 14516"/>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9" name="Text 7"/>
          <p:cNvSpPr/>
          <p:nvPr/>
        </p:nvSpPr>
        <p:spPr>
          <a:xfrm>
            <a:off x="2779776" y="2057400"/>
            <a:ext cx="2011680" cy="566928"/>
          </a:xfrm>
          <a:prstGeom prst="rect">
            <a:avLst/>
          </a:prstGeom>
          <a:noFill/>
          <a:ln/>
        </p:spPr>
        <p:txBody>
          <a:bodyPr wrap="square" lIns="0" tIns="0" rIns="0" bIns="0" rtlCol="0" anchor="ctr"/>
          <a:lstStyle/>
          <a:p>
            <a:pPr algn="ctr" indent="0" marL="0">
              <a:buNone/>
            </a:pPr>
            <a:r>
              <a:rPr lang="en-US" sz="1250" b="1" dirty="0">
                <a:solidFill>
                  <a:srgbClr val="0F172A"/>
                </a:solidFill>
                <a:latin typeface="Courier New" pitchFamily="34" charset="0"/>
                <a:ea typeface="Courier New" pitchFamily="34" charset="-122"/>
                <a:cs typeface="Courier New" pitchFamily="34" charset="-120"/>
              </a:rPr>
              <a:t>approved</a:t>
            </a:r>
            <a:endParaRPr lang="en-US" sz="1250" dirty="0"/>
          </a:p>
        </p:txBody>
      </p:sp>
      <p:sp>
        <p:nvSpPr>
          <p:cNvPr id="10" name="Text 8"/>
          <p:cNvSpPr/>
          <p:nvPr/>
        </p:nvSpPr>
        <p:spPr>
          <a:xfrm>
            <a:off x="4791456" y="2084832"/>
            <a:ext cx="201168" cy="512064"/>
          </a:xfrm>
          <a:prstGeom prst="rect">
            <a:avLst/>
          </a:prstGeom>
          <a:noFill/>
          <a:ln/>
        </p:spPr>
        <p:txBody>
          <a:bodyPr wrap="square" lIns="0" tIns="0" rIns="0" bIns="0" rtlCol="0" anchor="ctr"/>
          <a:lstStyle/>
          <a:p>
            <a:pPr algn="ctr" indent="0" marL="0">
              <a:buNone/>
            </a:pPr>
            <a:r>
              <a:rPr lang="en-US" sz="2000" b="1" dirty="0">
                <a:solidFill>
                  <a:srgbClr val="D8E1EC"/>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4992624" y="2057400"/>
            <a:ext cx="2011680" cy="566928"/>
          </a:xfrm>
          <a:prstGeom prst="roundRect">
            <a:avLst>
              <a:gd name="adj" fmla="val 14516"/>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2" name="Text 10"/>
          <p:cNvSpPr/>
          <p:nvPr/>
        </p:nvSpPr>
        <p:spPr>
          <a:xfrm>
            <a:off x="4992624" y="2057400"/>
            <a:ext cx="2011680" cy="566928"/>
          </a:xfrm>
          <a:prstGeom prst="rect">
            <a:avLst/>
          </a:prstGeom>
          <a:noFill/>
          <a:ln/>
        </p:spPr>
        <p:txBody>
          <a:bodyPr wrap="square" lIns="0" tIns="0" rIns="0" bIns="0" rtlCol="0" anchor="ctr"/>
          <a:lstStyle/>
          <a:p>
            <a:pPr algn="ctr" indent="0" marL="0">
              <a:buNone/>
            </a:pPr>
            <a:r>
              <a:rPr lang="en-US" sz="1250" b="1" dirty="0">
                <a:solidFill>
                  <a:srgbClr val="0F172A"/>
                </a:solidFill>
                <a:latin typeface="Courier New" pitchFamily="34" charset="0"/>
                <a:ea typeface="Courier New" pitchFamily="34" charset="-122"/>
                <a:cs typeface="Courier New" pitchFamily="34" charset="-120"/>
              </a:rPr>
              <a:t>executing</a:t>
            </a:r>
            <a:endParaRPr lang="en-US" sz="1250" dirty="0"/>
          </a:p>
        </p:txBody>
      </p:sp>
      <p:sp>
        <p:nvSpPr>
          <p:cNvPr id="13" name="Text 11"/>
          <p:cNvSpPr/>
          <p:nvPr/>
        </p:nvSpPr>
        <p:spPr>
          <a:xfrm>
            <a:off x="7004304" y="2084832"/>
            <a:ext cx="201168" cy="512064"/>
          </a:xfrm>
          <a:prstGeom prst="rect">
            <a:avLst/>
          </a:prstGeom>
          <a:noFill/>
          <a:ln/>
        </p:spPr>
        <p:txBody>
          <a:bodyPr wrap="square" lIns="0" tIns="0" rIns="0" bIns="0" rtlCol="0" anchor="ctr"/>
          <a:lstStyle/>
          <a:p>
            <a:pPr algn="ctr" indent="0" marL="0">
              <a:buNone/>
            </a:pPr>
            <a:r>
              <a:rPr lang="en-US" sz="2000" b="1" dirty="0">
                <a:solidFill>
                  <a:srgbClr val="D8E1EC"/>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7205472" y="2057400"/>
            <a:ext cx="2011680" cy="566928"/>
          </a:xfrm>
          <a:prstGeom prst="roundRect">
            <a:avLst>
              <a:gd name="adj" fmla="val 14516"/>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5" name="Text 13"/>
          <p:cNvSpPr/>
          <p:nvPr/>
        </p:nvSpPr>
        <p:spPr>
          <a:xfrm>
            <a:off x="7205472" y="2057400"/>
            <a:ext cx="2011680" cy="566928"/>
          </a:xfrm>
          <a:prstGeom prst="rect">
            <a:avLst/>
          </a:prstGeom>
          <a:noFill/>
          <a:ln/>
        </p:spPr>
        <p:txBody>
          <a:bodyPr wrap="square" lIns="0" tIns="0" rIns="0" bIns="0" rtlCol="0" anchor="ctr"/>
          <a:lstStyle/>
          <a:p>
            <a:pPr algn="ctr" indent="0" marL="0">
              <a:buNone/>
            </a:pPr>
            <a:r>
              <a:rPr lang="en-US" sz="1250" b="1" dirty="0">
                <a:solidFill>
                  <a:srgbClr val="0F172A"/>
                </a:solidFill>
                <a:latin typeface="Courier New" pitchFamily="34" charset="0"/>
                <a:ea typeface="Courier New" pitchFamily="34" charset="-122"/>
                <a:cs typeface="Courier New" pitchFamily="34" charset="-120"/>
              </a:rPr>
              <a:t>executed</a:t>
            </a:r>
            <a:endParaRPr lang="en-US" sz="1250" dirty="0"/>
          </a:p>
        </p:txBody>
      </p:sp>
      <p:sp>
        <p:nvSpPr>
          <p:cNvPr id="16" name="Text 14"/>
          <p:cNvSpPr/>
          <p:nvPr/>
        </p:nvSpPr>
        <p:spPr>
          <a:xfrm>
            <a:off x="9217152" y="2084832"/>
            <a:ext cx="201168" cy="512064"/>
          </a:xfrm>
          <a:prstGeom prst="rect">
            <a:avLst/>
          </a:prstGeom>
          <a:noFill/>
          <a:ln/>
        </p:spPr>
        <p:txBody>
          <a:bodyPr wrap="square" lIns="0" tIns="0" rIns="0" bIns="0" rtlCol="0" anchor="ctr"/>
          <a:lstStyle/>
          <a:p>
            <a:pPr algn="ctr" indent="0" marL="0">
              <a:buNone/>
            </a:pPr>
            <a:r>
              <a:rPr lang="en-US" sz="2000" b="1" dirty="0">
                <a:solidFill>
                  <a:srgbClr val="D8E1EC"/>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9418320" y="2057400"/>
            <a:ext cx="2011680" cy="566928"/>
          </a:xfrm>
          <a:prstGeom prst="roundRect">
            <a:avLst>
              <a:gd name="adj" fmla="val 14516"/>
            </a:avLst>
          </a:prstGeom>
          <a:solidFill>
            <a:srgbClr val="16A34A"/>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8" name="Text 16"/>
          <p:cNvSpPr/>
          <p:nvPr/>
        </p:nvSpPr>
        <p:spPr>
          <a:xfrm>
            <a:off x="9418320" y="2057400"/>
            <a:ext cx="201168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verified</a:t>
            </a:r>
            <a:endParaRPr lang="en-US" sz="1250" dirty="0"/>
          </a:p>
        </p:txBody>
      </p:sp>
      <p:sp>
        <p:nvSpPr>
          <p:cNvPr id="19" name="Shape 17"/>
          <p:cNvSpPr/>
          <p:nvPr/>
        </p:nvSpPr>
        <p:spPr>
          <a:xfrm>
            <a:off x="566928" y="2880360"/>
            <a:ext cx="5239512" cy="1463040"/>
          </a:xfrm>
          <a:prstGeom prst="roundRect">
            <a:avLst>
              <a:gd name="adj" fmla="val 5625"/>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0" name="Text 18"/>
          <p:cNvSpPr/>
          <p:nvPr/>
        </p:nvSpPr>
        <p:spPr>
          <a:xfrm>
            <a:off x="841248" y="3044952"/>
            <a:ext cx="4663440"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Safety gates</a:t>
            </a:r>
            <a:endParaRPr lang="en-US" sz="1400" dirty="0"/>
          </a:p>
        </p:txBody>
      </p:sp>
      <p:sp>
        <p:nvSpPr>
          <p:cNvPr id="21" name="Text 19"/>
          <p:cNvSpPr/>
          <p:nvPr/>
        </p:nvSpPr>
        <p:spPr>
          <a:xfrm>
            <a:off x="841248" y="3392424"/>
            <a:ext cx="4709160" cy="841248"/>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Actuator type, severity, confidence, decision class, target eligibility and experiment context are all checked before anything runs.</a:t>
            </a:r>
            <a:endParaRPr lang="en-US" sz="1150" dirty="0"/>
          </a:p>
        </p:txBody>
      </p:sp>
      <p:sp>
        <p:nvSpPr>
          <p:cNvPr id="22" name="Shape 20"/>
          <p:cNvSpPr/>
          <p:nvPr/>
        </p:nvSpPr>
        <p:spPr>
          <a:xfrm>
            <a:off x="6355080" y="2880360"/>
            <a:ext cx="5239512" cy="1463040"/>
          </a:xfrm>
          <a:prstGeom prst="roundRect">
            <a:avLst>
              <a:gd name="adj" fmla="val 5625"/>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3" name="Text 21"/>
          <p:cNvSpPr/>
          <p:nvPr/>
        </p:nvSpPr>
        <p:spPr>
          <a:xfrm>
            <a:off x="6629400" y="3044952"/>
            <a:ext cx="4663440"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Protected targets</a:t>
            </a:r>
            <a:endParaRPr lang="en-US" sz="1400" dirty="0"/>
          </a:p>
        </p:txBody>
      </p:sp>
      <p:sp>
        <p:nvSpPr>
          <p:cNvPr id="24" name="Text 22"/>
          <p:cNvSpPr/>
          <p:nvPr/>
        </p:nvSpPr>
        <p:spPr>
          <a:xfrm>
            <a:off x="6629400" y="3392424"/>
            <a:ext cx="4709160" cy="841248"/>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Critical components are explicitly denied — added after an early broad policy accidentally quarantined an intelligence pod.</a:t>
            </a:r>
            <a:endParaRPr lang="en-US" sz="1150" dirty="0"/>
          </a:p>
        </p:txBody>
      </p:sp>
      <p:sp>
        <p:nvSpPr>
          <p:cNvPr id="25" name="Shape 23"/>
          <p:cNvSpPr/>
          <p:nvPr/>
        </p:nvSpPr>
        <p:spPr>
          <a:xfrm>
            <a:off x="566928" y="4507992"/>
            <a:ext cx="5239512" cy="1463040"/>
          </a:xfrm>
          <a:prstGeom prst="roundRect">
            <a:avLst>
              <a:gd name="adj" fmla="val 5625"/>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6" name="Text 24"/>
          <p:cNvSpPr/>
          <p:nvPr/>
        </p:nvSpPr>
        <p:spPr>
          <a:xfrm>
            <a:off x="841248" y="4672584"/>
            <a:ext cx="4663440"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Verification &amp; rollback</a:t>
            </a:r>
            <a:endParaRPr lang="en-US" sz="1400" dirty="0"/>
          </a:p>
        </p:txBody>
      </p:sp>
      <p:sp>
        <p:nvSpPr>
          <p:cNvPr id="27" name="Text 25"/>
          <p:cNvSpPr/>
          <p:nvPr/>
        </p:nvSpPr>
        <p:spPr>
          <a:xfrm>
            <a:off x="841248" y="5020056"/>
            <a:ext cx="4709160" cy="841248"/>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PromQL telemetry confirms the effect after a settle interval; failed checks trigger reversal. executed_unverified never counts as success.</a:t>
            </a:r>
            <a:endParaRPr lang="en-US" sz="1150" dirty="0"/>
          </a:p>
        </p:txBody>
      </p:sp>
      <p:sp>
        <p:nvSpPr>
          <p:cNvPr id="28" name="Shape 26"/>
          <p:cNvSpPr/>
          <p:nvPr/>
        </p:nvSpPr>
        <p:spPr>
          <a:xfrm>
            <a:off x="6355080" y="4507992"/>
            <a:ext cx="5239512" cy="1463040"/>
          </a:xfrm>
          <a:prstGeom prst="roundRect">
            <a:avLst>
              <a:gd name="adj" fmla="val 5625"/>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9" name="Text 27"/>
          <p:cNvSpPr/>
          <p:nvPr/>
        </p:nvSpPr>
        <p:spPr>
          <a:xfrm>
            <a:off x="6629400" y="4672584"/>
            <a:ext cx="4663440"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Operator authority</a:t>
            </a:r>
            <a:endParaRPr lang="en-US" sz="1400" dirty="0"/>
          </a:p>
        </p:txBody>
      </p:sp>
      <p:sp>
        <p:nvSpPr>
          <p:cNvPr id="30" name="Text 28"/>
          <p:cNvSpPr/>
          <p:nvPr/>
        </p:nvSpPr>
        <p:spPr>
          <a:xfrm>
            <a:off x="6629400" y="5020056"/>
            <a:ext cx="4709160" cy="841248"/>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A1 policy actions always remain operator-approved. Feedback and usefulness ratings feed back into regional knowledge.</a:t>
            </a:r>
            <a:endParaRPr lang="en-US" sz="1150" dirty="0"/>
          </a:p>
        </p:txBody>
      </p:sp>
      <p:sp>
        <p:nvSpPr>
          <p:cNvPr id="31" name="Text 29"/>
          <p:cNvSpPr/>
          <p:nvPr/>
        </p:nvSpPr>
        <p:spPr>
          <a:xfrm>
            <a:off x="566928" y="6144768"/>
            <a:ext cx="10972800" cy="32004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Actuators: Kubernetes quarantine  ·  credential rotation  ·  A1 policy  ·  guarded E2SM-RC candidate path</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56032"/>
          </a:xfrm>
          <a:prstGeom prst="rect">
            <a:avLst/>
          </a:prstGeom>
          <a:noFill/>
          <a:ln/>
        </p:spPr>
        <p:txBody>
          <a:bodyPr wrap="square" lIns="0" tIns="0" rIns="0" bIns="0" rtlCol="0" anchor="ctr"/>
          <a:lstStyle/>
          <a:p>
            <a:pPr indent="0" marL="0">
              <a:buNone/>
            </a:pPr>
            <a:r>
              <a:rPr lang="en-US" sz="1150" b="1" spc="200" kern="0" dirty="0">
                <a:solidFill>
                  <a:srgbClr val="0E7490"/>
                </a:solidFill>
                <a:latin typeface="Calibri" pitchFamily="34" charset="0"/>
                <a:ea typeface="Calibri" pitchFamily="34" charset="-122"/>
                <a:cs typeface="Calibri" pitchFamily="34" charset="-120"/>
              </a:rPr>
              <a:t>EVALUATION DESIGN</a:t>
            </a:r>
            <a:endParaRPr lang="en-US" sz="1150" dirty="0"/>
          </a:p>
        </p:txBody>
      </p:sp>
      <p:sp>
        <p:nvSpPr>
          <p:cNvPr id="3" name="Text 1"/>
          <p:cNvSpPr/>
          <p:nvPr/>
        </p:nvSpPr>
        <p:spPr>
          <a:xfrm>
            <a:off x="566928" y="603504"/>
            <a:ext cx="11027664" cy="65836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Measured against a frozen benchmark, not anecdotes</a:t>
            </a:r>
            <a:endParaRPr lang="en-US" sz="3300" dirty="0"/>
          </a:p>
        </p:txBody>
      </p:sp>
      <p:sp>
        <p:nvSpPr>
          <p:cNvPr id="4" name="Shape 2"/>
          <p:cNvSpPr/>
          <p:nvPr/>
        </p:nvSpPr>
        <p:spPr>
          <a:xfrm>
            <a:off x="566928" y="1554480"/>
            <a:ext cx="5394960" cy="2148840"/>
          </a:xfrm>
          <a:prstGeom prst="roundRect">
            <a:avLst>
              <a:gd name="adj" fmla="val 383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5" name="Text 3"/>
          <p:cNvSpPr/>
          <p:nvPr/>
        </p:nvSpPr>
        <p:spPr>
          <a:xfrm>
            <a:off x="841248" y="1737360"/>
            <a:ext cx="484632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The 750-event campaign</a:t>
            </a:r>
            <a:endParaRPr lang="en-US" sz="1500" dirty="0"/>
          </a:p>
        </p:txBody>
      </p:sp>
      <p:sp>
        <p:nvSpPr>
          <p:cNvPr id="6" name="Text 4"/>
          <p:cNvSpPr/>
          <p:nvPr/>
        </p:nvSpPr>
        <p:spPr>
          <a:xfrm>
            <a:off x="841248" y="2121408"/>
            <a:ext cx="4892040" cy="146304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A deterministic 150-slot schedule run over five days across two evaluated regions, spanning eight threat families — UE DoS and KPM anomalies, runtime shell, A1, F1 and E2 interface anomalies, xApp API abuse, pod shell and memory pressure.</a:t>
            </a:r>
            <a:endParaRPr lang="en-US" sz="1150" dirty="0"/>
          </a:p>
        </p:txBody>
      </p:sp>
      <p:sp>
        <p:nvSpPr>
          <p:cNvPr id="7" name="Shape 5"/>
          <p:cNvSpPr/>
          <p:nvPr/>
        </p:nvSpPr>
        <p:spPr>
          <a:xfrm>
            <a:off x="6263640" y="1554480"/>
            <a:ext cx="5330952" cy="2148840"/>
          </a:xfrm>
          <a:prstGeom prst="roundRect">
            <a:avLst>
              <a:gd name="adj" fmla="val 383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8" name="Text 6"/>
          <p:cNvSpPr/>
          <p:nvPr/>
        </p:nvSpPr>
        <p:spPr>
          <a:xfrm>
            <a:off x="6537960" y="1737360"/>
            <a:ext cx="475488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Frozen intelligence benchmark</a:t>
            </a:r>
            <a:endParaRPr lang="en-US" sz="1500" dirty="0"/>
          </a:p>
        </p:txBody>
      </p:sp>
      <p:sp>
        <p:nvSpPr>
          <p:cNvPr id="9" name="Text 7"/>
          <p:cNvSpPr/>
          <p:nvPr/>
        </p:nvSpPr>
        <p:spPr>
          <a:xfrm>
            <a:off x="6537960" y="2121408"/>
            <a:ext cx="4800600" cy="146304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A fixed, checksummed ground-truth case set evaluated read-only, so scores are comparable across sessions. It measures grounded retrieval recall, ranking, local-versus-global routing, severity accuracy and generation reliability.</a:t>
            </a:r>
            <a:endParaRPr lang="en-US" sz="1150" dirty="0"/>
          </a:p>
        </p:txBody>
      </p:sp>
      <p:sp>
        <p:nvSpPr>
          <p:cNvPr id="10" name="Shape 8"/>
          <p:cNvSpPr/>
          <p:nvPr/>
        </p:nvSpPr>
        <p:spPr>
          <a:xfrm>
            <a:off x="566928" y="3913632"/>
            <a:ext cx="11027664" cy="2377440"/>
          </a:xfrm>
          <a:prstGeom prst="roundRect">
            <a:avLst>
              <a:gd name="adj" fmla="val 3462"/>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1" name="Text 9"/>
          <p:cNvSpPr/>
          <p:nvPr/>
        </p:nvSpPr>
        <p:spPr>
          <a:xfrm>
            <a:off x="886968" y="4096512"/>
            <a:ext cx="548640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The declared composite score</a:t>
            </a:r>
            <a:endParaRPr lang="en-US" sz="1500" dirty="0"/>
          </a:p>
        </p:txBody>
      </p:sp>
      <p:sp>
        <p:nvSpPr>
          <p:cNvPr id="12" name="Text 10"/>
          <p:cNvSpPr/>
          <p:nvPr/>
        </p:nvSpPr>
        <p:spPr>
          <a:xfrm>
            <a:off x="886968" y="4526280"/>
            <a:ext cx="1051560" cy="548640"/>
          </a:xfrm>
          <a:prstGeom prst="rect">
            <a:avLst/>
          </a:prstGeom>
          <a:noFill/>
          <a:ln/>
        </p:spPr>
        <p:txBody>
          <a:bodyPr wrap="square" lIns="0" tIns="0" rIns="0" bIns="0" rtlCol="0" anchor="ctr"/>
          <a:lstStyle/>
          <a:p>
            <a:pPr indent="0" marL="0">
              <a:buNone/>
            </a:pPr>
            <a:r>
              <a:rPr lang="en-US" sz="3000" b="1" dirty="0">
                <a:solidFill>
                  <a:srgbClr val="0E7490"/>
                </a:solidFill>
                <a:latin typeface="Cambria" pitchFamily="34" charset="0"/>
                <a:ea typeface="Cambria" pitchFamily="34" charset="-122"/>
                <a:cs typeface="Cambria" pitchFamily="34" charset="-120"/>
              </a:rPr>
              <a:t>54%</a:t>
            </a:r>
            <a:endParaRPr lang="en-US" sz="3000" dirty="0"/>
          </a:p>
        </p:txBody>
      </p:sp>
      <p:sp>
        <p:nvSpPr>
          <p:cNvPr id="13" name="Text 11"/>
          <p:cNvSpPr/>
          <p:nvPr/>
        </p:nvSpPr>
        <p:spPr>
          <a:xfrm>
            <a:off x="1984248" y="4553712"/>
            <a:ext cx="228600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RAG intelligence</a:t>
            </a:r>
            <a:endParaRPr lang="en-US" sz="1250" dirty="0"/>
          </a:p>
        </p:txBody>
      </p:sp>
      <p:sp>
        <p:nvSpPr>
          <p:cNvPr id="14" name="Text 12"/>
          <p:cNvSpPr/>
          <p:nvPr/>
        </p:nvSpPr>
        <p:spPr>
          <a:xfrm>
            <a:off x="1984248" y="4828032"/>
            <a:ext cx="2331720" cy="566928"/>
          </a:xfrm>
          <a:prstGeom prst="rect">
            <a:avLst/>
          </a:prstGeom>
          <a:noFill/>
          <a:ln/>
        </p:spPr>
        <p:txBody>
          <a:bodyPr wrap="square" lIns="0" tIns="0" rIns="0" bIns="0" rtlCol="0" anchor="t"/>
          <a:lstStyle/>
          <a:p>
            <a:pPr indent="0" marL="0">
              <a:lnSpc>
                <a:spcPts val="1300"/>
              </a:lnSpc>
              <a:buNone/>
            </a:pPr>
            <a:r>
              <a:rPr lang="en-US" sz="1050" dirty="0">
                <a:solidFill>
                  <a:srgbClr val="64748B"/>
                </a:solidFill>
                <a:latin typeface="Calibri" pitchFamily="34" charset="0"/>
                <a:ea typeface="Calibri" pitchFamily="34" charset="-122"/>
                <a:cs typeface="Calibri" pitchFamily="34" charset="-120"/>
              </a:rPr>
              <a:t>retrieval, ranking, routing, severity, generation</a:t>
            </a:r>
            <a:endParaRPr lang="en-US" sz="1050" dirty="0"/>
          </a:p>
        </p:txBody>
      </p:sp>
      <p:sp>
        <p:nvSpPr>
          <p:cNvPr id="15" name="Text 13"/>
          <p:cNvSpPr/>
          <p:nvPr/>
        </p:nvSpPr>
        <p:spPr>
          <a:xfrm>
            <a:off x="4453128" y="4526280"/>
            <a:ext cx="1051560" cy="548640"/>
          </a:xfrm>
          <a:prstGeom prst="rect">
            <a:avLst/>
          </a:prstGeom>
          <a:noFill/>
          <a:ln/>
        </p:spPr>
        <p:txBody>
          <a:bodyPr wrap="square" lIns="0" tIns="0" rIns="0" bIns="0" rtlCol="0" anchor="ctr"/>
          <a:lstStyle/>
          <a:p>
            <a:pPr indent="0" marL="0">
              <a:buNone/>
            </a:pPr>
            <a:r>
              <a:rPr lang="en-US" sz="3000" b="1" dirty="0">
                <a:solidFill>
                  <a:srgbClr val="7C3AED"/>
                </a:solidFill>
                <a:latin typeface="Cambria" pitchFamily="34" charset="0"/>
                <a:ea typeface="Cambria" pitchFamily="34" charset="-122"/>
                <a:cs typeface="Cambria" pitchFamily="34" charset="-120"/>
              </a:rPr>
              <a:t>36%</a:t>
            </a:r>
            <a:endParaRPr lang="en-US" sz="3000" dirty="0"/>
          </a:p>
        </p:txBody>
      </p:sp>
      <p:sp>
        <p:nvSpPr>
          <p:cNvPr id="16" name="Text 14"/>
          <p:cNvSpPr/>
          <p:nvPr/>
        </p:nvSpPr>
        <p:spPr>
          <a:xfrm>
            <a:off x="5550408" y="4553712"/>
            <a:ext cx="228600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End-to-end detection</a:t>
            </a:r>
            <a:endParaRPr lang="en-US" sz="1250" dirty="0"/>
          </a:p>
        </p:txBody>
      </p:sp>
      <p:sp>
        <p:nvSpPr>
          <p:cNvPr id="17" name="Text 15"/>
          <p:cNvSpPr/>
          <p:nvPr/>
        </p:nvSpPr>
        <p:spPr>
          <a:xfrm>
            <a:off x="5550408" y="4828032"/>
            <a:ext cx="2331720" cy="566928"/>
          </a:xfrm>
          <a:prstGeom prst="rect">
            <a:avLst/>
          </a:prstGeom>
          <a:noFill/>
          <a:ln/>
        </p:spPr>
        <p:txBody>
          <a:bodyPr wrap="square" lIns="0" tIns="0" rIns="0" bIns="0" rtlCol="0" anchor="t"/>
          <a:lstStyle/>
          <a:p>
            <a:pPr indent="0" marL="0">
              <a:lnSpc>
                <a:spcPts val="1300"/>
              </a:lnSpc>
              <a:buNone/>
            </a:pPr>
            <a:r>
              <a:rPr lang="en-US" sz="1050" dirty="0">
                <a:solidFill>
                  <a:srgbClr val="64748B"/>
                </a:solidFill>
                <a:latin typeface="Calibri" pitchFamily="34" charset="0"/>
                <a:ea typeface="Calibri" pitchFamily="34" charset="-122"/>
                <a:cs typeface="Calibri" pitchFamily="34" charset="-120"/>
              </a:rPr>
              <a:t>persisted event capture and expected-rule accuracy</a:t>
            </a:r>
            <a:endParaRPr lang="en-US" sz="1050" dirty="0"/>
          </a:p>
        </p:txBody>
      </p:sp>
      <p:sp>
        <p:nvSpPr>
          <p:cNvPr id="18" name="Text 16"/>
          <p:cNvSpPr/>
          <p:nvPr/>
        </p:nvSpPr>
        <p:spPr>
          <a:xfrm>
            <a:off x="8019288" y="4526280"/>
            <a:ext cx="1051560" cy="548640"/>
          </a:xfrm>
          <a:prstGeom prst="rect">
            <a:avLst/>
          </a:prstGeom>
          <a:noFill/>
          <a:ln/>
        </p:spPr>
        <p:txBody>
          <a:bodyPr wrap="square" lIns="0" tIns="0" rIns="0" bIns="0" rtlCol="0" anchor="ctr"/>
          <a:lstStyle/>
          <a:p>
            <a:pPr indent="0" marL="0">
              <a:buNone/>
            </a:pPr>
            <a:r>
              <a:rPr lang="en-US" sz="3000" b="1" dirty="0">
                <a:solidFill>
                  <a:srgbClr val="16A34A"/>
                </a:solidFill>
                <a:latin typeface="Cambria" pitchFamily="34" charset="0"/>
                <a:ea typeface="Cambria" pitchFamily="34" charset="-122"/>
                <a:cs typeface="Cambria" pitchFamily="34" charset="-120"/>
              </a:rPr>
              <a:t>10%</a:t>
            </a:r>
            <a:endParaRPr lang="en-US" sz="3000" dirty="0"/>
          </a:p>
        </p:txBody>
      </p:sp>
      <p:sp>
        <p:nvSpPr>
          <p:cNvPr id="19" name="Text 17"/>
          <p:cNvSpPr/>
          <p:nvPr/>
        </p:nvSpPr>
        <p:spPr>
          <a:xfrm>
            <a:off x="9116568" y="4553712"/>
            <a:ext cx="228600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Mitigation response</a:t>
            </a:r>
            <a:endParaRPr lang="en-US" sz="1250" dirty="0"/>
          </a:p>
        </p:txBody>
      </p:sp>
      <p:sp>
        <p:nvSpPr>
          <p:cNvPr id="20" name="Text 18"/>
          <p:cNvSpPr/>
          <p:nvPr/>
        </p:nvSpPr>
        <p:spPr>
          <a:xfrm>
            <a:off x="9116568" y="4828032"/>
            <a:ext cx="2331720" cy="566928"/>
          </a:xfrm>
          <a:prstGeom prst="rect">
            <a:avLst/>
          </a:prstGeom>
          <a:noFill/>
          <a:ln/>
        </p:spPr>
        <p:txBody>
          <a:bodyPr wrap="square" lIns="0" tIns="0" rIns="0" bIns="0" rtlCol="0" anchor="t"/>
          <a:lstStyle/>
          <a:p>
            <a:pPr indent="0" marL="0">
              <a:lnSpc>
                <a:spcPts val="1300"/>
              </a:lnSpc>
              <a:buNone/>
            </a:pPr>
            <a:r>
              <a:rPr lang="en-US" sz="1050" dirty="0">
                <a:solidFill>
                  <a:srgbClr val="64748B"/>
                </a:solidFill>
                <a:latin typeface="Calibri" pitchFamily="34" charset="0"/>
                <a:ea typeface="Calibri" pitchFamily="34" charset="-122"/>
                <a:cs typeface="Calibri" pitchFamily="34" charset="-120"/>
              </a:rPr>
              <a:t>execution, verification, timeliness, cross-region gain</a:t>
            </a:r>
            <a:endParaRPr lang="en-US" sz="1050" dirty="0"/>
          </a:p>
        </p:txBody>
      </p:sp>
      <p:sp>
        <p:nvSpPr>
          <p:cNvPr id="21" name="Text 19"/>
          <p:cNvSpPr/>
          <p:nvPr/>
        </p:nvSpPr>
        <p:spPr>
          <a:xfrm>
            <a:off x="886968" y="5577840"/>
            <a:ext cx="10424160" cy="548640"/>
          </a:xfrm>
          <a:prstGeom prst="rect">
            <a:avLst/>
          </a:prstGeom>
          <a:noFill/>
          <a:ln/>
        </p:spPr>
        <p:txBody>
          <a:bodyPr wrap="square" lIns="0" tIns="0" rIns="0" bIns="0" rtlCol="0" anchor="t"/>
          <a:lstStyle/>
          <a:p>
            <a:pPr indent="0" marL="0">
              <a:lnSpc>
                <a:spcPts val="1500"/>
              </a:lnSpc>
              <a:buNone/>
            </a:pPr>
            <a:r>
              <a:rPr lang="en-US" sz="1150" i="1" dirty="0">
                <a:solidFill>
                  <a:srgbClr val="334155"/>
                </a:solidFill>
                <a:latin typeface="Calibri" pitchFamily="34" charset="0"/>
                <a:ea typeface="Calibri" pitchFamily="34" charset="-122"/>
                <a:cs typeface="Calibri" pitchFamily="34" charset="-120"/>
              </a:rPr>
              <a:t>Weights are pre-declared, never learned. Unmeasured components are omitted and the remainder renormalised — never scored as zero, and never imputed as success.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56032"/>
          </a:xfrm>
          <a:prstGeom prst="rect">
            <a:avLst/>
          </a:prstGeom>
          <a:noFill/>
          <a:ln/>
        </p:spPr>
        <p:txBody>
          <a:bodyPr wrap="square" lIns="0" tIns="0" rIns="0" bIns="0" rtlCol="0" anchor="ctr"/>
          <a:lstStyle/>
          <a:p>
            <a:pPr indent="0" marL="0">
              <a:buNone/>
            </a:pPr>
            <a:r>
              <a:rPr lang="en-US" sz="1150" b="1" spc="200" kern="0" dirty="0">
                <a:solidFill>
                  <a:srgbClr val="0E7490"/>
                </a:solidFill>
                <a:latin typeface="Calibri" pitchFamily="34" charset="0"/>
                <a:ea typeface="Calibri" pitchFamily="34" charset="-122"/>
                <a:cs typeface="Calibri" pitchFamily="34" charset="-120"/>
              </a:rPr>
              <a:t>RESULTS</a:t>
            </a:r>
            <a:endParaRPr lang="en-US" sz="1150" dirty="0"/>
          </a:p>
        </p:txBody>
      </p:sp>
      <p:sp>
        <p:nvSpPr>
          <p:cNvPr id="3" name="Text 1"/>
          <p:cNvSpPr/>
          <p:nvPr/>
        </p:nvSpPr>
        <p:spPr>
          <a:xfrm>
            <a:off x="566928" y="603504"/>
            <a:ext cx="11027664" cy="658368"/>
          </a:xfrm>
          <a:prstGeom prst="rect">
            <a:avLst/>
          </a:prstGeom>
          <a:noFill/>
          <a:ln/>
        </p:spPr>
        <p:txBody>
          <a:bodyPr wrap="square" lIns="0" tIns="0" rIns="0" bIns="0" rtlCol="0" anchor="ctr"/>
          <a:lstStyle/>
          <a:p>
            <a:pPr indent="0" marL="0">
              <a:buNone/>
            </a:pPr>
            <a:r>
              <a:rPr lang="en-US" sz="3300" b="1" dirty="0">
                <a:solidFill>
                  <a:srgbClr val="0F172A"/>
                </a:solidFill>
                <a:latin typeface="Cambria" pitchFamily="34" charset="0"/>
                <a:ea typeface="Cambria" pitchFamily="34" charset="-122"/>
                <a:cs typeface="Cambria" pitchFamily="34" charset="-120"/>
              </a:rPr>
              <a:t>Measured intelligence growth across nine sessions</a:t>
            </a:r>
            <a:endParaRPr lang="en-US" sz="3300" dirty="0"/>
          </a:p>
        </p:txBody>
      </p:sp>
      <p:graphicFrame>
        <p:nvGraphicFramePr>
          <p:cNvPr id="4" name="Chart 0" descr=""/>
          <p:cNvGraphicFramePr/>
          <p:nvPr/>
        </p:nvGraphicFramePr>
        <p:xfrm>
          <a:off x="566928" y="1481328"/>
          <a:ext cx="7086600" cy="37947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66928" y="5321808"/>
            <a:ext cx="7086600" cy="274320"/>
          </a:xfrm>
          <a:prstGeom prst="rect">
            <a:avLst/>
          </a:prstGeom>
          <a:noFill/>
          <a:ln/>
        </p:spPr>
        <p:txBody>
          <a:bodyPr wrap="square" lIns="0" tIns="0" rIns="0" bIns="0"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Nine complete measurement sessions, Region 1 (S1 = earliest)</a:t>
            </a:r>
            <a:endParaRPr lang="en-US" sz="1050" dirty="0"/>
          </a:p>
        </p:txBody>
      </p:sp>
      <p:sp>
        <p:nvSpPr>
          <p:cNvPr id="6" name="Shape 3"/>
          <p:cNvSpPr/>
          <p:nvPr/>
        </p:nvSpPr>
        <p:spPr>
          <a:xfrm>
            <a:off x="7909560" y="1481328"/>
            <a:ext cx="3685032" cy="1207008"/>
          </a:xfrm>
          <a:prstGeom prst="roundRect">
            <a:avLst>
              <a:gd name="adj" fmla="val 6818"/>
            </a:avLst>
          </a:prstGeom>
          <a:solidFill>
            <a:srgbClr val="0E7490"/>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7" name="Text 4"/>
          <p:cNvSpPr/>
          <p:nvPr/>
        </p:nvSpPr>
        <p:spPr>
          <a:xfrm>
            <a:off x="8092440" y="1645920"/>
            <a:ext cx="333756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30.6%  →  75.6%</a:t>
            </a:r>
            <a:endParaRPr lang="en-US" sz="2500" dirty="0"/>
          </a:p>
        </p:txBody>
      </p:sp>
      <p:sp>
        <p:nvSpPr>
          <p:cNvPr id="8" name="Text 5"/>
          <p:cNvSpPr/>
          <p:nvPr/>
        </p:nvSpPr>
        <p:spPr>
          <a:xfrm>
            <a:off x="8092440" y="2157984"/>
            <a:ext cx="3337560" cy="384048"/>
          </a:xfrm>
          <a:prstGeom prst="rect">
            <a:avLst/>
          </a:prstGeom>
          <a:noFill/>
          <a:ln/>
        </p:spPr>
        <p:txBody>
          <a:bodyPr wrap="square" lIns="0" tIns="0" rIns="0" bIns="0" rtlCol="0" anchor="ctr"/>
          <a:lstStyle/>
          <a:p>
            <a:pPr indent="0" marL="0">
              <a:buNone/>
            </a:pPr>
            <a:r>
              <a:rPr lang="en-US" sz="1150" dirty="0">
                <a:solidFill>
                  <a:srgbClr val="D6ECF2"/>
                </a:solidFill>
                <a:latin typeface="Calibri" pitchFamily="34" charset="0"/>
                <a:ea typeface="Calibri" pitchFamily="34" charset="-122"/>
                <a:cs typeface="Calibri" pitchFamily="34" charset="-120"/>
              </a:rPr>
              <a:t>overall closed-loop intelligence score</a:t>
            </a:r>
            <a:endParaRPr lang="en-US" sz="1150" dirty="0"/>
          </a:p>
        </p:txBody>
      </p:sp>
      <p:sp>
        <p:nvSpPr>
          <p:cNvPr id="9" name="Shape 6"/>
          <p:cNvSpPr/>
          <p:nvPr/>
        </p:nvSpPr>
        <p:spPr>
          <a:xfrm>
            <a:off x="7909560" y="2852928"/>
            <a:ext cx="3685032" cy="548640"/>
          </a:xfrm>
          <a:prstGeom prst="roundRect">
            <a:avLst>
              <a:gd name="adj" fmla="val 150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0" name="Text 7"/>
          <p:cNvSpPr/>
          <p:nvPr/>
        </p:nvSpPr>
        <p:spPr>
          <a:xfrm>
            <a:off x="8092440" y="2852928"/>
            <a:ext cx="1051560" cy="548640"/>
          </a:xfrm>
          <a:prstGeom prst="rect">
            <a:avLst/>
          </a:prstGeom>
          <a:noFill/>
          <a:ln/>
        </p:spPr>
        <p:txBody>
          <a:bodyPr wrap="square" lIns="0" tIns="0" rIns="0" bIns="0" rtlCol="0" anchor="ctr"/>
          <a:lstStyle/>
          <a:p>
            <a:pPr indent="0" marL="0">
              <a:buNone/>
            </a:pPr>
            <a:r>
              <a:rPr lang="en-US" sz="1700" b="1" dirty="0">
                <a:solidFill>
                  <a:srgbClr val="16A34A"/>
                </a:solidFill>
                <a:latin typeface="Cambria" pitchFamily="34" charset="0"/>
                <a:ea typeface="Cambria" pitchFamily="34" charset="-122"/>
                <a:cs typeface="Cambria" pitchFamily="34" charset="-120"/>
              </a:rPr>
              <a:t>100%</a:t>
            </a:r>
            <a:endParaRPr lang="en-US" sz="1700" dirty="0"/>
          </a:p>
        </p:txBody>
      </p:sp>
      <p:sp>
        <p:nvSpPr>
          <p:cNvPr id="11" name="Text 8"/>
          <p:cNvSpPr/>
          <p:nvPr/>
        </p:nvSpPr>
        <p:spPr>
          <a:xfrm>
            <a:off x="9144000" y="2852928"/>
            <a:ext cx="2286000" cy="5486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LLM generation reliability</a:t>
            </a:r>
            <a:endParaRPr lang="en-US" sz="1100" dirty="0"/>
          </a:p>
        </p:txBody>
      </p:sp>
      <p:sp>
        <p:nvSpPr>
          <p:cNvPr id="12" name="Shape 9"/>
          <p:cNvSpPr/>
          <p:nvPr/>
        </p:nvSpPr>
        <p:spPr>
          <a:xfrm>
            <a:off x="7909560" y="3493008"/>
            <a:ext cx="3685032" cy="548640"/>
          </a:xfrm>
          <a:prstGeom prst="roundRect">
            <a:avLst>
              <a:gd name="adj" fmla="val 150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3" name="Text 10"/>
          <p:cNvSpPr/>
          <p:nvPr/>
        </p:nvSpPr>
        <p:spPr>
          <a:xfrm>
            <a:off x="8092440" y="3493008"/>
            <a:ext cx="1051560" cy="548640"/>
          </a:xfrm>
          <a:prstGeom prst="rect">
            <a:avLst/>
          </a:prstGeom>
          <a:noFill/>
          <a:ln/>
        </p:spPr>
        <p:txBody>
          <a:bodyPr wrap="square" lIns="0" tIns="0" rIns="0" bIns="0" rtlCol="0" anchor="ctr"/>
          <a:lstStyle/>
          <a:p>
            <a:pPr indent="0" marL="0">
              <a:buNone/>
            </a:pPr>
            <a:r>
              <a:rPr lang="en-US" sz="1700" b="1" dirty="0">
                <a:solidFill>
                  <a:srgbClr val="16A34A"/>
                </a:solidFill>
                <a:latin typeface="Cambria" pitchFamily="34" charset="0"/>
                <a:ea typeface="Cambria" pitchFamily="34" charset="-122"/>
                <a:cs typeface="Cambria" pitchFamily="34" charset="-120"/>
              </a:rPr>
              <a:t>100%</a:t>
            </a:r>
            <a:endParaRPr lang="en-US" sz="1700" dirty="0"/>
          </a:p>
        </p:txBody>
      </p:sp>
      <p:sp>
        <p:nvSpPr>
          <p:cNvPr id="14" name="Text 11"/>
          <p:cNvSpPr/>
          <p:nvPr/>
        </p:nvSpPr>
        <p:spPr>
          <a:xfrm>
            <a:off x="9144000" y="3493008"/>
            <a:ext cx="2286000" cy="5486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End-to-end detector capture</a:t>
            </a:r>
            <a:endParaRPr lang="en-US" sz="1100" dirty="0"/>
          </a:p>
        </p:txBody>
      </p:sp>
      <p:sp>
        <p:nvSpPr>
          <p:cNvPr id="15" name="Shape 12"/>
          <p:cNvSpPr/>
          <p:nvPr/>
        </p:nvSpPr>
        <p:spPr>
          <a:xfrm>
            <a:off x="7909560" y="4133088"/>
            <a:ext cx="3685032" cy="548640"/>
          </a:xfrm>
          <a:prstGeom prst="roundRect">
            <a:avLst>
              <a:gd name="adj" fmla="val 150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6" name="Text 13"/>
          <p:cNvSpPr/>
          <p:nvPr/>
        </p:nvSpPr>
        <p:spPr>
          <a:xfrm>
            <a:off x="8092440" y="4133088"/>
            <a:ext cx="1051560" cy="548640"/>
          </a:xfrm>
          <a:prstGeom prst="rect">
            <a:avLst/>
          </a:prstGeom>
          <a:noFill/>
          <a:ln/>
        </p:spPr>
        <p:txBody>
          <a:bodyPr wrap="square" lIns="0" tIns="0" rIns="0" bIns="0" rtlCol="0" anchor="ctr"/>
          <a:lstStyle/>
          <a:p>
            <a:pPr indent="0" marL="0">
              <a:buNone/>
            </a:pPr>
            <a:r>
              <a:rPr lang="en-US" sz="1700" b="1" dirty="0">
                <a:solidFill>
                  <a:srgbClr val="D97706"/>
                </a:solidFill>
                <a:latin typeface="Cambria" pitchFamily="34" charset="0"/>
                <a:ea typeface="Cambria" pitchFamily="34" charset="-122"/>
                <a:cs typeface="Cambria" pitchFamily="34" charset="-120"/>
              </a:rPr>
              <a:t>71.4%</a:t>
            </a:r>
            <a:endParaRPr lang="en-US" sz="1700" dirty="0"/>
          </a:p>
        </p:txBody>
      </p:sp>
      <p:sp>
        <p:nvSpPr>
          <p:cNvPr id="17" name="Text 14"/>
          <p:cNvSpPr/>
          <p:nvPr/>
        </p:nvSpPr>
        <p:spPr>
          <a:xfrm>
            <a:off x="9144000" y="4133088"/>
            <a:ext cx="2286000" cy="5486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Severity accuracy</a:t>
            </a:r>
            <a:endParaRPr lang="en-US" sz="1100" dirty="0"/>
          </a:p>
        </p:txBody>
      </p:sp>
      <p:sp>
        <p:nvSpPr>
          <p:cNvPr id="18" name="Shape 15"/>
          <p:cNvSpPr/>
          <p:nvPr/>
        </p:nvSpPr>
        <p:spPr>
          <a:xfrm>
            <a:off x="7909560" y="4773168"/>
            <a:ext cx="3685032" cy="548640"/>
          </a:xfrm>
          <a:prstGeom prst="roundRect">
            <a:avLst>
              <a:gd name="adj" fmla="val 15000"/>
            </a:avLst>
          </a:prstGeom>
          <a:solidFill>
            <a:srgbClr val="FFFFFF"/>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19" name="Text 16"/>
          <p:cNvSpPr/>
          <p:nvPr/>
        </p:nvSpPr>
        <p:spPr>
          <a:xfrm>
            <a:off x="8092440" y="4773168"/>
            <a:ext cx="1051560" cy="548640"/>
          </a:xfrm>
          <a:prstGeom prst="rect">
            <a:avLst/>
          </a:prstGeom>
          <a:noFill/>
          <a:ln/>
        </p:spPr>
        <p:txBody>
          <a:bodyPr wrap="square" lIns="0" tIns="0" rIns="0" bIns="0" rtlCol="0" anchor="ctr"/>
          <a:lstStyle/>
          <a:p>
            <a:pPr indent="0" marL="0">
              <a:buNone/>
            </a:pPr>
            <a:r>
              <a:rPr lang="en-US" sz="1700" b="1" dirty="0">
                <a:solidFill>
                  <a:srgbClr val="7C3AED"/>
                </a:solidFill>
                <a:latin typeface="Cambria" pitchFamily="34" charset="0"/>
                <a:ea typeface="Cambria" pitchFamily="34" charset="-122"/>
                <a:cs typeface="Cambria" pitchFamily="34" charset="-120"/>
              </a:rPr>
              <a:t>54.2%</a:t>
            </a:r>
            <a:endParaRPr lang="en-US" sz="1700" dirty="0"/>
          </a:p>
        </p:txBody>
      </p:sp>
      <p:sp>
        <p:nvSpPr>
          <p:cNvPr id="20" name="Text 17"/>
          <p:cNvSpPr/>
          <p:nvPr/>
        </p:nvSpPr>
        <p:spPr>
          <a:xfrm>
            <a:off x="9144000" y="4773168"/>
            <a:ext cx="2286000" cy="5486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Grounded Recall@3</a:t>
            </a:r>
            <a:endParaRPr lang="en-US" sz="1100" dirty="0"/>
          </a:p>
        </p:txBody>
      </p:sp>
      <p:sp>
        <p:nvSpPr>
          <p:cNvPr id="21" name="Shape 18"/>
          <p:cNvSpPr/>
          <p:nvPr/>
        </p:nvSpPr>
        <p:spPr>
          <a:xfrm>
            <a:off x="7909560" y="5468112"/>
            <a:ext cx="3685032" cy="868680"/>
          </a:xfrm>
          <a:prstGeom prst="roundRect">
            <a:avLst>
              <a:gd name="adj" fmla="val 9474"/>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22" name="Text 19"/>
          <p:cNvSpPr/>
          <p:nvPr/>
        </p:nvSpPr>
        <p:spPr>
          <a:xfrm>
            <a:off x="8046720" y="5541264"/>
            <a:ext cx="3429000" cy="29260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Mean 64.4%  ·  SD 12.6 pp  ·  n = 9 sessions</a:t>
            </a:r>
            <a:endParaRPr lang="en-US" sz="1100" dirty="0"/>
          </a:p>
        </p:txBody>
      </p:sp>
      <p:sp>
        <p:nvSpPr>
          <p:cNvPr id="23" name="Text 20"/>
          <p:cNvSpPr/>
          <p:nvPr/>
        </p:nvSpPr>
        <p:spPr>
          <a:xfrm>
            <a:off x="8046720" y="5833872"/>
            <a:ext cx="3429000" cy="438912"/>
          </a:xfrm>
          <a:prstGeom prst="rect">
            <a:avLst/>
          </a:prstGeom>
          <a:noFill/>
          <a:ln/>
        </p:spPr>
        <p:txBody>
          <a:bodyPr wrap="square" lIns="0" tIns="0" rIns="0" bIns="0" rtlCol="0" anchor="t"/>
          <a:lstStyle/>
          <a:p>
            <a:pPr indent="0" marL="0">
              <a:lnSpc>
                <a:spcPts val="1300"/>
              </a:lnSpc>
              <a:buNone/>
            </a:pPr>
            <a:r>
              <a:rPr lang="en-US" sz="1000" dirty="0">
                <a:solidFill>
                  <a:srgbClr val="64748B"/>
                </a:solidFill>
                <a:latin typeface="Calibri" pitchFamily="34" charset="0"/>
                <a:ea typeface="Calibri" pitchFamily="34" charset="-122"/>
                <a:cs typeface="Calibri" pitchFamily="34" charset="-120"/>
              </a:rPr>
              <a:t>Retrieval grounding and routing remain the main improvement areas.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330"/>
        </a:solidFill>
      </p:bgPr>
    </p:bg>
    <p:spTree>
      <p:nvGrpSpPr>
        <p:cNvPr id="1" name=""/>
        <p:cNvGrpSpPr/>
        <p:nvPr/>
      </p:nvGrpSpPr>
      <p:grpSpPr>
        <a:xfrm>
          <a:off x="0" y="0"/>
          <a:ext cx="0" cy="0"/>
          <a:chOff x="0" y="0"/>
          <a:chExt cx="0" cy="0"/>
        </a:xfrm>
      </p:grpSpPr>
      <p:sp>
        <p:nvSpPr>
          <p:cNvPr id="2" name="Text 0"/>
          <p:cNvSpPr/>
          <p:nvPr/>
        </p:nvSpPr>
        <p:spPr>
          <a:xfrm>
            <a:off x="566928" y="329184"/>
            <a:ext cx="8229600" cy="256032"/>
          </a:xfrm>
          <a:prstGeom prst="rect">
            <a:avLst/>
          </a:prstGeom>
          <a:noFill/>
          <a:ln/>
        </p:spPr>
        <p:txBody>
          <a:bodyPr wrap="square" lIns="0" tIns="0" rIns="0" bIns="0"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BENCHMARK COMPARISON</a:t>
            </a:r>
            <a:endParaRPr lang="en-US" sz="1150" dirty="0"/>
          </a:p>
        </p:txBody>
      </p:sp>
      <p:sp>
        <p:nvSpPr>
          <p:cNvPr id="3" name="Text 1"/>
          <p:cNvSpPr/>
          <p:nvPr/>
        </p:nvSpPr>
        <p:spPr>
          <a:xfrm>
            <a:off x="566928" y="603504"/>
            <a:ext cx="11027664" cy="658368"/>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Head-to-head against OpenCTI 6.0+</a:t>
            </a:r>
            <a:endParaRPr lang="en-US" sz="3300" dirty="0"/>
          </a:p>
        </p:txBody>
      </p:sp>
      <p:sp>
        <p:nvSpPr>
          <p:cNvPr id="4" name="Text 2"/>
          <p:cNvSpPr/>
          <p:nvPr/>
        </p:nvSpPr>
        <p:spPr>
          <a:xfrm>
            <a:off x="566928" y="1371600"/>
            <a:ext cx="10881360" cy="548640"/>
          </a:xfrm>
          <a:prstGeom prst="rect">
            <a:avLst/>
          </a:prstGeom>
          <a:noFill/>
          <a:ln/>
        </p:spPr>
        <p:txBody>
          <a:bodyPr wrap="square" lIns="0" tIns="0" rIns="0" bIns="0" rtlCol="0" anchor="ctr"/>
          <a:lstStyle/>
          <a:p>
            <a:pPr indent="0" marL="0">
              <a:lnSpc>
                <a:spcPts val="2000"/>
              </a:lnSpc>
              <a:buNone/>
            </a:pPr>
            <a:r>
              <a:rPr lang="en-US" sz="1350" dirty="0">
                <a:solidFill>
                  <a:srgbClr val="A9BCDA"/>
                </a:solidFill>
                <a:latin typeface="Calibri" pitchFamily="34" charset="0"/>
                <a:ea typeface="Calibri" pitchFamily="34" charset="-122"/>
                <a:cs typeface="Calibri" pitchFamily="34" charset="-120"/>
              </a:rPr>
              <a:t>Six ground-truth 5G security scenarios executed concurrently against our Global-RAG platform and an isolated OpenCTI baseline — the leading open-source enterprise CTI platform.</a:t>
            </a:r>
            <a:endParaRPr lang="en-US" sz="1350" dirty="0"/>
          </a:p>
        </p:txBody>
      </p:sp>
      <p:sp>
        <p:nvSpPr>
          <p:cNvPr id="5" name="Shape 3"/>
          <p:cNvSpPr/>
          <p:nvPr/>
        </p:nvSpPr>
        <p:spPr>
          <a:xfrm>
            <a:off x="566928" y="2029968"/>
            <a:ext cx="11027664" cy="457200"/>
          </a:xfrm>
          <a:prstGeom prst="rect">
            <a:avLst/>
          </a:prstGeom>
          <a:solidFill>
            <a:srgbClr val="24365F"/>
          </a:solidFill>
          <a:ln w="12700">
            <a:solidFill>
              <a:srgbClr val="333333"/>
            </a:solidFill>
            <a:prstDash val="solid"/>
          </a:ln>
        </p:spPr>
      </p:sp>
      <p:sp>
        <p:nvSpPr>
          <p:cNvPr id="6" name="Text 4"/>
          <p:cNvSpPr/>
          <p:nvPr/>
        </p:nvSpPr>
        <p:spPr>
          <a:xfrm>
            <a:off x="731520" y="2029968"/>
            <a:ext cx="3401568" cy="45720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Evaluation metric</a:t>
            </a:r>
            <a:endParaRPr lang="en-US" sz="1200" dirty="0"/>
          </a:p>
        </p:txBody>
      </p:sp>
      <p:sp>
        <p:nvSpPr>
          <p:cNvPr id="7" name="Text 5"/>
          <p:cNvSpPr/>
          <p:nvPr/>
        </p:nvSpPr>
        <p:spPr>
          <a:xfrm>
            <a:off x="4133088" y="2029968"/>
            <a:ext cx="1783080" cy="457200"/>
          </a:xfrm>
          <a:prstGeom prst="rect">
            <a:avLst/>
          </a:prstGeom>
          <a:noFill/>
          <a:ln/>
        </p:spPr>
        <p:txBody>
          <a:bodyPr wrap="square" lIns="0" tIns="0" rIns="0" bIns="0" rtlCol="0" anchor="ctr"/>
          <a:lstStyle/>
          <a:p>
            <a:pPr algn="ctr" indent="0" marL="0">
              <a:buNone/>
            </a:pPr>
            <a:r>
              <a:rPr lang="en-US" sz="1200" b="1" dirty="0">
                <a:solidFill>
                  <a:srgbClr val="22D3EE"/>
                </a:solidFill>
                <a:latin typeface="Calibri" pitchFamily="34" charset="0"/>
                <a:ea typeface="Calibri" pitchFamily="34" charset="-122"/>
                <a:cs typeface="Calibri" pitchFamily="34" charset="-120"/>
              </a:rPr>
              <a:t>Our platform</a:t>
            </a:r>
            <a:endParaRPr lang="en-US" sz="1200" dirty="0"/>
          </a:p>
        </p:txBody>
      </p:sp>
      <p:sp>
        <p:nvSpPr>
          <p:cNvPr id="8" name="Text 6"/>
          <p:cNvSpPr/>
          <p:nvPr/>
        </p:nvSpPr>
        <p:spPr>
          <a:xfrm>
            <a:off x="5916168" y="2029968"/>
            <a:ext cx="1783080" cy="457200"/>
          </a:xfrm>
          <a:prstGeom prst="rect">
            <a:avLst/>
          </a:prstGeom>
          <a:noFill/>
          <a:ln/>
        </p:spPr>
        <p:txBody>
          <a:bodyPr wrap="square" lIns="0" tIns="0" rIns="0" bIns="0" rtlCol="0" anchor="ctr"/>
          <a:lstStyle/>
          <a:p>
            <a:pPr algn="ctr" indent="0" marL="0">
              <a:buNone/>
            </a:pPr>
            <a:r>
              <a:rPr lang="en-US" sz="1200" b="1" dirty="0">
                <a:solidFill>
                  <a:srgbClr val="A9BCDA"/>
                </a:solidFill>
                <a:latin typeface="Calibri" pitchFamily="34" charset="0"/>
                <a:ea typeface="Calibri" pitchFamily="34" charset="-122"/>
                <a:cs typeface="Calibri" pitchFamily="34" charset="-120"/>
              </a:rPr>
              <a:t>OpenCTI 6.0+</a:t>
            </a:r>
            <a:endParaRPr lang="en-US" sz="1200" dirty="0"/>
          </a:p>
        </p:txBody>
      </p:sp>
      <p:sp>
        <p:nvSpPr>
          <p:cNvPr id="9" name="Text 7"/>
          <p:cNvSpPr/>
          <p:nvPr/>
        </p:nvSpPr>
        <p:spPr>
          <a:xfrm>
            <a:off x="7863840" y="2029968"/>
            <a:ext cx="3730752" cy="45720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Observation</a:t>
            </a:r>
            <a:endParaRPr lang="en-US" sz="1200" dirty="0"/>
          </a:p>
        </p:txBody>
      </p:sp>
      <p:sp>
        <p:nvSpPr>
          <p:cNvPr id="10" name="Shape 8"/>
          <p:cNvSpPr/>
          <p:nvPr/>
        </p:nvSpPr>
        <p:spPr>
          <a:xfrm>
            <a:off x="566928" y="2487168"/>
            <a:ext cx="11027664" cy="429768"/>
          </a:xfrm>
          <a:prstGeom prst="rect">
            <a:avLst/>
          </a:prstGeom>
          <a:solidFill>
            <a:srgbClr val="16244A"/>
          </a:solidFill>
          <a:ln w="6350">
            <a:solidFill>
              <a:srgbClr val="2C3D6B"/>
            </a:solidFill>
            <a:prstDash val="solid"/>
          </a:ln>
        </p:spPr>
      </p:sp>
      <p:sp>
        <p:nvSpPr>
          <p:cNvPr id="11" name="Text 9"/>
          <p:cNvSpPr/>
          <p:nvPr/>
        </p:nvSpPr>
        <p:spPr>
          <a:xfrm>
            <a:off x="731520" y="2487168"/>
            <a:ext cx="3401568" cy="429768"/>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STIX precision (Recall@3)</a:t>
            </a:r>
            <a:endParaRPr lang="en-US" sz="1150" dirty="0"/>
          </a:p>
        </p:txBody>
      </p:sp>
      <p:sp>
        <p:nvSpPr>
          <p:cNvPr id="12" name="Text 10"/>
          <p:cNvSpPr/>
          <p:nvPr/>
        </p:nvSpPr>
        <p:spPr>
          <a:xfrm>
            <a:off x="4133088" y="2487168"/>
            <a:ext cx="1783080" cy="429768"/>
          </a:xfrm>
          <a:prstGeom prst="rect">
            <a:avLst/>
          </a:prstGeom>
          <a:noFill/>
          <a:ln/>
        </p:spPr>
        <p:txBody>
          <a:bodyPr wrap="square" lIns="0" tIns="0" rIns="0" bIns="0" rtlCol="0" anchor="ctr"/>
          <a:lstStyle/>
          <a:p>
            <a:pPr algn="ctr" indent="0" marL="0">
              <a:buNone/>
            </a:pPr>
            <a:r>
              <a:rPr lang="en-US" sz="1150" b="1" dirty="0">
                <a:solidFill>
                  <a:srgbClr val="4ADE80"/>
                </a:solidFill>
                <a:latin typeface="Calibri" pitchFamily="34" charset="0"/>
                <a:ea typeface="Calibri" pitchFamily="34" charset="-122"/>
                <a:cs typeface="Calibri" pitchFamily="34" charset="-120"/>
              </a:rPr>
              <a:t>100.0%</a:t>
            </a:r>
            <a:endParaRPr lang="en-US" sz="1150" dirty="0"/>
          </a:p>
        </p:txBody>
      </p:sp>
      <p:sp>
        <p:nvSpPr>
          <p:cNvPr id="13" name="Text 11"/>
          <p:cNvSpPr/>
          <p:nvPr/>
        </p:nvSpPr>
        <p:spPr>
          <a:xfrm>
            <a:off x="5916168" y="2487168"/>
            <a:ext cx="1783080" cy="429768"/>
          </a:xfrm>
          <a:prstGeom prst="rect">
            <a:avLst/>
          </a:prstGeom>
          <a:noFill/>
          <a:ln/>
        </p:spPr>
        <p:txBody>
          <a:bodyPr wrap="square" lIns="0" tIns="0" rIns="0" bIns="0" rtlCol="0" anchor="ctr"/>
          <a:lstStyle/>
          <a:p>
            <a:pPr algn="ctr" indent="0" marL="0">
              <a:buNone/>
            </a:pPr>
            <a:r>
              <a:rPr lang="en-US" sz="1150" b="1" dirty="0">
                <a:solidFill>
                  <a:srgbClr val="FB7185"/>
                </a:solidFill>
                <a:latin typeface="Calibri" pitchFamily="34" charset="0"/>
                <a:ea typeface="Calibri" pitchFamily="34" charset="-122"/>
                <a:cs typeface="Calibri" pitchFamily="34" charset="-120"/>
              </a:rPr>
              <a:t>0.0%</a:t>
            </a:r>
            <a:endParaRPr lang="en-US" sz="1150" dirty="0"/>
          </a:p>
        </p:txBody>
      </p:sp>
      <p:sp>
        <p:nvSpPr>
          <p:cNvPr id="14" name="Text 12"/>
          <p:cNvSpPr/>
          <p:nvPr/>
        </p:nvSpPr>
        <p:spPr>
          <a:xfrm>
            <a:off x="7863840" y="2487168"/>
            <a:ext cx="3730752" cy="429768"/>
          </a:xfrm>
          <a:prstGeom prst="rect">
            <a:avLst/>
          </a:prstGeom>
          <a:noFill/>
          <a:ln/>
        </p:spPr>
        <p:txBody>
          <a:bodyPr wrap="square" lIns="0" tIns="0" rIns="0" bIns="0" rtlCol="0" anchor="ctr"/>
          <a:lstStyle/>
          <a:p>
            <a:pPr algn="l" indent="0" marL="0">
              <a:buNone/>
            </a:pPr>
            <a:r>
              <a:rPr lang="en-US" sz="1150" dirty="0">
                <a:solidFill>
                  <a:srgbClr val="A9BCDA"/>
                </a:solidFill>
                <a:latin typeface="Calibri" pitchFamily="34" charset="0"/>
                <a:ea typeface="Calibri" pitchFamily="34" charset="-122"/>
                <a:cs typeface="Calibri" pitchFamily="34" charset="-120"/>
              </a:rPr>
              <a:t>Complete 5G retrieval superiority</a:t>
            </a:r>
            <a:endParaRPr lang="en-US" sz="1150" dirty="0"/>
          </a:p>
        </p:txBody>
      </p:sp>
      <p:sp>
        <p:nvSpPr>
          <p:cNvPr id="15" name="Shape 13"/>
          <p:cNvSpPr/>
          <p:nvPr/>
        </p:nvSpPr>
        <p:spPr>
          <a:xfrm>
            <a:off x="566928" y="2916936"/>
            <a:ext cx="11027664" cy="429768"/>
          </a:xfrm>
          <a:prstGeom prst="rect">
            <a:avLst/>
          </a:prstGeom>
          <a:solidFill>
            <a:srgbClr val="1B2A55"/>
          </a:solidFill>
          <a:ln w="6350">
            <a:solidFill>
              <a:srgbClr val="2C3D6B"/>
            </a:solidFill>
            <a:prstDash val="solid"/>
          </a:ln>
        </p:spPr>
      </p:sp>
      <p:sp>
        <p:nvSpPr>
          <p:cNvPr id="16" name="Text 14"/>
          <p:cNvSpPr/>
          <p:nvPr/>
        </p:nvSpPr>
        <p:spPr>
          <a:xfrm>
            <a:off x="731520" y="2916936"/>
            <a:ext cx="3401568" cy="429768"/>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STIX taxonomy alignment</a:t>
            </a:r>
            <a:endParaRPr lang="en-US" sz="1150" dirty="0"/>
          </a:p>
        </p:txBody>
      </p:sp>
      <p:sp>
        <p:nvSpPr>
          <p:cNvPr id="17" name="Text 15"/>
          <p:cNvSpPr/>
          <p:nvPr/>
        </p:nvSpPr>
        <p:spPr>
          <a:xfrm>
            <a:off x="4133088" y="2916936"/>
            <a:ext cx="1783080" cy="429768"/>
          </a:xfrm>
          <a:prstGeom prst="rect">
            <a:avLst/>
          </a:prstGeom>
          <a:noFill/>
          <a:ln/>
        </p:spPr>
        <p:txBody>
          <a:bodyPr wrap="square" lIns="0" tIns="0" rIns="0" bIns="0" rtlCol="0" anchor="ctr"/>
          <a:lstStyle/>
          <a:p>
            <a:pPr algn="ctr" indent="0" marL="0">
              <a:buNone/>
            </a:pPr>
            <a:r>
              <a:rPr lang="en-US" sz="1150" b="1" dirty="0">
                <a:solidFill>
                  <a:srgbClr val="4ADE80"/>
                </a:solidFill>
                <a:latin typeface="Calibri" pitchFamily="34" charset="0"/>
                <a:ea typeface="Calibri" pitchFamily="34" charset="-122"/>
                <a:cs typeface="Calibri" pitchFamily="34" charset="-120"/>
              </a:rPr>
              <a:t>100.0%</a:t>
            </a:r>
            <a:endParaRPr lang="en-US" sz="1150" dirty="0"/>
          </a:p>
        </p:txBody>
      </p:sp>
      <p:sp>
        <p:nvSpPr>
          <p:cNvPr id="18" name="Text 16"/>
          <p:cNvSpPr/>
          <p:nvPr/>
        </p:nvSpPr>
        <p:spPr>
          <a:xfrm>
            <a:off x="5916168" y="2916936"/>
            <a:ext cx="1783080" cy="429768"/>
          </a:xfrm>
          <a:prstGeom prst="rect">
            <a:avLst/>
          </a:prstGeom>
          <a:noFill/>
          <a:ln/>
        </p:spPr>
        <p:txBody>
          <a:bodyPr wrap="square" lIns="0" tIns="0" rIns="0" bIns="0" rtlCol="0" anchor="ctr"/>
          <a:lstStyle/>
          <a:p>
            <a:pPr algn="ctr" indent="0" marL="0">
              <a:buNone/>
            </a:pPr>
            <a:r>
              <a:rPr lang="en-US" sz="1150" b="1" dirty="0">
                <a:solidFill>
                  <a:srgbClr val="FB7185"/>
                </a:solidFill>
                <a:latin typeface="Calibri" pitchFamily="34" charset="0"/>
                <a:ea typeface="Calibri" pitchFamily="34" charset="-122"/>
                <a:cs typeface="Calibri" pitchFamily="34" charset="-120"/>
              </a:rPr>
              <a:t>33.3%</a:t>
            </a:r>
            <a:endParaRPr lang="en-US" sz="1150" dirty="0"/>
          </a:p>
        </p:txBody>
      </p:sp>
      <p:sp>
        <p:nvSpPr>
          <p:cNvPr id="19" name="Text 17"/>
          <p:cNvSpPr/>
          <p:nvPr/>
        </p:nvSpPr>
        <p:spPr>
          <a:xfrm>
            <a:off x="7863840" y="2916936"/>
            <a:ext cx="3730752" cy="429768"/>
          </a:xfrm>
          <a:prstGeom prst="rect">
            <a:avLst/>
          </a:prstGeom>
          <a:noFill/>
          <a:ln/>
        </p:spPr>
        <p:txBody>
          <a:bodyPr wrap="square" lIns="0" tIns="0" rIns="0" bIns="0" rtlCol="0" anchor="ctr"/>
          <a:lstStyle/>
          <a:p>
            <a:pPr algn="l" indent="0" marL="0">
              <a:buNone/>
            </a:pPr>
            <a:r>
              <a:rPr lang="en-US" sz="1150" dirty="0">
                <a:solidFill>
                  <a:srgbClr val="A9BCDA"/>
                </a:solidFill>
                <a:latin typeface="Calibri" pitchFamily="34" charset="0"/>
                <a:ea typeface="Calibri" pitchFamily="34" charset="-122"/>
                <a:cs typeface="Calibri" pitchFamily="34" charset="-120"/>
              </a:rPr>
              <a:t>Native MITRE FiGHT 5G encoding</a:t>
            </a:r>
            <a:endParaRPr lang="en-US" sz="1150" dirty="0"/>
          </a:p>
        </p:txBody>
      </p:sp>
      <p:sp>
        <p:nvSpPr>
          <p:cNvPr id="20" name="Shape 18"/>
          <p:cNvSpPr/>
          <p:nvPr/>
        </p:nvSpPr>
        <p:spPr>
          <a:xfrm>
            <a:off x="566928" y="3346704"/>
            <a:ext cx="11027664" cy="429768"/>
          </a:xfrm>
          <a:prstGeom prst="rect">
            <a:avLst/>
          </a:prstGeom>
          <a:solidFill>
            <a:srgbClr val="16244A"/>
          </a:solidFill>
          <a:ln w="6350">
            <a:solidFill>
              <a:srgbClr val="2C3D6B"/>
            </a:solidFill>
            <a:prstDash val="solid"/>
          </a:ln>
        </p:spPr>
      </p:sp>
      <p:sp>
        <p:nvSpPr>
          <p:cNvPr id="21" name="Text 19"/>
          <p:cNvSpPr/>
          <p:nvPr/>
        </p:nvSpPr>
        <p:spPr>
          <a:xfrm>
            <a:off x="731520" y="3346704"/>
            <a:ext cx="3401568" cy="429768"/>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End-to-end detection</a:t>
            </a:r>
            <a:endParaRPr lang="en-US" sz="1150" dirty="0"/>
          </a:p>
        </p:txBody>
      </p:sp>
      <p:sp>
        <p:nvSpPr>
          <p:cNvPr id="22" name="Text 20"/>
          <p:cNvSpPr/>
          <p:nvPr/>
        </p:nvSpPr>
        <p:spPr>
          <a:xfrm>
            <a:off x="4133088" y="3346704"/>
            <a:ext cx="1783080" cy="429768"/>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100.0%</a:t>
            </a:r>
            <a:endParaRPr lang="en-US" sz="1150" dirty="0"/>
          </a:p>
        </p:txBody>
      </p:sp>
      <p:sp>
        <p:nvSpPr>
          <p:cNvPr id="23" name="Text 21"/>
          <p:cNvSpPr/>
          <p:nvPr/>
        </p:nvSpPr>
        <p:spPr>
          <a:xfrm>
            <a:off x="5916168" y="3346704"/>
            <a:ext cx="1783080" cy="429768"/>
          </a:xfrm>
          <a:prstGeom prst="rect">
            <a:avLst/>
          </a:prstGeom>
          <a:noFill/>
          <a:ln/>
        </p:spPr>
        <p:txBody>
          <a:bodyPr wrap="square" lIns="0" tIns="0" rIns="0" bIns="0" rtlCol="0" anchor="ctr"/>
          <a:lstStyle/>
          <a:p>
            <a:pPr algn="ctr" indent="0" marL="0">
              <a:buNone/>
            </a:pPr>
            <a:r>
              <a:rPr lang="en-US" sz="1150" dirty="0">
                <a:solidFill>
                  <a:srgbClr val="A9BCDA"/>
                </a:solidFill>
                <a:latin typeface="Calibri" pitchFamily="34" charset="0"/>
                <a:ea typeface="Calibri" pitchFamily="34" charset="-122"/>
                <a:cs typeface="Calibri" pitchFamily="34" charset="-120"/>
              </a:rPr>
              <a:t>100.0%</a:t>
            </a:r>
            <a:endParaRPr lang="en-US" sz="1150" dirty="0"/>
          </a:p>
        </p:txBody>
      </p:sp>
      <p:sp>
        <p:nvSpPr>
          <p:cNvPr id="24" name="Text 22"/>
          <p:cNvSpPr/>
          <p:nvPr/>
        </p:nvSpPr>
        <p:spPr>
          <a:xfrm>
            <a:off x="7863840" y="3346704"/>
            <a:ext cx="3730752" cy="429768"/>
          </a:xfrm>
          <a:prstGeom prst="rect">
            <a:avLst/>
          </a:prstGeom>
          <a:noFill/>
          <a:ln/>
        </p:spPr>
        <p:txBody>
          <a:bodyPr wrap="square" lIns="0" tIns="0" rIns="0" bIns="0" rtlCol="0" anchor="ctr"/>
          <a:lstStyle/>
          <a:p>
            <a:pPr algn="l" indent="0" marL="0">
              <a:buNone/>
            </a:pPr>
            <a:r>
              <a:rPr lang="en-US" sz="1150" dirty="0">
                <a:solidFill>
                  <a:srgbClr val="A9BCDA"/>
                </a:solidFill>
                <a:latin typeface="Calibri" pitchFamily="34" charset="0"/>
                <a:ea typeface="Calibri" pitchFamily="34" charset="-122"/>
                <a:cs typeface="Calibri" pitchFamily="34" charset="-120"/>
              </a:rPr>
              <a:t>Equal event capture</a:t>
            </a:r>
            <a:endParaRPr lang="en-US" sz="1150" dirty="0"/>
          </a:p>
        </p:txBody>
      </p:sp>
      <p:sp>
        <p:nvSpPr>
          <p:cNvPr id="25" name="Shape 23"/>
          <p:cNvSpPr/>
          <p:nvPr/>
        </p:nvSpPr>
        <p:spPr>
          <a:xfrm>
            <a:off x="566928" y="3776472"/>
            <a:ext cx="11027664" cy="429768"/>
          </a:xfrm>
          <a:prstGeom prst="rect">
            <a:avLst/>
          </a:prstGeom>
          <a:solidFill>
            <a:srgbClr val="1B2A55"/>
          </a:solidFill>
          <a:ln w="6350">
            <a:solidFill>
              <a:srgbClr val="2C3D6B"/>
            </a:solidFill>
            <a:prstDash val="solid"/>
          </a:ln>
        </p:spPr>
      </p:sp>
      <p:sp>
        <p:nvSpPr>
          <p:cNvPr id="26" name="Text 24"/>
          <p:cNvSpPr/>
          <p:nvPr/>
        </p:nvSpPr>
        <p:spPr>
          <a:xfrm>
            <a:off x="731520" y="3776472"/>
            <a:ext cx="3401568" cy="429768"/>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Platform stability</a:t>
            </a:r>
            <a:endParaRPr lang="en-US" sz="1150" dirty="0"/>
          </a:p>
        </p:txBody>
      </p:sp>
      <p:sp>
        <p:nvSpPr>
          <p:cNvPr id="27" name="Text 25"/>
          <p:cNvSpPr/>
          <p:nvPr/>
        </p:nvSpPr>
        <p:spPr>
          <a:xfrm>
            <a:off x="4133088" y="3776472"/>
            <a:ext cx="1783080" cy="429768"/>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100.0%</a:t>
            </a:r>
            <a:endParaRPr lang="en-US" sz="1150" dirty="0"/>
          </a:p>
        </p:txBody>
      </p:sp>
      <p:sp>
        <p:nvSpPr>
          <p:cNvPr id="28" name="Text 26"/>
          <p:cNvSpPr/>
          <p:nvPr/>
        </p:nvSpPr>
        <p:spPr>
          <a:xfrm>
            <a:off x="5916168" y="3776472"/>
            <a:ext cx="1783080" cy="429768"/>
          </a:xfrm>
          <a:prstGeom prst="rect">
            <a:avLst/>
          </a:prstGeom>
          <a:noFill/>
          <a:ln/>
        </p:spPr>
        <p:txBody>
          <a:bodyPr wrap="square" lIns="0" tIns="0" rIns="0" bIns="0" rtlCol="0" anchor="ctr"/>
          <a:lstStyle/>
          <a:p>
            <a:pPr algn="ctr" indent="0" marL="0">
              <a:buNone/>
            </a:pPr>
            <a:r>
              <a:rPr lang="en-US" sz="1150" dirty="0">
                <a:solidFill>
                  <a:srgbClr val="A9BCDA"/>
                </a:solidFill>
                <a:latin typeface="Calibri" pitchFamily="34" charset="0"/>
                <a:ea typeface="Calibri" pitchFamily="34" charset="-122"/>
                <a:cs typeface="Calibri" pitchFamily="34" charset="-120"/>
              </a:rPr>
              <a:t>100.0%</a:t>
            </a:r>
            <a:endParaRPr lang="en-US" sz="1150" dirty="0"/>
          </a:p>
        </p:txBody>
      </p:sp>
      <p:sp>
        <p:nvSpPr>
          <p:cNvPr id="29" name="Text 27"/>
          <p:cNvSpPr/>
          <p:nvPr/>
        </p:nvSpPr>
        <p:spPr>
          <a:xfrm>
            <a:off x="7863840" y="3776472"/>
            <a:ext cx="3730752" cy="429768"/>
          </a:xfrm>
          <a:prstGeom prst="rect">
            <a:avLst/>
          </a:prstGeom>
          <a:noFill/>
          <a:ln/>
        </p:spPr>
        <p:txBody>
          <a:bodyPr wrap="square" lIns="0" tIns="0" rIns="0" bIns="0" rtlCol="0" anchor="ctr"/>
          <a:lstStyle/>
          <a:p>
            <a:pPr algn="l" indent="0" marL="0">
              <a:buNone/>
            </a:pPr>
            <a:r>
              <a:rPr lang="en-US" sz="1150" dirty="0">
                <a:solidFill>
                  <a:srgbClr val="A9BCDA"/>
                </a:solidFill>
                <a:latin typeface="Calibri" pitchFamily="34" charset="0"/>
                <a:ea typeface="Calibri" pitchFamily="34" charset="-122"/>
                <a:cs typeface="Calibri" pitchFamily="34" charset="-120"/>
              </a:rPr>
              <a:t>Equal high availability</a:t>
            </a:r>
            <a:endParaRPr lang="en-US" sz="1150" dirty="0"/>
          </a:p>
        </p:txBody>
      </p:sp>
      <p:sp>
        <p:nvSpPr>
          <p:cNvPr id="30" name="Shape 28"/>
          <p:cNvSpPr/>
          <p:nvPr/>
        </p:nvSpPr>
        <p:spPr>
          <a:xfrm>
            <a:off x="566928" y="4206240"/>
            <a:ext cx="11027664" cy="429768"/>
          </a:xfrm>
          <a:prstGeom prst="rect">
            <a:avLst/>
          </a:prstGeom>
          <a:solidFill>
            <a:srgbClr val="16244A"/>
          </a:solidFill>
          <a:ln w="6350">
            <a:solidFill>
              <a:srgbClr val="2C3D6B"/>
            </a:solidFill>
            <a:prstDash val="solid"/>
          </a:ln>
        </p:spPr>
      </p:sp>
      <p:sp>
        <p:nvSpPr>
          <p:cNvPr id="31" name="Text 29"/>
          <p:cNvSpPr/>
          <p:nvPr/>
        </p:nvSpPr>
        <p:spPr>
          <a:xfrm>
            <a:off x="731520" y="4206240"/>
            <a:ext cx="3401568" cy="429768"/>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STIX confidence validation</a:t>
            </a:r>
            <a:endParaRPr lang="en-US" sz="1150" dirty="0"/>
          </a:p>
        </p:txBody>
      </p:sp>
      <p:sp>
        <p:nvSpPr>
          <p:cNvPr id="32" name="Text 30"/>
          <p:cNvSpPr/>
          <p:nvPr/>
        </p:nvSpPr>
        <p:spPr>
          <a:xfrm>
            <a:off x="4133088" y="4206240"/>
            <a:ext cx="1783080" cy="429768"/>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90.0%</a:t>
            </a:r>
            <a:endParaRPr lang="en-US" sz="1150" dirty="0"/>
          </a:p>
        </p:txBody>
      </p:sp>
      <p:sp>
        <p:nvSpPr>
          <p:cNvPr id="33" name="Text 31"/>
          <p:cNvSpPr/>
          <p:nvPr/>
        </p:nvSpPr>
        <p:spPr>
          <a:xfrm>
            <a:off x="5916168" y="4206240"/>
            <a:ext cx="1783080" cy="429768"/>
          </a:xfrm>
          <a:prstGeom prst="rect">
            <a:avLst/>
          </a:prstGeom>
          <a:noFill/>
          <a:ln/>
        </p:spPr>
        <p:txBody>
          <a:bodyPr wrap="square" lIns="0" tIns="0" rIns="0" bIns="0" rtlCol="0" anchor="ctr"/>
          <a:lstStyle/>
          <a:p>
            <a:pPr algn="ctr" indent="0" marL="0">
              <a:buNone/>
            </a:pPr>
            <a:r>
              <a:rPr lang="en-US" sz="1150" dirty="0">
                <a:solidFill>
                  <a:srgbClr val="A9BCDA"/>
                </a:solidFill>
                <a:latin typeface="Calibri" pitchFamily="34" charset="0"/>
                <a:ea typeface="Calibri" pitchFamily="34" charset="-122"/>
                <a:cs typeface="Calibri" pitchFamily="34" charset="-120"/>
              </a:rPr>
              <a:t>100.0%</a:t>
            </a:r>
            <a:endParaRPr lang="en-US" sz="1150" dirty="0"/>
          </a:p>
        </p:txBody>
      </p:sp>
      <p:sp>
        <p:nvSpPr>
          <p:cNvPr id="34" name="Text 32"/>
          <p:cNvSpPr/>
          <p:nvPr/>
        </p:nvSpPr>
        <p:spPr>
          <a:xfrm>
            <a:off x="7863840" y="4206240"/>
            <a:ext cx="3730752" cy="429768"/>
          </a:xfrm>
          <a:prstGeom prst="rect">
            <a:avLst/>
          </a:prstGeom>
          <a:noFill/>
          <a:ln/>
        </p:spPr>
        <p:txBody>
          <a:bodyPr wrap="square" lIns="0" tIns="0" rIns="0" bIns="0" rtlCol="0" anchor="ctr"/>
          <a:lstStyle/>
          <a:p>
            <a:pPr algn="l" indent="0" marL="0">
              <a:buNone/>
            </a:pPr>
            <a:r>
              <a:rPr lang="en-US" sz="1150" dirty="0">
                <a:solidFill>
                  <a:srgbClr val="A9BCDA"/>
                </a:solidFill>
                <a:latin typeface="Calibri" pitchFamily="34" charset="0"/>
                <a:ea typeface="Calibri" pitchFamily="34" charset="-122"/>
                <a:cs typeface="Calibri" pitchFamily="34" charset="-120"/>
              </a:rPr>
              <a:t>Dynamic RAG vs. static schema</a:t>
            </a:r>
            <a:endParaRPr lang="en-US" sz="1150" dirty="0"/>
          </a:p>
        </p:txBody>
      </p:sp>
      <p:sp>
        <p:nvSpPr>
          <p:cNvPr id="35" name="Shape 33"/>
          <p:cNvSpPr/>
          <p:nvPr/>
        </p:nvSpPr>
        <p:spPr>
          <a:xfrm>
            <a:off x="566928" y="4636008"/>
            <a:ext cx="11027664" cy="429768"/>
          </a:xfrm>
          <a:prstGeom prst="rect">
            <a:avLst/>
          </a:prstGeom>
          <a:solidFill>
            <a:srgbClr val="1B2A55"/>
          </a:solidFill>
          <a:ln w="6350">
            <a:solidFill>
              <a:srgbClr val="2C3D6B"/>
            </a:solidFill>
            <a:prstDash val="solid"/>
          </a:ln>
        </p:spPr>
      </p:sp>
      <p:sp>
        <p:nvSpPr>
          <p:cNvPr id="36" name="Text 34"/>
          <p:cNvSpPr/>
          <p:nvPr/>
        </p:nvSpPr>
        <p:spPr>
          <a:xfrm>
            <a:off x="731520" y="4636008"/>
            <a:ext cx="3401568" cy="429768"/>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Operational CTI latency</a:t>
            </a:r>
            <a:endParaRPr lang="en-US" sz="1150" dirty="0"/>
          </a:p>
        </p:txBody>
      </p:sp>
      <p:sp>
        <p:nvSpPr>
          <p:cNvPr id="37" name="Text 35"/>
          <p:cNvSpPr/>
          <p:nvPr/>
        </p:nvSpPr>
        <p:spPr>
          <a:xfrm>
            <a:off x="4133088" y="4636008"/>
            <a:ext cx="1783080" cy="429768"/>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3755 ms</a:t>
            </a:r>
            <a:endParaRPr lang="en-US" sz="1150" dirty="0"/>
          </a:p>
        </p:txBody>
      </p:sp>
      <p:sp>
        <p:nvSpPr>
          <p:cNvPr id="38" name="Text 36"/>
          <p:cNvSpPr/>
          <p:nvPr/>
        </p:nvSpPr>
        <p:spPr>
          <a:xfrm>
            <a:off x="5916168" y="4636008"/>
            <a:ext cx="1783080" cy="429768"/>
          </a:xfrm>
          <a:prstGeom prst="rect">
            <a:avLst/>
          </a:prstGeom>
          <a:noFill/>
          <a:ln/>
        </p:spPr>
        <p:txBody>
          <a:bodyPr wrap="square" lIns="0" tIns="0" rIns="0" bIns="0" rtlCol="0" anchor="ctr"/>
          <a:lstStyle/>
          <a:p>
            <a:pPr algn="ctr" indent="0" marL="0">
              <a:buNone/>
            </a:pPr>
            <a:r>
              <a:rPr lang="en-US" sz="1150" dirty="0">
                <a:solidFill>
                  <a:srgbClr val="A9BCDA"/>
                </a:solidFill>
                <a:latin typeface="Calibri" pitchFamily="34" charset="0"/>
                <a:ea typeface="Calibri" pitchFamily="34" charset="-122"/>
                <a:cs typeface="Calibri" pitchFamily="34" charset="-120"/>
              </a:rPr>
              <a:t>37.7 ms</a:t>
            </a:r>
            <a:endParaRPr lang="en-US" sz="1150" dirty="0"/>
          </a:p>
        </p:txBody>
      </p:sp>
      <p:sp>
        <p:nvSpPr>
          <p:cNvPr id="39" name="Text 37"/>
          <p:cNvSpPr/>
          <p:nvPr/>
        </p:nvSpPr>
        <p:spPr>
          <a:xfrm>
            <a:off x="7863840" y="4636008"/>
            <a:ext cx="3730752" cy="429768"/>
          </a:xfrm>
          <a:prstGeom prst="rect">
            <a:avLst/>
          </a:prstGeom>
          <a:noFill/>
          <a:ln/>
        </p:spPr>
        <p:txBody>
          <a:bodyPr wrap="square" lIns="0" tIns="0" rIns="0" bIns="0" rtlCol="0" anchor="ctr"/>
          <a:lstStyle/>
          <a:p>
            <a:pPr algn="l" indent="0" marL="0">
              <a:buNone/>
            </a:pPr>
            <a:r>
              <a:rPr lang="en-US" sz="1150" dirty="0">
                <a:solidFill>
                  <a:srgbClr val="A9BCDA"/>
                </a:solidFill>
                <a:latin typeface="Calibri" pitchFamily="34" charset="0"/>
                <a:ea typeface="Calibri" pitchFamily="34" charset="-122"/>
                <a:cs typeface="Calibri" pitchFamily="34" charset="-120"/>
              </a:rPr>
              <a:t>Deep reasoning vs. keyword lookup</a:t>
            </a:r>
            <a:endParaRPr lang="en-US" sz="1150" dirty="0"/>
          </a:p>
        </p:txBody>
      </p:sp>
      <p:sp>
        <p:nvSpPr>
          <p:cNvPr id="40" name="Shape 38"/>
          <p:cNvSpPr/>
          <p:nvPr/>
        </p:nvSpPr>
        <p:spPr>
          <a:xfrm>
            <a:off x="566928" y="5230368"/>
            <a:ext cx="5394960" cy="1170432"/>
          </a:xfrm>
          <a:prstGeom prst="roundRect">
            <a:avLst>
              <a:gd name="adj" fmla="val 7031"/>
            </a:avLst>
          </a:prstGeom>
          <a:solidFill>
            <a:srgbClr val="F1F5F9"/>
          </a:solidFill>
          <a:ln w="9525">
            <a:solidFill>
              <a:srgbClr val="D8E1EC"/>
            </a:solidFill>
            <a:prstDash val="solid"/>
          </a:ln>
          <a:effectLst>
            <a:outerShdw sx="100000" sy="100000" kx="0" ky="0" algn="bl" rotWithShape="0" blurRad="127000" dist="25400" dir="5400000">
              <a:srgbClr val="8CA0BF">
                <a:alpha val="22000"/>
              </a:srgbClr>
            </a:outerShdw>
          </a:effectLst>
        </p:spPr>
      </p:sp>
      <p:sp>
        <p:nvSpPr>
          <p:cNvPr id="41" name="Shape 39"/>
          <p:cNvSpPr/>
          <p:nvPr/>
        </p:nvSpPr>
        <p:spPr>
          <a:xfrm>
            <a:off x="566928" y="5230368"/>
            <a:ext cx="5394960" cy="1170432"/>
          </a:xfrm>
          <a:prstGeom prst="roundRect">
            <a:avLst>
              <a:gd name="adj" fmla="val 7031"/>
            </a:avLst>
          </a:prstGeom>
          <a:solidFill>
            <a:srgbClr val="0E7490"/>
          </a:solidFill>
          <a:ln w="12700">
            <a:solidFill>
              <a:srgbClr val="0E7490"/>
            </a:solidFill>
            <a:prstDash val="solid"/>
          </a:ln>
        </p:spPr>
      </p:sp>
      <p:sp>
        <p:nvSpPr>
          <p:cNvPr id="42" name="Text 40"/>
          <p:cNvSpPr/>
          <p:nvPr/>
        </p:nvSpPr>
        <p:spPr>
          <a:xfrm>
            <a:off x="841248" y="5349240"/>
            <a:ext cx="484632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Why OpenCTI scores 0% on precision</a:t>
            </a:r>
            <a:endParaRPr lang="en-US" sz="1250" dirty="0"/>
          </a:p>
        </p:txBody>
      </p:sp>
      <p:sp>
        <p:nvSpPr>
          <p:cNvPr id="43" name="Text 41"/>
          <p:cNvSpPr/>
          <p:nvPr/>
        </p:nvSpPr>
        <p:spPr>
          <a:xfrm>
            <a:off x="841248" y="5650992"/>
            <a:ext cx="4892040" cy="640080"/>
          </a:xfrm>
          <a:prstGeom prst="rect">
            <a:avLst/>
          </a:prstGeom>
          <a:noFill/>
          <a:ln/>
        </p:spPr>
        <p:txBody>
          <a:bodyPr wrap="square" lIns="0" tIns="0" rIns="0" bIns="0" rtlCol="0" anchor="t"/>
          <a:lstStyle/>
          <a:p>
            <a:pPr indent="0" marL="0">
              <a:lnSpc>
                <a:spcPts val="1500"/>
              </a:lnSpc>
              <a:buNone/>
            </a:pPr>
            <a:r>
              <a:rPr lang="en-US" sz="1150" dirty="0">
                <a:solidFill>
                  <a:srgbClr val="D6ECF2"/>
                </a:solidFill>
                <a:latin typeface="Calibri" pitchFamily="34" charset="0"/>
                <a:ea typeface="Calibri" pitchFamily="34" charset="-122"/>
                <a:cs typeface="Calibri" pitchFamily="34" charset="-120"/>
              </a:rPr>
              <a:t>It runs static keyword lookups over enterprise IT feeds that contain no 5G RAN context to retrieve.</a:t>
            </a:r>
            <a:endParaRPr lang="en-US" sz="1150" dirty="0"/>
          </a:p>
        </p:txBody>
      </p:sp>
      <p:sp>
        <p:nvSpPr>
          <p:cNvPr id="44" name="Shape 42"/>
          <p:cNvSpPr/>
          <p:nvPr/>
        </p:nvSpPr>
        <p:spPr>
          <a:xfrm>
            <a:off x="6355080" y="5230368"/>
            <a:ext cx="5239512" cy="1170432"/>
          </a:xfrm>
          <a:prstGeom prst="roundRect">
            <a:avLst>
              <a:gd name="adj" fmla="val 7031"/>
            </a:avLst>
          </a:prstGeom>
          <a:solidFill>
            <a:srgbClr val="1B2A55"/>
          </a:solidFill>
          <a:ln w="9525">
            <a:solidFill>
              <a:srgbClr val="2C3D6B"/>
            </a:solidFill>
            <a:prstDash val="solid"/>
          </a:ln>
        </p:spPr>
      </p:sp>
      <p:sp>
        <p:nvSpPr>
          <p:cNvPr id="45" name="Text 43"/>
          <p:cNvSpPr/>
          <p:nvPr/>
        </p:nvSpPr>
        <p:spPr>
          <a:xfrm>
            <a:off x="6629400" y="5349240"/>
            <a:ext cx="4663440" cy="274320"/>
          </a:xfrm>
          <a:prstGeom prst="rect">
            <a:avLst/>
          </a:prstGeom>
          <a:noFill/>
          <a:ln/>
        </p:spPr>
        <p:txBody>
          <a:bodyPr wrap="square" lIns="0" tIns="0" rIns="0" bIns="0" rtlCol="0" anchor="ctr"/>
          <a:lstStyle/>
          <a:p>
            <a:pPr indent="0" marL="0">
              <a:buNone/>
            </a:pPr>
            <a:r>
              <a:rPr lang="en-US" sz="1250" b="1" dirty="0">
                <a:solidFill>
                  <a:srgbClr val="22D3EE"/>
                </a:solidFill>
                <a:latin typeface="Calibri" pitchFamily="34" charset="0"/>
                <a:ea typeface="Calibri" pitchFamily="34" charset="-122"/>
                <a:cs typeface="Calibri" pitchFamily="34" charset="-120"/>
              </a:rPr>
              <a:t>The honest trade-off</a:t>
            </a:r>
            <a:endParaRPr lang="en-US" sz="1250" dirty="0"/>
          </a:p>
        </p:txBody>
      </p:sp>
      <p:sp>
        <p:nvSpPr>
          <p:cNvPr id="46" name="Text 44"/>
          <p:cNvSpPr/>
          <p:nvPr/>
        </p:nvSpPr>
        <p:spPr>
          <a:xfrm>
            <a:off x="6629400" y="5650992"/>
            <a:ext cx="4709160" cy="658368"/>
          </a:xfrm>
          <a:prstGeom prst="rect">
            <a:avLst/>
          </a:prstGeom>
          <a:noFill/>
          <a:ln/>
        </p:spPr>
        <p:txBody>
          <a:bodyPr wrap="square" lIns="0" tIns="0" rIns="0" bIns="0" rtlCol="0" anchor="t"/>
          <a:lstStyle/>
          <a:p>
            <a:pPr indent="0" marL="0">
              <a:lnSpc>
                <a:spcPts val="1500"/>
              </a:lnSpc>
              <a:buNone/>
            </a:pPr>
            <a:r>
              <a:rPr lang="en-US" sz="1150" dirty="0">
                <a:solidFill>
                  <a:srgbClr val="A9BCDA"/>
                </a:solidFill>
                <a:latin typeface="Calibri" pitchFamily="34" charset="0"/>
                <a:ea typeface="Calibri" pitchFamily="34" charset="-122"/>
                <a:cs typeface="Calibri" pitchFamily="34" charset="-120"/>
              </a:rPr>
              <a:t>We are ~100× slower per query. That is the cost of vector embedding, MCP escalation and generative synthesis — and it buys domain precision a keyword index cannot reach.</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330"/>
        </a:solidFill>
      </p:bgPr>
    </p:bg>
    <p:spTree>
      <p:nvGrpSpPr>
        <p:cNvPr id="1" name=""/>
        <p:cNvGrpSpPr/>
        <p:nvPr/>
      </p:nvGrpSpPr>
      <p:grpSpPr>
        <a:xfrm>
          <a:off x="0" y="0"/>
          <a:ext cx="0" cy="0"/>
          <a:chOff x="0" y="0"/>
          <a:chExt cx="0" cy="0"/>
        </a:xfrm>
      </p:grpSpPr>
      <p:sp>
        <p:nvSpPr>
          <p:cNvPr id="2" name="Text 0"/>
          <p:cNvSpPr/>
          <p:nvPr/>
        </p:nvSpPr>
        <p:spPr>
          <a:xfrm>
            <a:off x="566928" y="329184"/>
            <a:ext cx="8229600" cy="256032"/>
          </a:xfrm>
          <a:prstGeom prst="rect">
            <a:avLst/>
          </a:prstGeom>
          <a:noFill/>
          <a:ln/>
        </p:spPr>
        <p:txBody>
          <a:bodyPr wrap="square" lIns="0" tIns="0" rIns="0" bIns="0"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CONCLUSION</a:t>
            </a:r>
            <a:endParaRPr lang="en-US" sz="1150" dirty="0"/>
          </a:p>
        </p:txBody>
      </p:sp>
      <p:sp>
        <p:nvSpPr>
          <p:cNvPr id="3" name="Text 1"/>
          <p:cNvSpPr/>
          <p:nvPr/>
        </p:nvSpPr>
        <p:spPr>
          <a:xfrm>
            <a:off x="566928" y="603504"/>
            <a:ext cx="11027664" cy="658368"/>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What we delivered, and what comes next</a:t>
            </a:r>
            <a:endParaRPr lang="en-US" sz="3300" dirty="0"/>
          </a:p>
        </p:txBody>
      </p:sp>
      <p:sp>
        <p:nvSpPr>
          <p:cNvPr id="4" name="Text 2"/>
          <p:cNvSpPr/>
          <p:nvPr/>
        </p:nvSpPr>
        <p:spPr>
          <a:xfrm>
            <a:off x="566928" y="1417320"/>
            <a:ext cx="5394960" cy="292608"/>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Contributions</a:t>
            </a:r>
            <a:endParaRPr lang="en-US" sz="1500" dirty="0"/>
          </a:p>
        </p:txBody>
      </p:sp>
      <p:sp>
        <p:nvSpPr>
          <p:cNvPr id="5" name="Text 3"/>
          <p:cNvSpPr/>
          <p:nvPr/>
        </p:nvSpPr>
        <p:spPr>
          <a:xfrm>
            <a:off x="566928" y="1810512"/>
            <a:ext cx="5349240" cy="2834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D5E1F2"/>
                </a:solidFill>
                <a:latin typeface="Calibri" pitchFamily="34" charset="0"/>
                <a:ea typeface="Calibri" pitchFamily="34" charset="-122"/>
                <a:cs typeface="Calibri" pitchFamily="34" charset="-120"/>
              </a:rPr>
              <a:t>An O-RAN-native CTI platform running across four regions</a:t>
            </a:r>
            <a:endParaRPr lang="en-US" sz="1200" dirty="0"/>
          </a:p>
          <a:p>
            <a:pPr marL="342900" indent="-342900">
              <a:spcAft>
                <a:spcPts val="1000"/>
              </a:spcAft>
              <a:buSzPct val="100000"/>
              <a:buChar char="•"/>
            </a:pPr>
            <a:r>
              <a:rPr lang="en-US" sz="1200" dirty="0">
                <a:solidFill>
                  <a:srgbClr val="D5E1F2"/>
                </a:solidFill>
                <a:latin typeface="Calibri" pitchFamily="34" charset="0"/>
                <a:ea typeface="Calibri" pitchFamily="34" charset="-122"/>
                <a:cs typeface="Calibri" pitchFamily="34" charset="-120"/>
              </a:rPr>
              <a:t>An Anomaly Detection Gateway unifying four evidence sources into one transparent, AI-independent schema</a:t>
            </a:r>
            <a:endParaRPr lang="en-US" sz="1200" dirty="0"/>
          </a:p>
          <a:p>
            <a:pPr marL="342900" indent="-342900">
              <a:spcAft>
                <a:spcPts val="1000"/>
              </a:spcAft>
              <a:buSzPct val="100000"/>
              <a:buChar char="•"/>
            </a:pPr>
            <a:r>
              <a:rPr lang="en-US" sz="1200" dirty="0">
                <a:solidFill>
                  <a:srgbClr val="D5E1F2"/>
                </a:solidFill>
                <a:latin typeface="Calibri" pitchFamily="34" charset="0"/>
                <a:ea typeface="Calibri" pitchFamily="34" charset="-122"/>
                <a:cs typeface="Calibri" pitchFamily="34" charset="-120"/>
              </a:rPr>
              <a:t>Hierarchical Mini-RAG / Global-RAG retrieval over MCP with controlled regional learning</a:t>
            </a:r>
            <a:endParaRPr lang="en-US" sz="1200" dirty="0"/>
          </a:p>
          <a:p>
            <a:pPr marL="342900" indent="-342900">
              <a:spcAft>
                <a:spcPts val="1000"/>
              </a:spcAft>
              <a:buSzPct val="100000"/>
              <a:buChar char="•"/>
            </a:pPr>
            <a:r>
              <a:rPr lang="en-US" sz="1200" dirty="0">
                <a:solidFill>
                  <a:srgbClr val="D5E1F2"/>
                </a:solidFill>
                <a:latin typeface="Calibri" pitchFamily="34" charset="0"/>
                <a:ea typeface="Calibri" pitchFamily="34" charset="-122"/>
                <a:cs typeface="Calibri" pitchFamily="34" charset="-120"/>
              </a:rPr>
              <a:t>Privacy-preserving inter-platform sharing with semantic de-duplication and pre-arming</a:t>
            </a:r>
            <a:endParaRPr lang="en-US" sz="1200" dirty="0"/>
          </a:p>
          <a:p>
            <a:pPr marL="342900" indent="-342900">
              <a:spcAft>
                <a:spcPts val="1000"/>
              </a:spcAft>
              <a:buSzPct val="100000"/>
              <a:buChar char="•"/>
            </a:pPr>
            <a:r>
              <a:rPr lang="en-US" sz="1200" dirty="0">
                <a:solidFill>
                  <a:srgbClr val="D5E1F2"/>
                </a:solidFill>
                <a:latin typeface="Calibri" pitchFamily="34" charset="0"/>
                <a:ea typeface="Calibri" pitchFamily="34" charset="-122"/>
                <a:cs typeface="Calibri" pitchFamily="34" charset="-120"/>
              </a:rPr>
              <a:t>Guarded automated mitigation with verification, rollback and operator authority</a:t>
            </a:r>
            <a:endParaRPr lang="en-US" sz="1200" dirty="0"/>
          </a:p>
        </p:txBody>
      </p:sp>
      <p:sp>
        <p:nvSpPr>
          <p:cNvPr id="6" name="Text 4"/>
          <p:cNvSpPr/>
          <p:nvPr/>
        </p:nvSpPr>
        <p:spPr>
          <a:xfrm>
            <a:off x="6355080" y="1417320"/>
            <a:ext cx="5239512" cy="292608"/>
          </a:xfrm>
          <a:prstGeom prst="rect">
            <a:avLst/>
          </a:prstGeom>
          <a:noFill/>
          <a:ln/>
        </p:spPr>
        <p:txBody>
          <a:bodyPr wrap="square" lIns="0" tIns="0" rIns="0" bIns="0" rtlCol="0" anchor="ctr"/>
          <a:lstStyle/>
          <a:p>
            <a:pPr indent="0" marL="0">
              <a:buNone/>
            </a:pPr>
            <a:r>
              <a:rPr lang="en-US" sz="1500" b="1" dirty="0">
                <a:solidFill>
                  <a:srgbClr val="FBBF24"/>
                </a:solidFill>
                <a:latin typeface="Calibri" pitchFamily="34" charset="0"/>
                <a:ea typeface="Calibri" pitchFamily="34" charset="-122"/>
                <a:cs typeface="Calibri" pitchFamily="34" charset="-120"/>
              </a:rPr>
              <a:t>Declared limitations</a:t>
            </a:r>
            <a:endParaRPr lang="en-US" sz="1500" dirty="0"/>
          </a:p>
        </p:txBody>
      </p:sp>
      <p:sp>
        <p:nvSpPr>
          <p:cNvPr id="7" name="Text 5"/>
          <p:cNvSpPr/>
          <p:nvPr/>
        </p:nvSpPr>
        <p:spPr>
          <a:xfrm>
            <a:off x="6355080" y="1810512"/>
            <a:ext cx="5212080" cy="283464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C9B896"/>
                </a:solidFill>
                <a:latin typeface="Calibri" pitchFamily="34" charset="0"/>
                <a:ea typeface="Calibri" pitchFamily="34" charset="-122"/>
                <a:cs typeface="Calibri" pitchFamily="34" charset="-120"/>
              </a:rPr>
              <a:t>Single-node K3s cluster — logically, not physically, distributed</a:t>
            </a:r>
            <a:endParaRPr lang="en-US" sz="1200" dirty="0"/>
          </a:p>
          <a:p>
            <a:pPr marL="342900" indent="-342900">
              <a:spcAft>
                <a:spcPts val="1000"/>
              </a:spcAft>
              <a:buSzPct val="100000"/>
              <a:buChar char="•"/>
            </a:pPr>
            <a:r>
              <a:rPr lang="en-US" sz="1200" dirty="0">
                <a:solidFill>
                  <a:srgbClr val="C9B896"/>
                </a:solidFill>
                <a:latin typeface="Calibri" pitchFamily="34" charset="0"/>
                <a:ea typeface="Calibri" pitchFamily="34" charset="-122"/>
                <a:cs typeface="Calibri" pitchFamily="34" charset="-120"/>
              </a:rPr>
              <a:t>A1, F1 and selected E2 anomalies are labelled detector-contract simulations</a:t>
            </a:r>
            <a:endParaRPr lang="en-US" sz="1200" dirty="0"/>
          </a:p>
          <a:p>
            <a:pPr marL="342900" indent="-342900">
              <a:spcAft>
                <a:spcPts val="1000"/>
              </a:spcAft>
              <a:buSzPct val="100000"/>
              <a:buChar char="•"/>
            </a:pPr>
            <a:r>
              <a:rPr lang="en-US" sz="1200" dirty="0">
                <a:solidFill>
                  <a:srgbClr val="C9B896"/>
                </a:solidFill>
                <a:latin typeface="Calibri" pitchFamily="34" charset="0"/>
                <a:ea typeface="Calibri" pitchFamily="34" charset="-122"/>
                <a:cs typeface="Calibri" pitchFamily="34" charset="-120"/>
              </a:rPr>
              <a:t>No multi-vendor or commercial hardware validation</a:t>
            </a:r>
            <a:endParaRPr lang="en-US" sz="1200" dirty="0"/>
          </a:p>
          <a:p>
            <a:pPr marL="342900" indent="-342900">
              <a:spcAft>
                <a:spcPts val="1000"/>
              </a:spcAft>
              <a:buSzPct val="100000"/>
              <a:buChar char="•"/>
            </a:pPr>
            <a:r>
              <a:rPr lang="en-US" sz="1200" dirty="0">
                <a:solidFill>
                  <a:srgbClr val="C9B896"/>
                </a:solidFill>
                <a:latin typeface="Calibri" pitchFamily="34" charset="0"/>
                <a:ea typeface="Calibri" pitchFamily="34" charset="-122"/>
                <a:cs typeface="Calibri" pitchFamily="34" charset="-120"/>
              </a:rPr>
              <a:t>Score weights are pre-declared, not empirically calibrated</a:t>
            </a:r>
            <a:endParaRPr lang="en-US" sz="1200" dirty="0"/>
          </a:p>
          <a:p>
            <a:pPr marL="342900" indent="-342900">
              <a:spcAft>
                <a:spcPts val="1000"/>
              </a:spcAft>
              <a:buSzPct val="100000"/>
              <a:buChar char="•"/>
            </a:pPr>
            <a:r>
              <a:rPr lang="en-US" sz="1200" dirty="0">
                <a:solidFill>
                  <a:srgbClr val="C9B896"/>
                </a:solidFill>
                <a:latin typeface="Calibri" pitchFamily="34" charset="0"/>
                <a:ea typeface="Calibri" pitchFamily="34" charset="-122"/>
                <a:cs typeface="Calibri" pitchFamily="34" charset="-120"/>
              </a:rPr>
              <a:t>Per-UE containment realised in the 5G core, since srsRAN rejects E2SM-RC control</a:t>
            </a:r>
            <a:endParaRPr lang="en-US" sz="1200" dirty="0"/>
          </a:p>
        </p:txBody>
      </p:sp>
      <p:sp>
        <p:nvSpPr>
          <p:cNvPr id="8" name="Shape 6"/>
          <p:cNvSpPr/>
          <p:nvPr/>
        </p:nvSpPr>
        <p:spPr>
          <a:xfrm>
            <a:off x="566928" y="4800600"/>
            <a:ext cx="11027664" cy="1554480"/>
          </a:xfrm>
          <a:prstGeom prst="roundRect">
            <a:avLst>
              <a:gd name="adj" fmla="val 5294"/>
            </a:avLst>
          </a:prstGeom>
          <a:solidFill>
            <a:srgbClr val="132048"/>
          </a:solidFill>
          <a:ln w="9525">
            <a:solidFill>
              <a:srgbClr val="2C3D6B"/>
            </a:solidFill>
            <a:prstDash val="solid"/>
          </a:ln>
        </p:spPr>
      </p:sp>
      <p:sp>
        <p:nvSpPr>
          <p:cNvPr id="9" name="Text 7"/>
          <p:cNvSpPr/>
          <p:nvPr/>
        </p:nvSpPr>
        <p:spPr>
          <a:xfrm>
            <a:off x="886968" y="4956048"/>
            <a:ext cx="1828800" cy="274320"/>
          </a:xfrm>
          <a:prstGeom prst="rect">
            <a:avLst/>
          </a:prstGeom>
          <a:noFill/>
          <a:ln/>
        </p:spPr>
        <p:txBody>
          <a:bodyPr wrap="square" lIns="0" tIns="0" rIns="0" bIns="0" rtlCol="0" anchor="ctr"/>
          <a:lstStyle/>
          <a:p>
            <a:pPr indent="0" marL="0">
              <a:buNone/>
            </a:pPr>
            <a:r>
              <a:rPr lang="en-US" sz="1300" b="1" dirty="0">
                <a:solidFill>
                  <a:srgbClr val="22D3EE"/>
                </a:solidFill>
                <a:latin typeface="Calibri" pitchFamily="34" charset="0"/>
                <a:ea typeface="Calibri" pitchFamily="34" charset="-122"/>
                <a:cs typeface="Calibri" pitchFamily="34" charset="-120"/>
              </a:rPr>
              <a:t>Next</a:t>
            </a:r>
            <a:endParaRPr lang="en-US" sz="1300" dirty="0"/>
          </a:p>
        </p:txBody>
      </p:sp>
      <p:sp>
        <p:nvSpPr>
          <p:cNvPr id="10" name="Shape 8"/>
          <p:cNvSpPr/>
          <p:nvPr/>
        </p:nvSpPr>
        <p:spPr>
          <a:xfrm>
            <a:off x="886968" y="5349240"/>
            <a:ext cx="274320" cy="274320"/>
          </a:xfrm>
          <a:prstGeom prst="ellipse">
            <a:avLst/>
          </a:prstGeom>
          <a:solidFill>
            <a:srgbClr val="0E7490"/>
          </a:solidFill>
          <a:ln w="12700">
            <a:solidFill>
              <a:srgbClr val="0E7490"/>
            </a:solidFill>
            <a:prstDash val="solid"/>
          </a:ln>
        </p:spPr>
      </p:sp>
      <p:sp>
        <p:nvSpPr>
          <p:cNvPr id="11" name="Text 9"/>
          <p:cNvSpPr/>
          <p:nvPr/>
        </p:nvSpPr>
        <p:spPr>
          <a:xfrm>
            <a:off x="886968" y="5349240"/>
            <a:ext cx="274320" cy="274320"/>
          </a:xfrm>
          <a:prstGeom prst="rect">
            <a:avLst/>
          </a:prstGeom>
          <a:noFill/>
          <a:ln/>
        </p:spPr>
        <p:txBody>
          <a:bodyPr wrap="square" lIns="0" tIns="0" rIns="0" bIns="0" rtlCol="0" anchor="ctr"/>
          <a:lstStyle/>
          <a:p>
            <a:pPr algn="ctr" indent="0" marL="0">
              <a:buNone/>
            </a:pPr>
            <a:endParaRPr lang="en-US" sz="1200" dirty="0"/>
          </a:p>
        </p:txBody>
      </p:sp>
      <p:sp>
        <p:nvSpPr>
          <p:cNvPr id="12" name="Text 10"/>
          <p:cNvSpPr/>
          <p:nvPr/>
        </p:nvSpPr>
        <p:spPr>
          <a:xfrm>
            <a:off x="886968" y="5687568"/>
            <a:ext cx="2011680" cy="502920"/>
          </a:xfrm>
          <a:prstGeom prst="rect">
            <a:avLst/>
          </a:prstGeom>
          <a:noFill/>
          <a:ln/>
        </p:spPr>
        <p:txBody>
          <a:bodyPr wrap="square" lIns="0" tIns="0" rIns="0" bIns="0" rtlCol="0" anchor="ctr"/>
          <a:lstStyle/>
          <a:p>
            <a:pPr indent="0" marL="0">
              <a:lnSpc>
                <a:spcPts val="1300"/>
              </a:lnSpc>
              <a:buNone/>
            </a:pPr>
            <a:r>
              <a:rPr lang="en-US" sz="1050" dirty="0">
                <a:solidFill>
                  <a:srgbClr val="D5E1F2"/>
                </a:solidFill>
                <a:latin typeface="Calibri" pitchFamily="34" charset="0"/>
                <a:ea typeface="Calibri" pitchFamily="34" charset="-122"/>
                <a:cs typeface="Calibri" pitchFamily="34" charset="-120"/>
              </a:rPr>
              <a:t>Physical &amp; multi-vendor validation</a:t>
            </a:r>
            <a:endParaRPr lang="en-US" sz="1050" dirty="0"/>
          </a:p>
        </p:txBody>
      </p:sp>
      <p:sp>
        <p:nvSpPr>
          <p:cNvPr id="13" name="Shape 11"/>
          <p:cNvSpPr/>
          <p:nvPr/>
        </p:nvSpPr>
        <p:spPr>
          <a:xfrm>
            <a:off x="3026664" y="5349240"/>
            <a:ext cx="274320" cy="274320"/>
          </a:xfrm>
          <a:prstGeom prst="ellipse">
            <a:avLst/>
          </a:prstGeom>
          <a:solidFill>
            <a:srgbClr val="7C3AED"/>
          </a:solidFill>
          <a:ln w="12700">
            <a:solidFill>
              <a:srgbClr val="7C3AED"/>
            </a:solidFill>
            <a:prstDash val="solid"/>
          </a:ln>
        </p:spPr>
      </p:sp>
      <p:sp>
        <p:nvSpPr>
          <p:cNvPr id="14" name="Text 12"/>
          <p:cNvSpPr/>
          <p:nvPr/>
        </p:nvSpPr>
        <p:spPr>
          <a:xfrm>
            <a:off x="3026664" y="5349240"/>
            <a:ext cx="274320" cy="274320"/>
          </a:xfrm>
          <a:prstGeom prst="rect">
            <a:avLst/>
          </a:prstGeom>
          <a:noFill/>
          <a:ln/>
        </p:spPr>
        <p:txBody>
          <a:bodyPr wrap="square" lIns="0" tIns="0" rIns="0" bIns="0" rtlCol="0" anchor="ctr"/>
          <a:lstStyle/>
          <a:p>
            <a:pPr algn="ctr" indent="0" marL="0">
              <a:buNone/>
            </a:pPr>
            <a:endParaRPr lang="en-US" sz="1200" dirty="0"/>
          </a:p>
        </p:txBody>
      </p:sp>
      <p:sp>
        <p:nvSpPr>
          <p:cNvPr id="15" name="Text 13"/>
          <p:cNvSpPr/>
          <p:nvPr/>
        </p:nvSpPr>
        <p:spPr>
          <a:xfrm>
            <a:off x="3026664" y="5687568"/>
            <a:ext cx="2011680" cy="502920"/>
          </a:xfrm>
          <a:prstGeom prst="rect">
            <a:avLst/>
          </a:prstGeom>
          <a:noFill/>
          <a:ln/>
        </p:spPr>
        <p:txBody>
          <a:bodyPr wrap="square" lIns="0" tIns="0" rIns="0" bIns="0" rtlCol="0" anchor="ctr"/>
          <a:lstStyle/>
          <a:p>
            <a:pPr indent="0" marL="0">
              <a:lnSpc>
                <a:spcPts val="1300"/>
              </a:lnSpc>
              <a:buNone/>
            </a:pPr>
            <a:r>
              <a:rPr lang="en-US" sz="1050" dirty="0">
                <a:solidFill>
                  <a:srgbClr val="D5E1F2"/>
                </a:solidFill>
                <a:latin typeface="Calibri" pitchFamily="34" charset="0"/>
                <a:ea typeface="Calibri" pitchFamily="34" charset="-122"/>
                <a:cs typeface="Calibri" pitchFamily="34" charset="-120"/>
              </a:rPr>
              <a:t>Larger independent benchmark</a:t>
            </a:r>
            <a:endParaRPr lang="en-US" sz="1050" dirty="0"/>
          </a:p>
        </p:txBody>
      </p:sp>
      <p:sp>
        <p:nvSpPr>
          <p:cNvPr id="16" name="Shape 14"/>
          <p:cNvSpPr/>
          <p:nvPr/>
        </p:nvSpPr>
        <p:spPr>
          <a:xfrm>
            <a:off x="5166360" y="5349240"/>
            <a:ext cx="274320" cy="274320"/>
          </a:xfrm>
          <a:prstGeom prst="ellipse">
            <a:avLst/>
          </a:prstGeom>
          <a:solidFill>
            <a:srgbClr val="16A34A"/>
          </a:solidFill>
          <a:ln w="12700">
            <a:solidFill>
              <a:srgbClr val="16A34A"/>
            </a:solidFill>
            <a:prstDash val="solid"/>
          </a:ln>
        </p:spPr>
      </p:sp>
      <p:sp>
        <p:nvSpPr>
          <p:cNvPr id="17" name="Text 15"/>
          <p:cNvSpPr/>
          <p:nvPr/>
        </p:nvSpPr>
        <p:spPr>
          <a:xfrm>
            <a:off x="5166360" y="5349240"/>
            <a:ext cx="274320" cy="274320"/>
          </a:xfrm>
          <a:prstGeom prst="rect">
            <a:avLst/>
          </a:prstGeom>
          <a:noFill/>
          <a:ln/>
        </p:spPr>
        <p:txBody>
          <a:bodyPr wrap="square" lIns="0" tIns="0" rIns="0" bIns="0" rtlCol="0" anchor="ctr"/>
          <a:lstStyle/>
          <a:p>
            <a:pPr algn="ctr" indent="0" marL="0">
              <a:buNone/>
            </a:pPr>
            <a:endParaRPr lang="en-US" sz="1200" dirty="0"/>
          </a:p>
        </p:txBody>
      </p:sp>
      <p:sp>
        <p:nvSpPr>
          <p:cNvPr id="18" name="Text 16"/>
          <p:cNvSpPr/>
          <p:nvPr/>
        </p:nvSpPr>
        <p:spPr>
          <a:xfrm>
            <a:off x="5166360" y="5687568"/>
            <a:ext cx="2011680" cy="502920"/>
          </a:xfrm>
          <a:prstGeom prst="rect">
            <a:avLst/>
          </a:prstGeom>
          <a:noFill/>
          <a:ln/>
        </p:spPr>
        <p:txBody>
          <a:bodyPr wrap="square" lIns="0" tIns="0" rIns="0" bIns="0" rtlCol="0" anchor="ctr"/>
          <a:lstStyle/>
          <a:p>
            <a:pPr indent="0" marL="0">
              <a:lnSpc>
                <a:spcPts val="1300"/>
              </a:lnSpc>
              <a:buNone/>
            </a:pPr>
            <a:r>
              <a:rPr lang="en-US" sz="1050" dirty="0">
                <a:solidFill>
                  <a:srgbClr val="D5E1F2"/>
                </a:solidFill>
                <a:latin typeface="Calibri" pitchFamily="34" charset="0"/>
                <a:ea typeface="Calibri" pitchFamily="34" charset="-122"/>
                <a:cs typeface="Calibri" pitchFamily="34" charset="-120"/>
              </a:rPr>
              <a:t>Telecom-specific embeddings</a:t>
            </a:r>
            <a:endParaRPr lang="en-US" sz="1050" dirty="0"/>
          </a:p>
        </p:txBody>
      </p:sp>
      <p:sp>
        <p:nvSpPr>
          <p:cNvPr id="19" name="Shape 17"/>
          <p:cNvSpPr/>
          <p:nvPr/>
        </p:nvSpPr>
        <p:spPr>
          <a:xfrm>
            <a:off x="7306056" y="5349240"/>
            <a:ext cx="274320" cy="274320"/>
          </a:xfrm>
          <a:prstGeom prst="ellipse">
            <a:avLst/>
          </a:prstGeom>
          <a:solidFill>
            <a:srgbClr val="D97706"/>
          </a:solidFill>
          <a:ln w="12700">
            <a:solidFill>
              <a:srgbClr val="D97706"/>
            </a:solidFill>
            <a:prstDash val="solid"/>
          </a:ln>
        </p:spPr>
      </p:sp>
      <p:sp>
        <p:nvSpPr>
          <p:cNvPr id="20" name="Text 18"/>
          <p:cNvSpPr/>
          <p:nvPr/>
        </p:nvSpPr>
        <p:spPr>
          <a:xfrm>
            <a:off x="7306056" y="5349240"/>
            <a:ext cx="274320" cy="274320"/>
          </a:xfrm>
          <a:prstGeom prst="rect">
            <a:avLst/>
          </a:prstGeom>
          <a:noFill/>
          <a:ln/>
        </p:spPr>
        <p:txBody>
          <a:bodyPr wrap="square" lIns="0" tIns="0" rIns="0" bIns="0" rtlCol="0" anchor="ctr"/>
          <a:lstStyle/>
          <a:p>
            <a:pPr algn="ctr" indent="0" marL="0">
              <a:buNone/>
            </a:pPr>
            <a:endParaRPr lang="en-US" sz="1200" dirty="0"/>
          </a:p>
        </p:txBody>
      </p:sp>
      <p:sp>
        <p:nvSpPr>
          <p:cNvPr id="21" name="Text 19"/>
          <p:cNvSpPr/>
          <p:nvPr/>
        </p:nvSpPr>
        <p:spPr>
          <a:xfrm>
            <a:off x="7306056" y="5687568"/>
            <a:ext cx="2011680" cy="502920"/>
          </a:xfrm>
          <a:prstGeom prst="rect">
            <a:avLst/>
          </a:prstGeom>
          <a:noFill/>
          <a:ln/>
        </p:spPr>
        <p:txBody>
          <a:bodyPr wrap="square" lIns="0" tIns="0" rIns="0" bIns="0" rtlCol="0" anchor="ctr"/>
          <a:lstStyle/>
          <a:p>
            <a:pPr indent="0" marL="0">
              <a:lnSpc>
                <a:spcPts val="1300"/>
              </a:lnSpc>
              <a:buNone/>
            </a:pPr>
            <a:r>
              <a:rPr lang="en-US" sz="1050" dirty="0">
                <a:solidFill>
                  <a:srgbClr val="D5E1F2"/>
                </a:solidFill>
                <a:latin typeface="Calibri" pitchFamily="34" charset="0"/>
                <a:ea typeface="Calibri" pitchFamily="34" charset="-122"/>
                <a:cs typeface="Calibri" pitchFamily="34" charset="-120"/>
              </a:rPr>
              <a:t>Signed provenance &amp; mTLS federation</a:t>
            </a:r>
            <a:endParaRPr lang="en-US" sz="1050" dirty="0"/>
          </a:p>
        </p:txBody>
      </p:sp>
      <p:sp>
        <p:nvSpPr>
          <p:cNvPr id="22" name="Shape 20"/>
          <p:cNvSpPr/>
          <p:nvPr/>
        </p:nvSpPr>
        <p:spPr>
          <a:xfrm>
            <a:off x="9445752" y="5349240"/>
            <a:ext cx="274320" cy="274320"/>
          </a:xfrm>
          <a:prstGeom prst="ellipse">
            <a:avLst/>
          </a:prstGeom>
          <a:solidFill>
            <a:srgbClr val="E11D48"/>
          </a:solidFill>
          <a:ln w="12700">
            <a:solidFill>
              <a:srgbClr val="E11D48"/>
            </a:solidFill>
            <a:prstDash val="solid"/>
          </a:ln>
        </p:spPr>
      </p:sp>
      <p:sp>
        <p:nvSpPr>
          <p:cNvPr id="23" name="Text 21"/>
          <p:cNvSpPr/>
          <p:nvPr/>
        </p:nvSpPr>
        <p:spPr>
          <a:xfrm>
            <a:off x="9445752" y="5349240"/>
            <a:ext cx="274320" cy="274320"/>
          </a:xfrm>
          <a:prstGeom prst="rect">
            <a:avLst/>
          </a:prstGeom>
          <a:noFill/>
          <a:ln/>
        </p:spPr>
        <p:txBody>
          <a:bodyPr wrap="square" lIns="0" tIns="0" rIns="0" bIns="0" rtlCol="0" anchor="ctr"/>
          <a:lstStyle/>
          <a:p>
            <a:pPr algn="ctr" indent="0" marL="0">
              <a:buNone/>
            </a:pPr>
            <a:endParaRPr lang="en-US" sz="1200" dirty="0"/>
          </a:p>
        </p:txBody>
      </p:sp>
      <p:sp>
        <p:nvSpPr>
          <p:cNvPr id="24" name="Text 22"/>
          <p:cNvSpPr/>
          <p:nvPr/>
        </p:nvSpPr>
        <p:spPr>
          <a:xfrm>
            <a:off x="9445752" y="5687568"/>
            <a:ext cx="2011680" cy="502920"/>
          </a:xfrm>
          <a:prstGeom prst="rect">
            <a:avLst/>
          </a:prstGeom>
          <a:noFill/>
          <a:ln/>
        </p:spPr>
        <p:txBody>
          <a:bodyPr wrap="square" lIns="0" tIns="0" rIns="0" bIns="0" rtlCol="0" anchor="ctr"/>
          <a:lstStyle/>
          <a:p>
            <a:pPr indent="0" marL="0">
              <a:lnSpc>
                <a:spcPts val="1300"/>
              </a:lnSpc>
              <a:buNone/>
            </a:pPr>
            <a:r>
              <a:rPr lang="en-US" sz="1050" dirty="0">
                <a:solidFill>
                  <a:srgbClr val="D5E1F2"/>
                </a:solidFill>
                <a:latin typeface="Calibri" pitchFamily="34" charset="0"/>
                <a:ea typeface="Calibri" pitchFamily="34" charset="-122"/>
                <a:cs typeface="Calibri" pitchFamily="34" charset="-120"/>
              </a:rPr>
              <a:t>Shadow-mode mitigation testing</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Threat Intelligence Platform for Open RAN</dc:title>
  <dc:subject>PptxGenJS Presentation</dc:subject>
  <dc:creator>University of Ruhuna</dc:creator>
  <cp:lastModifiedBy>University of Ruhuna</cp:lastModifiedBy>
  <cp:revision>1</cp:revision>
  <dcterms:created xsi:type="dcterms:W3CDTF">2026-08-11T18:02:45Z</dcterms:created>
  <dcterms:modified xsi:type="dcterms:W3CDTF">2026-08-11T18:02:45Z</dcterms:modified>
</cp:coreProperties>
</file>