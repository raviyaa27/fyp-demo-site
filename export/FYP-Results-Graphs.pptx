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7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456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regional learning effect in one picture. Region 1 starts by escalating about two thirds of its threats to the Global RAG. By the end it resolves over eighty percent locally and escalates almost nothing. Nothing about the routing threshold changed: eligible global answers were canonicalised back into the region, so events that once needed the central agent are now answered at the edge in under fifty milliseconds at zero cloud cost.
Volunteer the dip before you are asked: mean retrieval confidence falls from about seventy-three percent to thirty-nine while local resolution rises. That is not a contradiction. As the knowledge base grows the region starts answering a broader and harder set of events, so the mean is taken over more marginal matches. It recovers to sixty-four percent as that knowledge consolidates, and confidence per accepted answer never drops below the routing gate.
Note the window: this chart spans the full evaluation period, not just the five-day campaign.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honesty check on the previous one. The composite rose to 75.6 percent, and this shows exactly which components earned it.
Two components saturate early and hold: generation reliability and detection evidence are both at one hundred percent, so neither is a source of remaining headroom. Retrieval is the late mover — grounded Recall-at-3 and MRR sit flat for most of the campaign and only step up in the final session, because retrieval can only improve once enough learned knowledge has accumulated to be retrievable.
Routing accuracy at thirty-nine percent is our weakest component and the most volatile, and we say so rather than burying it in the total. Severity ends at seventy-one percent, which matters because a complete, well-formed response can still carry an incorrect security judgement — that is why severity is scored separately from generation reliability.
The point of the slide is decomposability: every movement in the headline number traces to a named component, and below that to a specific benchmark case.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F6"/>
        </a:solidFill>
        <a:effectLst/>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marL="0" indent="0">
              <a:buNone/>
            </a:pPr>
            <a:r>
              <a:rPr lang="en-US" sz="2900" b="1" dirty="0">
                <a:solidFill>
                  <a:srgbClr val="0F1B40"/>
                </a:solidFill>
                <a:latin typeface="Arial" pitchFamily="34" charset="0"/>
                <a:ea typeface="Arial" pitchFamily="34" charset="-122"/>
                <a:cs typeface="Arial" pitchFamily="34" charset="-120"/>
              </a:rPr>
              <a:t>Regional learning: escalation falls as the region learns</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marL="0" indent="0" algn="ctr">
              <a:buNone/>
            </a:pPr>
            <a:r>
              <a:rPr lang="en-US" sz="1100" b="1" dirty="0">
                <a:solidFill>
                  <a:srgbClr val="0F1B40"/>
                </a:solidFill>
                <a:latin typeface="Calibri" pitchFamily="34" charset="0"/>
                <a:ea typeface="Calibri" pitchFamily="34" charset="-122"/>
                <a:cs typeface="Calibri" pitchFamily="34" charset="-120"/>
              </a:rPr>
              <a:t>19</a:t>
            </a:r>
            <a:endParaRPr lang="en-US" sz="1100" dirty="0"/>
          </a:p>
        </p:txBody>
      </p:sp>
      <p:sp>
        <p:nvSpPr>
          <p:cNvPr id="6" name="Shape 4"/>
          <p:cNvSpPr/>
          <p:nvPr/>
        </p:nvSpPr>
        <p:spPr>
          <a:xfrm>
            <a:off x="822960" y="896112"/>
            <a:ext cx="10543032" cy="4681728"/>
          </a:xfrm>
          <a:prstGeom prst="roundRect">
            <a:avLst>
              <a:gd name="adj" fmla="val 1172"/>
            </a:avLst>
          </a:prstGeom>
          <a:solidFill>
            <a:srgbClr val="FFFFFF"/>
          </a:solidFill>
          <a:ln w="9525">
            <a:solidFill>
              <a:srgbClr val="D5DBE4"/>
            </a:solidFill>
            <a:prstDash val="solid"/>
          </a:ln>
          <a:effectLst>
            <a:outerShdw blurRad="127000" dist="25400" dir="5400000" algn="bl" rotWithShape="0">
              <a:srgbClr val="A9B4C6">
                <a:alpha val="20000"/>
              </a:srgbClr>
            </a:outerShdw>
          </a:effectLst>
        </p:spPr>
      </p:sp>
      <p:pic>
        <p:nvPicPr>
          <p:cNvPr id="7" name="Image 0" descr="D:/Projects/FYP-demo-site/local-and-global-resolution-region1.png"/>
          <p:cNvPicPr>
            <a:picLocks noChangeAspect="1"/>
          </p:cNvPicPr>
          <p:nvPr/>
        </p:nvPicPr>
        <p:blipFill>
          <a:blip r:embed="rId3"/>
          <a:stretch>
            <a:fillRect/>
          </a:stretch>
        </p:blipFill>
        <p:spPr>
          <a:xfrm>
            <a:off x="1383132" y="1060704"/>
            <a:ext cx="9422688" cy="4352544"/>
          </a:xfrm>
          <a:prstGeom prst="rect">
            <a:avLst/>
          </a:prstGeom>
        </p:spPr>
      </p:pic>
      <p:sp>
        <p:nvSpPr>
          <p:cNvPr id="8" name="Shape 5"/>
          <p:cNvSpPr/>
          <p:nvPr/>
        </p:nvSpPr>
        <p:spPr>
          <a:xfrm>
            <a:off x="502920" y="5669280"/>
            <a:ext cx="2578608" cy="896112"/>
          </a:xfrm>
          <a:prstGeom prst="roundRect">
            <a:avLst>
              <a:gd name="adj" fmla="val 5102"/>
            </a:avLst>
          </a:prstGeom>
          <a:solidFill>
            <a:srgbClr val="FFFFFF"/>
          </a:solidFill>
          <a:ln w="9525">
            <a:solidFill>
              <a:srgbClr val="D5DBE4"/>
            </a:solidFill>
            <a:prstDash val="solid"/>
          </a:ln>
        </p:spPr>
      </p:sp>
      <p:sp>
        <p:nvSpPr>
          <p:cNvPr id="9" name="Shape 6"/>
          <p:cNvSpPr/>
          <p:nvPr/>
        </p:nvSpPr>
        <p:spPr>
          <a:xfrm>
            <a:off x="502920" y="5669280"/>
            <a:ext cx="73152" cy="896112"/>
          </a:xfrm>
          <a:prstGeom prst="rect">
            <a:avLst/>
          </a:prstGeom>
          <a:solidFill>
            <a:srgbClr val="16A34A"/>
          </a:solidFill>
          <a:ln w="12700">
            <a:solidFill>
              <a:srgbClr val="16A34A"/>
            </a:solidFill>
            <a:prstDash val="solid"/>
          </a:ln>
        </p:spPr>
      </p:sp>
      <p:sp>
        <p:nvSpPr>
          <p:cNvPr id="10" name="Text 7"/>
          <p:cNvSpPr/>
          <p:nvPr/>
        </p:nvSpPr>
        <p:spPr>
          <a:xfrm>
            <a:off x="7040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Escalation 66% → 2%; </a:t>
            </a:r>
          </a:p>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local resolution 34% → 82%</a:t>
            </a:r>
            <a:endParaRPr lang="en-US" sz="1400" dirty="0"/>
          </a:p>
        </p:txBody>
      </p:sp>
      <p:sp>
        <p:nvSpPr>
          <p:cNvPr id="11" name="Shape 8"/>
          <p:cNvSpPr/>
          <p:nvPr/>
        </p:nvSpPr>
        <p:spPr>
          <a:xfrm>
            <a:off x="3209544" y="5669280"/>
            <a:ext cx="2578608" cy="896112"/>
          </a:xfrm>
          <a:prstGeom prst="roundRect">
            <a:avLst>
              <a:gd name="adj" fmla="val 5102"/>
            </a:avLst>
          </a:prstGeom>
          <a:solidFill>
            <a:srgbClr val="FFFFFF"/>
          </a:solidFill>
          <a:ln w="9525">
            <a:solidFill>
              <a:srgbClr val="D5DBE4"/>
            </a:solidFill>
            <a:prstDash val="solid"/>
          </a:ln>
        </p:spPr>
        <p:txBody>
          <a:bodyPr/>
          <a:lstStyle/>
          <a:p>
            <a:endParaRPr lang="en-US" dirty="0"/>
          </a:p>
        </p:txBody>
      </p:sp>
      <p:sp>
        <p:nvSpPr>
          <p:cNvPr id="12" name="Shape 9"/>
          <p:cNvSpPr/>
          <p:nvPr/>
        </p:nvSpPr>
        <p:spPr>
          <a:xfrm>
            <a:off x="3246120" y="5669280"/>
            <a:ext cx="73152" cy="896112"/>
          </a:xfrm>
          <a:prstGeom prst="rect">
            <a:avLst/>
          </a:prstGeom>
          <a:solidFill>
            <a:srgbClr val="0E7490"/>
          </a:solidFill>
          <a:ln w="12700">
            <a:solidFill>
              <a:srgbClr val="0E7490"/>
            </a:solidFill>
            <a:prstDash val="solid"/>
          </a:ln>
        </p:spPr>
        <p:txBody>
          <a:bodyPr/>
          <a:lstStyle/>
          <a:p>
            <a:endParaRPr lang="en-US" dirty="0"/>
          </a:p>
        </p:txBody>
      </p:sp>
      <p:sp>
        <p:nvSpPr>
          <p:cNvPr id="13" name="Text 10"/>
          <p:cNvSpPr/>
          <p:nvPr/>
        </p:nvSpPr>
        <p:spPr>
          <a:xfrm>
            <a:off x="34472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Global answers are canonicalized back into the region, so repeat threats resolve at the edge</a:t>
            </a:r>
          </a:p>
        </p:txBody>
      </p:sp>
      <p:sp>
        <p:nvSpPr>
          <p:cNvPr id="14" name="Shape 11"/>
          <p:cNvSpPr/>
          <p:nvPr/>
        </p:nvSpPr>
        <p:spPr>
          <a:xfrm>
            <a:off x="5989320" y="5669280"/>
            <a:ext cx="2578608" cy="896112"/>
          </a:xfrm>
          <a:prstGeom prst="roundRect">
            <a:avLst>
              <a:gd name="adj" fmla="val 5102"/>
            </a:avLst>
          </a:prstGeom>
          <a:solidFill>
            <a:srgbClr val="FFFFFF"/>
          </a:solidFill>
          <a:ln w="9525">
            <a:solidFill>
              <a:srgbClr val="D5DBE4"/>
            </a:solidFill>
            <a:prstDash val="solid"/>
          </a:ln>
        </p:spPr>
      </p:sp>
      <p:sp>
        <p:nvSpPr>
          <p:cNvPr id="15" name="Shape 12"/>
          <p:cNvSpPr/>
          <p:nvPr/>
        </p:nvSpPr>
        <p:spPr>
          <a:xfrm>
            <a:off x="5989320" y="5669280"/>
            <a:ext cx="73152" cy="896112"/>
          </a:xfrm>
          <a:prstGeom prst="rect">
            <a:avLst/>
          </a:prstGeom>
          <a:solidFill>
            <a:srgbClr val="7C3AED"/>
          </a:solidFill>
          <a:ln w="12700">
            <a:solidFill>
              <a:srgbClr val="7C3AED"/>
            </a:solidFill>
            <a:prstDash val="solid"/>
          </a:ln>
        </p:spPr>
      </p:sp>
      <p:sp>
        <p:nvSpPr>
          <p:cNvPr id="16" name="Text 13"/>
          <p:cNvSpPr/>
          <p:nvPr/>
        </p:nvSpPr>
        <p:spPr>
          <a:xfrm>
            <a:off x="61904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Local answers resolve in &lt; 50 ms at zero cloud LLM cost</a:t>
            </a:r>
            <a:endParaRPr lang="en-US" sz="1400" dirty="0"/>
          </a:p>
        </p:txBody>
      </p:sp>
      <p:sp>
        <p:nvSpPr>
          <p:cNvPr id="17" name="Shape 14"/>
          <p:cNvSpPr/>
          <p:nvPr/>
        </p:nvSpPr>
        <p:spPr>
          <a:xfrm>
            <a:off x="8732520" y="5669280"/>
            <a:ext cx="2578608" cy="896112"/>
          </a:xfrm>
          <a:prstGeom prst="roundRect">
            <a:avLst>
              <a:gd name="adj" fmla="val 5102"/>
            </a:avLst>
          </a:prstGeom>
          <a:solidFill>
            <a:srgbClr val="FFFFFF"/>
          </a:solidFill>
          <a:ln w="9525">
            <a:solidFill>
              <a:srgbClr val="D5DBE4"/>
            </a:solidFill>
            <a:prstDash val="solid"/>
          </a:ln>
        </p:spPr>
      </p:sp>
      <p:sp>
        <p:nvSpPr>
          <p:cNvPr id="18" name="Shape 15"/>
          <p:cNvSpPr/>
          <p:nvPr/>
        </p:nvSpPr>
        <p:spPr>
          <a:xfrm>
            <a:off x="8732520" y="5669280"/>
            <a:ext cx="73152" cy="896112"/>
          </a:xfrm>
          <a:prstGeom prst="rect">
            <a:avLst/>
          </a:prstGeom>
          <a:solidFill>
            <a:srgbClr val="D97706"/>
          </a:solidFill>
          <a:ln w="12700">
            <a:solidFill>
              <a:srgbClr val="D97706"/>
            </a:solidFill>
            <a:prstDash val="solid"/>
          </a:ln>
        </p:spPr>
      </p:sp>
      <p:sp>
        <p:nvSpPr>
          <p:cNvPr id="19" name="Text 16"/>
          <p:cNvSpPr/>
          <p:nvPr/>
        </p:nvSpPr>
        <p:spPr>
          <a:xfrm>
            <a:off x="89336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Confidence dips as the KB widens to harder events, recovers to 64%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F6"/>
        </a:solidFill>
        <a:effectLst/>
      </p:bgPr>
    </p:bg>
    <p:spTree>
      <p:nvGrpSpPr>
        <p:cNvPr id="1" name=""/>
        <p:cNvGrpSpPr/>
        <p:nvPr/>
      </p:nvGrpSpPr>
      <p:grpSpPr>
        <a:xfrm>
          <a:off x="0" y="0"/>
          <a:ext cx="0" cy="0"/>
          <a:chOff x="0" y="0"/>
          <a:chExt cx="0" cy="0"/>
        </a:xfrm>
      </p:grpSpPr>
      <p:sp>
        <p:nvSpPr>
          <p:cNvPr id="2" name="Shape 0"/>
          <p:cNvSpPr/>
          <p:nvPr/>
        </p:nvSpPr>
        <p:spPr>
          <a:xfrm>
            <a:off x="-1005840" y="-822960"/>
            <a:ext cx="3383280" cy="2834640"/>
          </a:xfrm>
          <a:prstGeom prst="roundRect">
            <a:avLst>
              <a:gd name="adj" fmla="val 9677"/>
            </a:avLst>
          </a:prstGeom>
          <a:solidFill>
            <a:srgbClr val="DBE2EB"/>
          </a:solidFill>
          <a:ln w="12700">
            <a:solidFill>
              <a:srgbClr val="DBE2EB"/>
            </a:solidFill>
            <a:prstDash val="solid"/>
          </a:ln>
        </p:spPr>
      </p:sp>
      <p:sp>
        <p:nvSpPr>
          <p:cNvPr id="3" name="Text 1"/>
          <p:cNvSpPr/>
          <p:nvPr/>
        </p:nvSpPr>
        <p:spPr>
          <a:xfrm>
            <a:off x="502920" y="219456"/>
            <a:ext cx="11185855" cy="658368"/>
          </a:xfrm>
          <a:prstGeom prst="rect">
            <a:avLst/>
          </a:prstGeom>
          <a:noFill/>
          <a:ln/>
        </p:spPr>
        <p:txBody>
          <a:bodyPr wrap="square" lIns="0" tIns="0" rIns="0" bIns="0" rtlCol="0" anchor="ctr"/>
          <a:lstStyle/>
          <a:p>
            <a:pPr marL="0" indent="0">
              <a:buNone/>
            </a:pPr>
            <a:r>
              <a:rPr lang="en-US" sz="2900" b="1" dirty="0">
                <a:solidFill>
                  <a:srgbClr val="0F1B40"/>
                </a:solidFill>
                <a:latin typeface="Arial" pitchFamily="34" charset="0"/>
                <a:ea typeface="Arial" pitchFamily="34" charset="-122"/>
                <a:cs typeface="Arial" pitchFamily="34" charset="-120"/>
              </a:rPr>
              <a:t>Why the composite moved</a:t>
            </a:r>
            <a:endParaRPr lang="en-US" sz="2900" dirty="0"/>
          </a:p>
        </p:txBody>
      </p:sp>
      <p:sp>
        <p:nvSpPr>
          <p:cNvPr id="4" name="Shape 2"/>
          <p:cNvSpPr/>
          <p:nvPr/>
        </p:nvSpPr>
        <p:spPr>
          <a:xfrm>
            <a:off x="11478463" y="6236208"/>
            <a:ext cx="384048" cy="384048"/>
          </a:xfrm>
          <a:prstGeom prst="ellipse">
            <a:avLst/>
          </a:prstGeom>
          <a:solidFill>
            <a:srgbClr val="8FA3C1"/>
          </a:solidFill>
          <a:ln w="12700">
            <a:solidFill>
              <a:srgbClr val="8FA3C1"/>
            </a:solidFill>
            <a:prstDash val="solid"/>
          </a:ln>
        </p:spPr>
      </p:sp>
      <p:sp>
        <p:nvSpPr>
          <p:cNvPr id="5" name="Text 3"/>
          <p:cNvSpPr/>
          <p:nvPr/>
        </p:nvSpPr>
        <p:spPr>
          <a:xfrm>
            <a:off x="11478463" y="6236208"/>
            <a:ext cx="384048" cy="384048"/>
          </a:xfrm>
          <a:prstGeom prst="rect">
            <a:avLst/>
          </a:prstGeom>
          <a:noFill/>
          <a:ln/>
        </p:spPr>
        <p:txBody>
          <a:bodyPr wrap="square" lIns="0" tIns="0" rIns="0" bIns="0" rtlCol="0" anchor="ctr"/>
          <a:lstStyle/>
          <a:p>
            <a:pPr marL="0" indent="0" algn="ctr">
              <a:buNone/>
            </a:pPr>
            <a:r>
              <a:rPr lang="en-US" sz="1100" b="1" dirty="0">
                <a:solidFill>
                  <a:srgbClr val="0F1B40"/>
                </a:solidFill>
                <a:latin typeface="Calibri" pitchFamily="34" charset="0"/>
                <a:ea typeface="Calibri" pitchFamily="34" charset="-122"/>
                <a:cs typeface="Calibri" pitchFamily="34" charset="-120"/>
              </a:rPr>
              <a:t>20</a:t>
            </a:r>
            <a:endParaRPr lang="en-US" sz="1100" dirty="0"/>
          </a:p>
        </p:txBody>
      </p:sp>
      <p:sp>
        <p:nvSpPr>
          <p:cNvPr id="6" name="Shape 4"/>
          <p:cNvSpPr/>
          <p:nvPr/>
        </p:nvSpPr>
        <p:spPr>
          <a:xfrm>
            <a:off x="822960" y="896112"/>
            <a:ext cx="10543032" cy="4681728"/>
          </a:xfrm>
          <a:prstGeom prst="roundRect">
            <a:avLst>
              <a:gd name="adj" fmla="val 1172"/>
            </a:avLst>
          </a:prstGeom>
          <a:solidFill>
            <a:srgbClr val="FFFFFF"/>
          </a:solidFill>
          <a:ln w="9525">
            <a:solidFill>
              <a:srgbClr val="D5DBE4"/>
            </a:solidFill>
            <a:prstDash val="solid"/>
          </a:ln>
          <a:effectLst>
            <a:outerShdw blurRad="127000" dist="25400" dir="5400000" algn="bl" rotWithShape="0">
              <a:srgbClr val="A9B4C6">
                <a:alpha val="20000"/>
              </a:srgbClr>
            </a:outerShdw>
          </a:effectLst>
        </p:spPr>
      </p:sp>
      <p:pic>
        <p:nvPicPr>
          <p:cNvPr id="7" name="Image 0" descr="D:/Projects/FYP-demo-site/component-vise-intelligencescore-region1.png"/>
          <p:cNvPicPr>
            <a:picLocks noChangeAspect="1"/>
          </p:cNvPicPr>
          <p:nvPr/>
        </p:nvPicPr>
        <p:blipFill>
          <a:blip r:embed="rId3"/>
          <a:stretch>
            <a:fillRect/>
          </a:stretch>
        </p:blipFill>
        <p:spPr>
          <a:xfrm>
            <a:off x="1383132" y="1060704"/>
            <a:ext cx="9422688" cy="4352544"/>
          </a:xfrm>
          <a:prstGeom prst="rect">
            <a:avLst/>
          </a:prstGeom>
        </p:spPr>
      </p:pic>
      <p:sp>
        <p:nvSpPr>
          <p:cNvPr id="8" name="Shape 5"/>
          <p:cNvSpPr/>
          <p:nvPr/>
        </p:nvSpPr>
        <p:spPr>
          <a:xfrm>
            <a:off x="502920" y="5669280"/>
            <a:ext cx="2578608" cy="896112"/>
          </a:xfrm>
          <a:prstGeom prst="roundRect">
            <a:avLst>
              <a:gd name="adj" fmla="val 5102"/>
            </a:avLst>
          </a:prstGeom>
          <a:solidFill>
            <a:srgbClr val="FFFFFF"/>
          </a:solidFill>
          <a:ln w="9525">
            <a:solidFill>
              <a:srgbClr val="D5DBE4"/>
            </a:solidFill>
            <a:prstDash val="solid"/>
          </a:ln>
        </p:spPr>
        <p:txBody>
          <a:bodyPr/>
          <a:lstStyle/>
          <a:p>
            <a:endParaRPr lang="en-US" dirty="0"/>
          </a:p>
        </p:txBody>
      </p:sp>
      <p:sp>
        <p:nvSpPr>
          <p:cNvPr id="9" name="Shape 6"/>
          <p:cNvSpPr/>
          <p:nvPr/>
        </p:nvSpPr>
        <p:spPr>
          <a:xfrm>
            <a:off x="502920" y="5669280"/>
            <a:ext cx="73152" cy="896112"/>
          </a:xfrm>
          <a:prstGeom prst="rect">
            <a:avLst/>
          </a:prstGeom>
          <a:solidFill>
            <a:srgbClr val="16A34A"/>
          </a:solidFill>
          <a:ln w="12700">
            <a:solidFill>
              <a:srgbClr val="16A34A"/>
            </a:solidFill>
            <a:prstDash val="solid"/>
          </a:ln>
        </p:spPr>
      </p:sp>
      <p:sp>
        <p:nvSpPr>
          <p:cNvPr id="10" name="Text 7"/>
          <p:cNvSpPr/>
          <p:nvPr/>
        </p:nvSpPr>
        <p:spPr>
          <a:xfrm>
            <a:off x="7040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LLM reliability and detection evidence saturate at 100%</a:t>
            </a:r>
            <a:endParaRPr lang="en-US" sz="1400" dirty="0"/>
          </a:p>
        </p:txBody>
      </p:sp>
      <p:sp>
        <p:nvSpPr>
          <p:cNvPr id="11" name="Shape 8"/>
          <p:cNvSpPr/>
          <p:nvPr/>
        </p:nvSpPr>
        <p:spPr>
          <a:xfrm>
            <a:off x="3246120" y="5669280"/>
            <a:ext cx="2578608" cy="896112"/>
          </a:xfrm>
          <a:prstGeom prst="roundRect">
            <a:avLst>
              <a:gd name="adj" fmla="val 5102"/>
            </a:avLst>
          </a:prstGeom>
          <a:solidFill>
            <a:srgbClr val="FFFFFF"/>
          </a:solidFill>
          <a:ln w="9525">
            <a:solidFill>
              <a:srgbClr val="D5DBE4"/>
            </a:solidFill>
            <a:prstDash val="solid"/>
          </a:ln>
        </p:spPr>
        <p:txBody>
          <a:bodyPr/>
          <a:lstStyle/>
          <a:p>
            <a:endParaRPr lang="en-US" dirty="0"/>
          </a:p>
        </p:txBody>
      </p:sp>
      <p:sp>
        <p:nvSpPr>
          <p:cNvPr id="12" name="Shape 9"/>
          <p:cNvSpPr/>
          <p:nvPr/>
        </p:nvSpPr>
        <p:spPr>
          <a:xfrm>
            <a:off x="3246120" y="5669280"/>
            <a:ext cx="73152" cy="896112"/>
          </a:xfrm>
          <a:prstGeom prst="rect">
            <a:avLst/>
          </a:prstGeom>
          <a:solidFill>
            <a:srgbClr val="0E7490"/>
          </a:solidFill>
          <a:ln w="12700">
            <a:solidFill>
              <a:srgbClr val="0E7490"/>
            </a:solidFill>
            <a:prstDash val="solid"/>
          </a:ln>
        </p:spPr>
      </p:sp>
      <p:sp>
        <p:nvSpPr>
          <p:cNvPr id="13" name="Text 10"/>
          <p:cNvSpPr/>
          <p:nvPr/>
        </p:nvSpPr>
        <p:spPr>
          <a:xfrm>
            <a:off x="34472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Retrieval steps up late: Recall@3 54.2%, MRR 50.0%</a:t>
            </a:r>
            <a:endParaRPr lang="en-US" sz="1400" dirty="0"/>
          </a:p>
        </p:txBody>
      </p:sp>
      <p:sp>
        <p:nvSpPr>
          <p:cNvPr id="14" name="Shape 11"/>
          <p:cNvSpPr/>
          <p:nvPr/>
        </p:nvSpPr>
        <p:spPr>
          <a:xfrm>
            <a:off x="5989320" y="5669280"/>
            <a:ext cx="2578608" cy="896112"/>
          </a:xfrm>
          <a:prstGeom prst="roundRect">
            <a:avLst>
              <a:gd name="adj" fmla="val 5102"/>
            </a:avLst>
          </a:prstGeom>
          <a:solidFill>
            <a:srgbClr val="FFFFFF"/>
          </a:solidFill>
          <a:ln w="9525">
            <a:solidFill>
              <a:srgbClr val="D5DBE4"/>
            </a:solidFill>
            <a:prstDash val="solid"/>
          </a:ln>
        </p:spPr>
      </p:sp>
      <p:sp>
        <p:nvSpPr>
          <p:cNvPr id="15" name="Shape 12"/>
          <p:cNvSpPr/>
          <p:nvPr/>
        </p:nvSpPr>
        <p:spPr>
          <a:xfrm>
            <a:off x="5989320" y="5669280"/>
            <a:ext cx="73152" cy="896112"/>
          </a:xfrm>
          <a:prstGeom prst="rect">
            <a:avLst/>
          </a:prstGeom>
          <a:solidFill>
            <a:srgbClr val="E11D48"/>
          </a:solidFill>
          <a:ln w="12700">
            <a:solidFill>
              <a:srgbClr val="E11D48"/>
            </a:solidFill>
            <a:prstDash val="solid"/>
          </a:ln>
        </p:spPr>
      </p:sp>
      <p:sp>
        <p:nvSpPr>
          <p:cNvPr id="16" name="Text 13"/>
          <p:cNvSpPr/>
          <p:nvPr/>
        </p:nvSpPr>
        <p:spPr>
          <a:xfrm>
            <a:off x="61904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Every one of the six components improved on its starting value</a:t>
            </a:r>
            <a:endParaRPr lang="en-US" sz="1400" dirty="0"/>
          </a:p>
        </p:txBody>
      </p:sp>
      <p:sp>
        <p:nvSpPr>
          <p:cNvPr id="17" name="Shape 14"/>
          <p:cNvSpPr/>
          <p:nvPr/>
        </p:nvSpPr>
        <p:spPr>
          <a:xfrm>
            <a:off x="8607247" y="5669280"/>
            <a:ext cx="2578608" cy="896112"/>
          </a:xfrm>
          <a:prstGeom prst="roundRect">
            <a:avLst>
              <a:gd name="adj" fmla="val 5102"/>
            </a:avLst>
          </a:prstGeom>
          <a:solidFill>
            <a:srgbClr val="FFFFFF"/>
          </a:solidFill>
          <a:ln w="9525">
            <a:solidFill>
              <a:srgbClr val="D5DBE4"/>
            </a:solidFill>
            <a:prstDash val="solid"/>
          </a:ln>
        </p:spPr>
      </p:sp>
      <p:sp>
        <p:nvSpPr>
          <p:cNvPr id="18" name="Shape 15"/>
          <p:cNvSpPr/>
          <p:nvPr/>
        </p:nvSpPr>
        <p:spPr>
          <a:xfrm>
            <a:off x="8732520" y="5669280"/>
            <a:ext cx="73152" cy="896112"/>
          </a:xfrm>
          <a:prstGeom prst="rect">
            <a:avLst/>
          </a:prstGeom>
          <a:solidFill>
            <a:srgbClr val="D97706"/>
          </a:solidFill>
          <a:ln w="12700">
            <a:solidFill>
              <a:srgbClr val="D97706"/>
            </a:solidFill>
            <a:prstDash val="solid"/>
          </a:ln>
        </p:spPr>
      </p:sp>
      <p:sp>
        <p:nvSpPr>
          <p:cNvPr id="19" name="Text 16"/>
          <p:cNvSpPr/>
          <p:nvPr/>
        </p:nvSpPr>
        <p:spPr>
          <a:xfrm>
            <a:off x="8933688" y="5724144"/>
            <a:ext cx="2249424" cy="786384"/>
          </a:xfrm>
          <a:prstGeom prst="rect">
            <a:avLst/>
          </a:prstGeom>
          <a:noFill/>
          <a:ln/>
        </p:spPr>
        <p:txBody>
          <a:bodyPr wrap="square" lIns="0" tIns="0" rIns="0" bIns="0" rtlCol="0" anchor="ctr"/>
          <a:lstStyle/>
          <a:p>
            <a:pPr marL="0" indent="0">
              <a:lnSpc>
                <a:spcPts val="1350"/>
              </a:lnSpc>
              <a:buNone/>
            </a:pPr>
            <a:r>
              <a:rPr lang="en-US" sz="1400" dirty="0">
                <a:solidFill>
                  <a:srgbClr val="3B4557"/>
                </a:solidFill>
                <a:latin typeface="Calibri" pitchFamily="34" charset="0"/>
                <a:ea typeface="Calibri" pitchFamily="34" charset="-122"/>
                <a:cs typeface="Calibri" pitchFamily="34" charset="-120"/>
              </a:rPr>
              <a:t>Severity accuracy climbed ≈40% → 71.4% across the campaign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TotalTime>
  <Words>487</Words>
  <Application>Microsoft Office PowerPoint</Application>
  <PresentationFormat>Widescreen</PresentationFormat>
  <Paragraphs>17</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results — additional slides</dc:title>
  <dc:subject>PptxGenJS Presentation</dc:subject>
  <dc:creator>PptxGenJS</dc:creator>
  <cp:lastModifiedBy>Ravindu Achintha</cp:lastModifiedBy>
  <cp:revision>3</cp:revision>
  <dcterms:created xsi:type="dcterms:W3CDTF">2026-08-31T10:26:02Z</dcterms:created>
  <dcterms:modified xsi:type="dcterms:W3CDTF">2026-08-31T17:31:17Z</dcterms:modified>
</cp:coreProperties>
</file>