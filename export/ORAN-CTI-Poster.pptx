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5862300" cy="211582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93115" y="284068"/>
            <a:ext cx="14276070" cy="4652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93115" y="4936913"/>
            <a:ext cx="14276070" cy="1622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666778" y="19045366"/>
            <a:ext cx="3701204" cy="1130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jp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24" descr="Image 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19259"/>
            <a:ext cx="15873985" cy="2438518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 4"/>
          <p:cNvSpPr txBox="1"/>
          <p:nvPr/>
        </p:nvSpPr>
        <p:spPr>
          <a:xfrm>
            <a:off x="304780" y="1524072"/>
            <a:ext cx="15399882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CYBER THREAT INTELLIGENCE (CTI) PLATFORM FOR OPEN RAN</a:t>
            </a:r>
          </a:p>
        </p:txBody>
      </p:sp>
      <p:pic>
        <p:nvPicPr>
          <p:cNvPr id="22" name="Image 25" descr="Imag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04779" y="2616325"/>
            <a:ext cx="11441970" cy="736636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5"/>
          <p:cNvSpPr txBox="1"/>
          <p:nvPr/>
        </p:nvSpPr>
        <p:spPr>
          <a:xfrm>
            <a:off x="304779" y="2768732"/>
            <a:ext cx="1151229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FFFFF"/>
                </a:solidFill>
                <a:latin typeface="Inter Semi Bold"/>
                <a:ea typeface="Inter Semi Bold"/>
                <a:cs typeface="Inter Semi Bold"/>
                <a:sym typeface="Inter Semi Bold"/>
              </a:defRPr>
            </a:lvl1pPr>
          </a:lstStyle>
          <a:p>
            <a:pPr/>
            <a:r>
              <a:t>Madakaladeniya I.U., Wijesinghe S.A., Rathnaweera P.A.G.N., Achintha H.G.R.</a:t>
            </a:r>
          </a:p>
        </p:txBody>
      </p:sp>
      <p:sp>
        <p:nvSpPr>
          <p:cNvPr id="24" name="Text 6"/>
          <p:cNvSpPr txBox="1"/>
          <p:nvPr/>
        </p:nvSpPr>
        <p:spPr>
          <a:xfrm>
            <a:off x="304779" y="3111649"/>
            <a:ext cx="1150969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FFFFF"/>
                </a:solidFill>
                <a:latin typeface="Inter Regular"/>
                <a:ea typeface="Inter Regular"/>
                <a:cs typeface="Inter Regular"/>
                <a:sym typeface="Inter Regular"/>
              </a:defRPr>
            </a:lvl1pPr>
          </a:lstStyle>
          <a:p>
            <a:pPr/>
            <a:r>
              <a:t>Supervised by Dr. (Eng.) W.N.B.A. Geeth Priyankara and Asst. Prof. Pasika Ranaweera</a:t>
            </a:r>
          </a:p>
        </p:txBody>
      </p:sp>
      <p:pic>
        <p:nvPicPr>
          <p:cNvPr id="92" name="Image 56" descr="Image 5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0" y="20270173"/>
            <a:ext cx="15873985" cy="889044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 58"/>
          <p:cNvSpPr txBox="1"/>
          <p:nvPr/>
        </p:nvSpPr>
        <p:spPr>
          <a:xfrm>
            <a:off x="5130472" y="20473382"/>
            <a:ext cx="567230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latin typeface="Inter Semi Bold"/>
                <a:ea typeface="Inter Semi Bold"/>
                <a:cs typeface="Inter Semi Bold"/>
                <a:sym typeface="Inter Semi Bold"/>
              </a:defRPr>
            </a:lvl1pPr>
          </a:lstStyle>
          <a:p>
            <a:pPr/>
            <a:r>
              <a:t>DEPARTMENT OF ELECTRICAL AND INFORMATION ENGINEERING</a:t>
            </a:r>
          </a:p>
        </p:txBody>
      </p:sp>
      <p:sp>
        <p:nvSpPr>
          <p:cNvPr id="94" name="Text 59"/>
          <p:cNvSpPr txBox="1"/>
          <p:nvPr/>
        </p:nvSpPr>
        <p:spPr>
          <a:xfrm>
            <a:off x="5638439" y="20740095"/>
            <a:ext cx="465637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latin typeface="Inter Semi Bold"/>
                <a:ea typeface="Inter Semi Bold"/>
                <a:cs typeface="Inter Semi Bold"/>
                <a:sym typeface="Inter Semi Bold"/>
              </a:defRPr>
            </a:lvl1pPr>
          </a:lstStyle>
          <a:p>
            <a:pPr/>
            <a:r>
              <a:t>FACULTY OF ENGINEERING, UNIVERSITY OF RUHUNA</a:t>
            </a:r>
          </a:p>
        </p:txBody>
      </p:sp>
      <p:pic>
        <p:nvPicPr>
          <p:cNvPr id="95" name="Logo Container.png" descr="Logo Container.png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-1" y="-3004"/>
            <a:ext cx="15862301" cy="1218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Picture 95" descr="c_4_33_3_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1752" y="3959352"/>
            <a:ext cx="7479792" cy="301752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01752" y="405993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Abstract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2064" y="4507992"/>
            <a:ext cx="7059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Open RAN disaggregates the radio access network across multi-vendor components connected by open interfaces. That openness enables innovation but widens the attack surface, while general-purpose CTI platforms describe enterprise IT assets and cannot express which O-RAN component or interface a threat actually affects. This project delivers an O-RAN-native Cyber Threat Intelligence platform deployed across four regions on a Netslab K3s testbed with active O-RAN SC Near-RT RIC services, srsRAN radio workloads and an Open5GS 5G core. Regional Mini-RAG agents contextualise threats against their own knowledge base and escalate to a central Global-RAG over the Model Context Protocol only when local evidence is insufficient, while an Inter-Platform Agent distributes sanitised intelligence to peer regions that do not already hold it. A guarded controller executes bounded mitigations with verification and rollback.</a:t>
            </a:r>
          </a:p>
        </p:txBody>
      </p:sp>
      <p:pic>
        <p:nvPicPr>
          <p:cNvPr id="99" name="Picture 98" descr="c_7_93_2_7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1752" y="7251192"/>
            <a:ext cx="7479792" cy="246888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01752" y="7351775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2064" y="7799831"/>
            <a:ext cx="705916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O-RAN replaces closed, single-vendor base stations with disaggregated O-RU, O-DU and O-CU functions coordinated by RAN Intelligent Controllers over the open E2, A1, O1 and Open Fronthaul interfaces.</a:t>
            </a:r>
          </a:p>
          <a:p>
            <a:pPr>
              <a:spcAft>
                <a:spcPts val="600"/>
              </a:spcAft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The resulting attack surface spans the radio units, the RIC and its xApps and rApps, and the O-Cloud platform beneath them. Security evidence is therefore produced in different administrative, geographic and timing domains rather than at one central observation point, which makes a conventional centralised CTI workflow a poor fit for the architecture.</a:t>
            </a:r>
          </a:p>
        </p:txBody>
      </p:sp>
      <p:pic>
        <p:nvPicPr>
          <p:cNvPr id="102" name="Picture 101" descr="c_10_93_2_5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1752" y="9994392"/>
            <a:ext cx="7479792" cy="22860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01752" y="1009497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2064" y="10543032"/>
            <a:ext cx="7059168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A security event affecting an O-DU, an E2 interface or an xApp is not simply a generic software vulnerability. Its significance depends on the component's role, its relationships with other O-RAN functions, the affected control or user-plane path and the current operational state.</a:t>
            </a:r>
          </a:p>
          <a:p>
            <a:pPr>
              <a:spcAft>
                <a:spcPts val="600"/>
              </a:spcAft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Existing CTI platforms offer mature enterprise workflows but no native O-RAN semantics. Technically valid intelligence therefore cannot be connected to the exposed radio component, interface or RIC application, which leads to irrelevant retrieval, delayed decisions and inappropriate mitigation.</a:t>
            </a:r>
          </a:p>
        </p:txBody>
      </p:sp>
      <p:pic>
        <p:nvPicPr>
          <p:cNvPr id="105" name="Picture 104" descr="c_13_73_4_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1752" y="12554712"/>
            <a:ext cx="7479792" cy="411480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301752" y="1265529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Aims &amp; Objectives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2064" y="13103352"/>
            <a:ext cx="705916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400">
                <a:latin typeface="Inter Bold"/>
                <a:ea typeface="Inter Bold"/>
                <a:cs typeface="Inter Bold"/>
                <a:sym typeface="Inter Bold"/>
              </a:rPr>
              <a:t>Aim</a:t>
            </a:r>
          </a:p>
          <a:p>
            <a:pPr>
              <a:spcAft>
                <a:spcPts val="900"/>
              </a:spcAft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To design, implement and validate an evidence-grounded, O-RAN-specific CTI knowledge framework that converts heterogeneous observations into component-aware and actionable intelligence, enriched through controlled cross-region learning.</a:t>
            </a:r>
          </a:p>
          <a:p>
            <a:pPr>
              <a:spcAft>
                <a:spcPts val="300"/>
              </a:spcAft>
              <a:defRPr sz="14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400">
                <a:latin typeface="Inter Bold"/>
                <a:ea typeface="Inter Bold"/>
                <a:cs typeface="Inter Bold"/>
                <a:sym typeface="Inter Bold"/>
              </a:rPr>
              <a:t>Objectives</a:t>
            </a:r>
          </a:p>
          <a:p>
            <a:pPr lvl="1" marL="685800" indent="-342900">
              <a:spcAft>
                <a:spcPts val="4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Build a disaggregated multi-region O-RAN CTI platform that collects explainable evidence from E2SM-KPM, Prometheus, Loki and Falco into dynamic, O-RAN-aware CTI registries.</a:t>
            </a:r>
          </a:p>
          <a:p>
            <a:pPr lvl="1" marL="685800" indent="-342900">
              <a:spcAft>
                <a:spcPts val="4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Integrate agentic AI so regional RAG agents contextualise threats, escalate to Global-RAG over MCP when evidence is insufficient, and learn eligible knowledge back into their region.</a:t>
            </a:r>
          </a:p>
          <a:p>
            <a:pPr lvl="1" marL="685800" indent="-342900">
              <a:spcAft>
                <a:spcPts val="4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Distribute confirmed intelligence between regions with sanitisation, semantic de-duplication and preserved provenance, never by writing into another region's data.</a:t>
            </a:r>
          </a:p>
          <a:p>
            <a:pPr lvl="1" marL="685800" indent="-342900">
              <a:spcAft>
                <a:spcPts val="4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Keep response under deterministic policy gates, with operator approval where required, effect verification and rollback.</a:t>
            </a:r>
          </a:p>
          <a:p>
            <a:pPr lvl="1" marL="685800" indent="-342900">
              <a:spcAft>
                <a:spcPts val="4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Validate the platform with a frozen intelligence benchmark, controlled detector and mitigation experiments, and a comparison against an isolated OpenCTI baseline.</a:t>
            </a:r>
          </a:p>
        </p:txBody>
      </p:sp>
      <p:pic>
        <p:nvPicPr>
          <p:cNvPr id="108" name="Picture 107" descr="c_4_33_3_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1752" y="16943832"/>
            <a:ext cx="7479792" cy="301752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01752" y="1704441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Methodology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12064" y="17547336"/>
            <a:ext cx="2212848" cy="1024128"/>
          </a:xfrm>
          <a:prstGeom prst="roundRect">
            <a:avLst>
              <a:gd name="adj" fmla="val 8000"/>
            </a:avLst>
          </a:prstGeom>
          <a:solidFill>
            <a:srgbClr val="F2F8FF"/>
          </a:solidFill>
          <a:ln w="12700">
            <a:solidFill>
              <a:srgbClr val="AC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1792" y="17657064"/>
            <a:ext cx="199339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50">
                <a:latin typeface="Inter Bold"/>
                <a:ea typeface="Inter Bold"/>
                <a:cs typeface="Inter Bold"/>
                <a:sym typeface="Inter Bold"/>
              </a:rPr>
              <a:t>1. CTI Ingestion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1792" y="17931384"/>
            <a:ext cx="1993391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950">
                <a:latin typeface="Inter Medium"/>
                <a:ea typeface="Inter Medium"/>
                <a:cs typeface="Inter Medium"/>
                <a:sym typeface="Inter Medium"/>
              </a:rPr>
              <a:t>MITRE ATT&amp;CK and FiGHT normalised to STIX 2.1, then pruned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907792" y="17547336"/>
            <a:ext cx="2212848" cy="1024128"/>
          </a:xfrm>
          <a:prstGeom prst="roundRect">
            <a:avLst>
              <a:gd name="adj" fmla="val 8000"/>
            </a:avLst>
          </a:prstGeom>
          <a:solidFill>
            <a:srgbClr val="F2F8FF"/>
          </a:solidFill>
          <a:ln w="12700">
            <a:solidFill>
              <a:srgbClr val="AC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017520" y="17657064"/>
            <a:ext cx="199339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50">
                <a:latin typeface="Inter Bold"/>
                <a:ea typeface="Inter Bold"/>
                <a:cs typeface="Inter Bold"/>
                <a:sym typeface="Inter Bold"/>
              </a:rPr>
              <a:t>2. Semantic Pruning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17520" y="17931384"/>
            <a:ext cx="1993391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950">
                <a:latin typeface="Inter Medium"/>
                <a:ea typeface="Inter Medium"/>
                <a:cs typeface="Inter Medium"/>
                <a:sym typeface="Inter Medium"/>
              </a:rPr>
              <a:t>Max-Sim relevance and 2-hop BFS reduce the footprint 85-90%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303520" y="17547336"/>
            <a:ext cx="2212848" cy="1024128"/>
          </a:xfrm>
          <a:prstGeom prst="roundRect">
            <a:avLst>
              <a:gd name="adj" fmla="val 8000"/>
            </a:avLst>
          </a:prstGeom>
          <a:solidFill>
            <a:srgbClr val="F2F8FF"/>
          </a:solidFill>
          <a:ln w="12700">
            <a:solidFill>
              <a:srgbClr val="AC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13248" y="17657064"/>
            <a:ext cx="199339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50">
                <a:latin typeface="Inter Bold"/>
                <a:ea typeface="Inter Bold"/>
                <a:cs typeface="Inter Bold"/>
                <a:sym typeface="Inter Bold"/>
              </a:rPr>
              <a:t>3. Detection Gateway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13248" y="17931384"/>
            <a:ext cx="1993391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950">
                <a:latin typeface="Inter Medium"/>
                <a:ea typeface="Inter Medium"/>
                <a:cs typeface="Inter Medium"/>
                <a:sym typeface="Inter Medium"/>
              </a:rPr>
              <a:t>Prometheus, Loki, Falco and KPM into one transparent schema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12064" y="18736056"/>
            <a:ext cx="2212848" cy="1024128"/>
          </a:xfrm>
          <a:prstGeom prst="roundRect">
            <a:avLst>
              <a:gd name="adj" fmla="val 8000"/>
            </a:avLst>
          </a:prstGeom>
          <a:solidFill>
            <a:srgbClr val="F2F8FF"/>
          </a:solidFill>
          <a:ln w="12700">
            <a:solidFill>
              <a:srgbClr val="AC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1792" y="18845784"/>
            <a:ext cx="199339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50">
                <a:latin typeface="Inter Bold"/>
                <a:ea typeface="Inter Bold"/>
                <a:cs typeface="Inter Bold"/>
                <a:sym typeface="Inter Bold"/>
              </a:rPr>
              <a:t>4. Regional Mini-RAG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1792" y="19120104"/>
            <a:ext cx="1993391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950">
                <a:latin typeface="Inter Medium"/>
                <a:ea typeface="Inter Medium"/>
                <a:cs typeface="Inter Medium"/>
                <a:sym typeface="Inter Medium"/>
              </a:rPr>
              <a:t>Local vector retrieval, severity and routing decision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907792" y="18736056"/>
            <a:ext cx="2212848" cy="1024128"/>
          </a:xfrm>
          <a:prstGeom prst="roundRect">
            <a:avLst>
              <a:gd name="adj" fmla="val 8000"/>
            </a:avLst>
          </a:prstGeom>
          <a:solidFill>
            <a:srgbClr val="F2F8FF"/>
          </a:solidFill>
          <a:ln w="12700">
            <a:solidFill>
              <a:srgbClr val="AC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017520" y="18845784"/>
            <a:ext cx="199339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50">
                <a:latin typeface="Inter Bold"/>
                <a:ea typeface="Inter Bold"/>
                <a:cs typeface="Inter Bold"/>
                <a:sym typeface="Inter Bold"/>
              </a:rPr>
              <a:t>5. Global Escalation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17520" y="19120104"/>
            <a:ext cx="1993391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950">
                <a:latin typeface="Inter Medium"/>
                <a:ea typeface="Inter Medium"/>
                <a:cs typeface="Inter Medium"/>
                <a:sym typeface="Inter Medium"/>
              </a:rPr>
              <a:t>global_rag.analyze_threat over MCP/SSE, then regional learning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303520" y="18736056"/>
            <a:ext cx="2212848" cy="1024128"/>
          </a:xfrm>
          <a:prstGeom prst="roundRect">
            <a:avLst>
              <a:gd name="adj" fmla="val 8000"/>
            </a:avLst>
          </a:prstGeom>
          <a:solidFill>
            <a:srgbClr val="F2F8FF"/>
          </a:solidFill>
          <a:ln w="12700">
            <a:solidFill>
              <a:srgbClr val="AC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13248" y="18845784"/>
            <a:ext cx="1993391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50">
                <a:latin typeface="Inter Bold"/>
                <a:ea typeface="Inter Bold"/>
                <a:cs typeface="Inter Bold"/>
                <a:sym typeface="Inter Bold"/>
              </a:rPr>
              <a:t>6. Guarded Mitigation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13248" y="19120104"/>
            <a:ext cx="1993391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950">
                <a:latin typeface="Inter Medium"/>
                <a:ea typeface="Inter Medium"/>
                <a:cs typeface="Inter Medium"/>
                <a:sym typeface="Inter Medium"/>
              </a:rPr>
              <a:t>Safety gates, actuation, PromQL verification and rollback</a:t>
            </a:r>
          </a:p>
        </p:txBody>
      </p:sp>
      <p:pic>
        <p:nvPicPr>
          <p:cNvPr id="128" name="Picture 127" descr="c_4_33_5_7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92440" y="3959352"/>
            <a:ext cx="7479792" cy="525780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8092440" y="405993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System Architecture</a:t>
            </a:r>
          </a:p>
        </p:txBody>
      </p:sp>
      <p:pic>
        <p:nvPicPr>
          <p:cNvPr id="130" name="Picture 129" descr="overview-image-new.jpe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46240" y="4489704"/>
            <a:ext cx="6172190" cy="4407408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8302752" y="8915400"/>
            <a:ext cx="70591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950">
                <a:latin typeface="Inter Medium"/>
                <a:ea typeface="Inter Medium"/>
                <a:cs typeface="Inter Medium"/>
                <a:sym typeface="Inter Medium"/>
              </a:rPr>
              <a:t>Four Near-RT RIC regions with their own RAN, xApps, Mini-RAG and Inter-Platform Agent, under one Non-RT RIC / SMO platform.</a:t>
            </a:r>
          </a:p>
        </p:txBody>
      </p:sp>
      <p:pic>
        <p:nvPicPr>
          <p:cNvPr id="132" name="Picture 131" descr="c_10_38_3_25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2440" y="9491472"/>
            <a:ext cx="7479792" cy="2971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8092440" y="959205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Results &amp; Evaluation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302752" y="10040112"/>
            <a:ext cx="7059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 marL="685800" indent="-342900">
              <a:spcAft>
                <a:spcPts val="5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Closed-loop intelligence score rose from 30.6% to 75.6% across nine complete measurement sessions (mean 64.4%, SD 12.6 pp) on the frozen benchmark.</a:t>
            </a:r>
          </a:p>
          <a:p>
            <a:pPr lvl="1" marL="685800" indent="-342900">
              <a:spcAft>
                <a:spcPts val="5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100% LLM generation reliability and 100% end-to-end detector capture in the latest session; severity accuracy 71.4% and grounded Recall@3 54.2%.</a:t>
            </a:r>
          </a:p>
          <a:p>
            <a:pPr lvl="1" marL="685800" indent="-342900">
              <a:spcAft>
                <a:spcPts val="5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750 bounded security events emulated over a five-day campaign across eight threat families in two evaluated regions.</a:t>
            </a:r>
          </a:p>
          <a:p>
            <a:pPr lvl="1" marL="685800" indent="-342900">
              <a:spcAft>
                <a:spcPts val="5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85-90% reduction in CTI data footprint after semantic pruning and graph reduction.</a:t>
            </a:r>
          </a:p>
          <a:p>
            <a:pPr lvl="1" marL="685800" indent="-342900">
              <a:spcAft>
                <a:spcPts val="500"/>
              </a:spcAft>
              <a:buSzPct val="100000"/>
              <a:buChar char="•"/>
              <a:defRPr sz="12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200">
                <a:latin typeface="Inter Medium"/>
                <a:ea typeface="Inter Medium"/>
                <a:cs typeface="Inter Medium"/>
                <a:sym typeface="Inter Medium"/>
              </a:rPr>
              <a:t>Cross-region pre-arming let a peer region respond without repeating the full analysis loop (N = 10 bounded quarantine trials).</a:t>
            </a:r>
          </a:p>
        </p:txBody>
      </p:sp>
      <p:pic>
        <p:nvPicPr>
          <p:cNvPr id="135" name="Picture 134" descr="c_13_93_3_0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92440" y="12737592"/>
            <a:ext cx="7479792" cy="274320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8092440" y="1283817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Benchmark against OpenCTI 6.0+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02752" y="13286232"/>
            <a:ext cx="70591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050">
                <a:latin typeface="Inter Medium"/>
                <a:ea typeface="Inter Medium"/>
                <a:cs typeface="Inter Medium"/>
                <a:sym typeface="Inter Medium"/>
              </a:rPr>
              <a:t>Six ground-truth 5G security scenarios executed concurrently against both platforms.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02752" y="13560552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00">
                <a:latin typeface="Inter Bold"/>
                <a:ea typeface="Inter Bold"/>
                <a:cs typeface="Inter Bold"/>
                <a:sym typeface="Inter Bold"/>
              </a:rPr>
              <a:t>Evaluation metric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914632" y="13560552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00">
                <a:latin typeface="Inter Bold"/>
                <a:ea typeface="Inter Bold"/>
                <a:cs typeface="Inter Bold"/>
                <a:sym typeface="Inter Bold"/>
              </a:rPr>
              <a:t>Our platform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606272" y="13560552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100">
                <a:latin typeface="Inter Bold"/>
                <a:ea typeface="Inter Bold"/>
                <a:cs typeface="Inter Bold"/>
                <a:sym typeface="Inter Bold"/>
              </a:rPr>
              <a:t>OpenCTI 6.0+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02752" y="13816584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STIX precision (Recall@3)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914632" y="13816584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Bold"/>
                <a:ea typeface="Inter Bold"/>
                <a:cs typeface="Inter Bold"/>
                <a:sym typeface="Inter Bold"/>
                <a:solidFill>
                  <a:srgbClr val="15803D"/>
                </a:solidFill>
              </a:defRPr>
            </a:pPr>
            <a:r>
              <a:rPr sz="1100">
                <a:latin typeface="Inter Bold"/>
                <a:ea typeface="Inter Bold"/>
                <a:cs typeface="Inter Bold"/>
                <a:sym typeface="Inter Bold"/>
                <a:solidFill>
                  <a:srgbClr val="15803D"/>
                </a:solidFill>
              </a:rPr>
              <a:t>100.0%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606272" y="13816584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Bold"/>
                <a:ea typeface="Inter Bold"/>
                <a:cs typeface="Inter Bold"/>
                <a:sym typeface="Inter Bold"/>
                <a:solidFill>
                  <a:srgbClr val="BE123C"/>
                </a:solidFill>
              </a:defRPr>
            </a:pPr>
            <a:r>
              <a:rPr sz="1100">
                <a:latin typeface="Inter Bold"/>
                <a:ea typeface="Inter Bold"/>
                <a:cs typeface="Inter Bold"/>
                <a:sym typeface="Inter Bold"/>
                <a:solidFill>
                  <a:srgbClr val="BE123C"/>
                </a:solidFill>
              </a:rPr>
              <a:t>0.0%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02752" y="14081759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STIX taxonomy alignment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914632" y="14081759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Bold"/>
                <a:ea typeface="Inter Bold"/>
                <a:cs typeface="Inter Bold"/>
                <a:sym typeface="Inter Bold"/>
                <a:solidFill>
                  <a:srgbClr val="15803D"/>
                </a:solidFill>
              </a:defRPr>
            </a:pPr>
            <a:r>
              <a:rPr sz="1100">
                <a:latin typeface="Inter Bold"/>
                <a:ea typeface="Inter Bold"/>
                <a:cs typeface="Inter Bold"/>
                <a:sym typeface="Inter Bold"/>
                <a:solidFill>
                  <a:srgbClr val="15803D"/>
                </a:solidFill>
              </a:rPr>
              <a:t>100.0%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3606272" y="14081759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Bold"/>
                <a:ea typeface="Inter Bold"/>
                <a:cs typeface="Inter Bold"/>
                <a:sym typeface="Inter Bold"/>
                <a:solidFill>
                  <a:srgbClr val="BE123C"/>
                </a:solidFill>
              </a:defRPr>
            </a:pPr>
            <a:r>
              <a:rPr sz="1100">
                <a:latin typeface="Inter Bold"/>
                <a:ea typeface="Inter Bold"/>
                <a:cs typeface="Inter Bold"/>
                <a:sym typeface="Inter Bold"/>
                <a:solidFill>
                  <a:srgbClr val="BE123C"/>
                </a:solidFill>
              </a:rPr>
              <a:t>33.3%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02752" y="14346936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End-to-end detection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914632" y="14346936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100.0%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3606272" y="14346936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100.0%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02752" y="14612111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Platform stability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914632" y="14612111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100.0%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606272" y="14612111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100.0%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02752" y="14877288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STIX confidence validation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914632" y="14877288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90.0%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606272" y="14877288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100.0%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02752" y="15142463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Operational CTI latency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914632" y="15142463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3755 ms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606272" y="15142463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100">
                <a:latin typeface="Inter Medium"/>
                <a:ea typeface="Inter Medium"/>
                <a:cs typeface="Inter Medium"/>
                <a:sym typeface="Inter Medium"/>
              </a:rPr>
              <a:t>37.7 ms</a:t>
            </a:r>
          </a:p>
        </p:txBody>
      </p:sp>
      <p:pic>
        <p:nvPicPr>
          <p:cNvPr id="159" name="Picture 158" descr="c_17_23_2_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92440" y="15755112"/>
            <a:ext cx="7479792" cy="237744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8092440" y="1585569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Live Platform</a:t>
            </a:r>
          </a:p>
        </p:txBody>
      </p:sp>
      <p:pic>
        <p:nvPicPr>
          <p:cNvPr id="161" name="Picture 160" descr="dashboard_crop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66760" y="16322040"/>
            <a:ext cx="3875833" cy="1691640"/>
          </a:xfrm>
          <a:prstGeom prst="rect">
            <a:avLst/>
          </a:prstGeom>
        </p:spPr>
      </p:pic>
      <p:pic>
        <p:nvPicPr>
          <p:cNvPr id="162" name="Picture 161" descr="qr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626641" y="16358616"/>
            <a:ext cx="1225296" cy="1225296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2306601" y="17657064"/>
            <a:ext cx="186537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900">
                <a:latin typeface="Inter Medium"/>
                <a:ea typeface="Inter Medium"/>
                <a:cs typeface="Inter Medium"/>
                <a:sym typeface="Inter Medium"/>
              </a:rPr>
              <a:t>Scan for the interactive project walkthrough</a:t>
            </a:r>
          </a:p>
        </p:txBody>
      </p:sp>
      <p:pic>
        <p:nvPicPr>
          <p:cNvPr id="164" name="Picture 163" descr="c_20_13_1_7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92440" y="18406872"/>
            <a:ext cx="7479792" cy="155448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8092440" y="18507456"/>
            <a:ext cx="7479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>
                <a:latin typeface="Inter Bold"/>
                <a:ea typeface="Inter Bold"/>
                <a:cs typeface="Inter Bold"/>
                <a:sym typeface="Inter Bold"/>
              </a:defRPr>
            </a:pPr>
            <a:r>
              <a:rPr sz="1600">
                <a:latin typeface="Inter Bold"/>
                <a:ea typeface="Inter Bold"/>
                <a:cs typeface="Inter Bold"/>
                <a:sym typeface="Inter Bold"/>
              </a:rPr>
              <a:t>Conclusion &amp; Future Work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302752" y="18955512"/>
            <a:ext cx="7059168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050">
                <a:latin typeface="Inter Medium"/>
                <a:ea typeface="Inter Medium"/>
                <a:cs typeface="Inter Medium"/>
                <a:sym typeface="Inter Medium"/>
              </a:rPr>
              <a:t>The platform shows that an O-RAN-native, local-first CTI architecture can contextualise threats with the component and interface awareness that generic CTI tools lack, while keeping detection authority in deterministic detectors and execution authority behind policy gates.</a:t>
            </a:r>
          </a:p>
          <a:p>
            <a:pPr>
              <a:defRPr sz="1050">
                <a:latin typeface="Inter Medium"/>
                <a:ea typeface="Inter Medium"/>
                <a:cs typeface="Inter Medium"/>
                <a:sym typeface="Inter Medium"/>
              </a:defRPr>
            </a:pPr>
            <a:r>
              <a:rPr sz="1050">
                <a:latin typeface="Inter Medium"/>
                <a:ea typeface="Inter Medium"/>
                <a:cs typeface="Inter Medium"/>
                <a:sym typeface="Inter Medium"/>
              </a:rPr>
              <a:t>Future work: Physical and multi-vendor validation on separate infrastructure with realistic delay. A larger, independently reviewed O-RAN CTI benchmark with repeated trials. Telecom-specific embeddings and locally hosted language models.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