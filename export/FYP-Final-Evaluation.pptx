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Overall closed-loop score</c:v>
                </c:pt>
              </c:strCache>
            </c:strRef>
          </c:tx>
          <c:spPr>
            <a:solidFill>
              <a:srgbClr val="0E7490"/>
            </a:solidFill>
            <a:ln w="38100" cap="flat">
              <a:solidFill>
                <a:srgbClr val="0E749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E7490"/>
              </a:solidFill>
              <a:ln w="9525" cap="flat">
                <a:solidFill>
                  <a:srgbClr val="0E7490"/>
                </a:solidFill>
                <a:prstDash val="solid"/>
                <a:round/>
              </a:ln>
              <a:effectLst/>
            </c:spPr>
          </c:marker>
          <c:cat>
            <c:multiLvlStrRef>
              <c:f>Sheet1!$A$2:$A$10</c:f>
              <c:multiLvlStrCache>
                <c:ptCount val="9"/>
                <c:lvl>
                  <c:pt idx="0">
                    <c:v>S1</c:v>
                  </c:pt>
                  <c:pt idx="1">
                    <c:v>S2</c:v>
                  </c:pt>
                  <c:pt idx="2">
                    <c:v>S3</c:v>
                  </c:pt>
                  <c:pt idx="3">
                    <c:v>S4</c:v>
                  </c:pt>
                  <c:pt idx="4">
                    <c:v>S5</c:v>
                  </c:pt>
                  <c:pt idx="5">
                    <c:v>S6</c:v>
                  </c:pt>
                  <c:pt idx="6">
                    <c:v>S7</c:v>
                  </c:pt>
                  <c:pt idx="7">
                    <c:v>S8</c:v>
                  </c:pt>
                  <c:pt idx="8">
                    <c:v>S9</c:v>
                  </c:pt>
                </c:lvl>
              </c:multiLvlStrCache>
            </c:multiLvlStrRef>
          </c:cat>
          <c:val>
            <c:numRef>
              <c:f>Sheet1!$B$2:$B$10</c:f>
              <c:numCache>
                <c:formatCode>General</c:formatCode>
                <c:ptCount val="9"/>
                <c:pt idx="0">
                  <c:v>30.6</c:v>
                </c:pt>
                <c:pt idx="1">
                  <c:v>60.8</c:v>
                </c:pt>
                <c:pt idx="2">
                  <c:v>65.5</c:v>
                </c:pt>
                <c:pt idx="3">
                  <c:v>66.8</c:v>
                </c:pt>
                <c:pt idx="4">
                  <c:v>67.8</c:v>
                </c:pt>
                <c:pt idx="5">
                  <c:v>69.8</c:v>
                </c:pt>
                <c:pt idx="6">
                  <c:v>69.7</c:v>
                </c:pt>
                <c:pt idx="7">
                  <c:v>72.6</c:v>
                </c:pt>
                <c:pt idx="8">
                  <c:v>75.6</c:v>
                </c:pt>
              </c:numCache>
            </c:numRef>
          </c:val>
          <c:smooth val="0"/>
        </c:ser>
        <c:ser>
          <c:idx val="1"/>
          <c:order val="1"/>
          <c:tx>
            <c:strRef>
              <c:f>Sheet1!$C$1</c:f>
              <c:strCache>
                <c:ptCount val="1"/>
                <c:pt idx="0">
                  <c:v>RAG subscore</c:v>
                </c:pt>
              </c:strCache>
            </c:strRef>
          </c:tx>
          <c:spPr>
            <a:solidFill>
              <a:srgbClr val="C4B5FD"/>
            </a:solidFill>
            <a:ln w="38100" cap="flat">
              <a:solidFill>
                <a:srgbClr val="C4B5F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4B5FD"/>
              </a:solidFill>
              <a:ln w="9525" cap="flat">
                <a:solidFill>
                  <a:srgbClr val="C4B5FD"/>
                </a:solidFill>
                <a:prstDash val="solid"/>
                <a:round/>
              </a:ln>
              <a:effectLst/>
            </c:spPr>
          </c:marker>
          <c:cat>
            <c:multiLvlStrRef>
              <c:f>Sheet1!$A$2:$A$10</c:f>
              <c:multiLvlStrCache>
                <c:ptCount val="9"/>
                <c:lvl>
                  <c:pt idx="0">
                    <c:v>S1</c:v>
                  </c:pt>
                  <c:pt idx="1">
                    <c:v>S2</c:v>
                  </c:pt>
                  <c:pt idx="2">
                    <c:v>S3</c:v>
                  </c:pt>
                  <c:pt idx="3">
                    <c:v>S4</c:v>
                  </c:pt>
                  <c:pt idx="4">
                    <c:v>S5</c:v>
                  </c:pt>
                  <c:pt idx="5">
                    <c:v>S6</c:v>
                  </c:pt>
                  <c:pt idx="6">
                    <c:v>S7</c:v>
                  </c:pt>
                  <c:pt idx="7">
                    <c:v>S8</c:v>
                  </c:pt>
                  <c:pt idx="8">
                    <c:v>S9</c:v>
                  </c:pt>
                </c:lvl>
              </c:multiLvlStrCache>
            </c:multiLvlStrRef>
          </c:cat>
          <c:val>
            <c:numRef>
              <c:f>Sheet1!$C$2:$C$10</c:f>
              <c:numCache>
                <c:formatCode>General</c:formatCode>
                <c:ptCount val="9"/>
                <c:pt idx="0">
                  <c:v>28.9</c:v>
                </c:pt>
                <c:pt idx="1">
                  <c:v>34.6</c:v>
                </c:pt>
                <c:pt idx="2">
                  <c:v>64.6</c:v>
                </c:pt>
                <c:pt idx="3">
                  <c:v>44.6</c:v>
                </c:pt>
                <c:pt idx="4">
                  <c:v>46.3</c:v>
                </c:pt>
                <c:pt idx="5">
                  <c:v>48.7</c:v>
                </c:pt>
                <c:pt idx="6">
                  <c:v>50</c:v>
                </c:pt>
                <c:pt idx="7">
                  <c:v>55.9</c:v>
                </c:pt>
                <c:pt idx="8">
                  <c:v>61.6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688"/>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4E9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68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B4557"/>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presenting our final year project: a Cyber Threat Intelligence platform built specifically for Open RAN. Over the next fifteen minutes I will cover why O-RAN needs its own CTI, what we built across a four-region testbed, and the measured results including a head-to-head against OpenCTI.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O-RAN disaggregates the base station into multi-vendor components joined by open interfaces. That is the innovation, and it is also the vulnerability: the attack surface now spans the radio units, the RIC and its apps, and the cloud platform underneath. Our literature review found four concrete gaps, and these four gaps are what the project set out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has four pillars. First, a CTI knowledge base that is native to O-RAN rather than enterprise IT. Second, integration into both RIC tiers so intelligence actually reaches the control loop. Third, an Inter-Platform Agent that shares intelligence between regions without leaking operational data. Fourth, a deterministic detection gateway with guarded, reversible mitigation. Everything after this slide is the detail behind these four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objectives we declared at the proposal stage. O1 build the platform, O2 integrate agentic AI, O3 validate it properly. I will come back at the end and show you exactly which of these we met and where we fell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capabilities were added after the progress report, and they are the largest engineering additions in the project. The Anomaly Detection Gateway gave us deterministic, explainable detection instead of relying on the language model. The automated mitigation pipeline closed the loop, so the platform does not just describe a threat, it responds to it and verifies the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platform on one canvas. Working right to left: number one, public threat intelligence enters through the ingestion rApp. Number two is the central Non-RT RIC and SMO layer holding the Global RAG agent, the MCP server and the dashboard. Number three, four independent Near-RT RIC regions, each with its own Mini RAG and its own Inter-Platform Agent. Number four, each region has a real RAN underneath it observed over E2. The key design principle is local-first: a region answers from its own knowledge if it can, and only escalates when it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knowledge layer. We harvest four sources: MITRE ATT&amp;CK, MITRE FiGHT for 5G, CVE and EPSS vulnerability data, and sector-specific IOC feeds. Everything is normalised to STIX 2.1, then a Max-Sim semantic engine scores each record against the O-RAN domain and a two-hop breadth-first search extracts the connected subgraph. The headline number is the compression: 86.4 percent, leaving 316 nodes and 889 edges. That is what makes this deployable at the edge instead of needing a data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intelligence decision. A region answers locally only when the similarity score clears 0.69 and the evidence flag is set, which gives a sub-fifty-millisecond answer at zero cloud cost. If it cannot, it escalates over FastMCP to the Global RAG. There is a strict three-tier LLM fallback, and critically a zero false-text guarantee: if every provider fails we emit an explicit error state rather than inventing an answer. Every accepted analysis comes back as the same seven-section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first extended objective delivered. Four very different evidence sources are normalised into one schema by the security correlator. The most important design decision is on the middle right: the scoring is deterministic. The rule that fired, the measured value and the threshold are stored separately from any AI explanation. So if every language model provider is unavailable, an operator can still see exactly why an event exists. The AI explains; it never decides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nine anomaly families we emulate. I want to be explicit about honesty here: the middle column says bounded or labelled simulation. The UE DoS runs real iperf traffic through a real UE path and the shell tests are observed by Falco. But A1, F1 and E2 anomalies are detector-contract simulations, permanently flagged simulation-equals-true in the database. We never present a simulated contract as a live radio exploit.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second extended objective. A structured mitigation candidate arrives with its evidence, severity and confidence. It then hits a safety gate: is the actuator allow-listed, is the severity high or critical, is confidence at least 0.85, and was this a local decision. If any answer is no, it becomes a recommendation for an operator and is never auto-executed. If yes, the controller picks an allow-listed actuator, executes a bounded action, then verifies the effect against Prometheus. If verification fails it rolls back automatically and records the failure. An issued command is never reported as a security outcome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Inter-Platform Agent, and it is a core contribution that deserves its own slide. When a region confirms a serious threat, the agent first sanitises it, stripping indicators and raw metrics and tagging the source. It then excludes the originating region, which is how we prevent broadcast loops, and asks every remaining peer concurrently whether they already have it. Only the peers that are missing it get the intelligence. The result is that a threat learned in one region defends the others before it ever reaches them, without any region leaking its operational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operator-facing surface, and it is what we will demonstrate live. The command centre gives one pane over all four regions with a region selector, and each region streams its own updates over a WebSocket, so there is no polling anywhere in the pipeline. The point I want to stress is evidence transparency: every threat card shows the rule that fired, the measured value and the threshold, and the matched knowledge records with their similarity scores. An examiner can audit any decision the platform made without trusting the language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here that were originally scoped as future work and are now built. On the left, a real delivered alert email: it carries the affected component, the interface, severity, confidence, the immediate actions and the detailed mitigations. This means an operator can act from their inbox without watching the dashboard. On the right, the feedback path: the operator records which recommended actions they actually applied and how useful they were. That feedback is persisted with the threat, which is the beginning of a supervised learning signal for the RAG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testbed. Four regions on a single K3s node, on a Threadripper host with 128 logical CPUs and 250 gigabytes of RAM. Regions 1 and 2 are fully instrumented with two gNB groups, six UEs each and a real Open5GS core; regions 3 and 4 act as sharing peers. Before every campaign we run an eight-point readiness checklist, because an experiment that starts from an unhealthy namespace produces evidence you cannot trust. I will flag the limitation now: this is logically distributed, not physically distributed.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evaluated. Two instruments. First the 750-event campaign, a deterministic schedule across eight threat families run over five days. Second, a frozen benchmark: a checksummed ground-truth case set evaluated read-only so sessions are genuinely comparable. The composite score is 54 percent RAG, 36 percent detection, 10 percent mitigation. Those weights were declared in advance, not tuned to flatter the result. And if something was not measured we omit it rather than scoring it zero, which would have made the number look worse, or scoring it as success, which would have been dishonest.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campaign is deterministic, which matters for reproducibility. 150 slots per day split 75 and 75 between the two evaluated regions, with a declared family composition. There is a minimum 80 second buffer between slots so alerts have time to settle, and a failed slot is recorded and retried rather than silently dropped. At each checkpoint we pause generation, snapshot both regions and run the frozen benchmark one region at a time. That is what makes the growth curve on the next slide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headline result. Across nine complete sessions the closed-loop score rose from 30.6 to 75.6 percent. Look at the two lines: detection saturated early at 100 percent, so the continued improvement is coming from the RAG subscore as the regions learn. I want to be honest about the weak points rather than let you find them. Severity accuracy is 71 percent and grounded retrieval is 54 percent. Those are our main improvement areas. We also do not claim this is pure learning: some movement comes from corrected ground truth and evaluator versions, and we only claim growth where the knowledge and escalation evidence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mitigation results. The chart top left is the cross-region advantage: a full regional loop takes 6.6 milliseconds, but a peer that was pre-armed by the Inter-Platform Agent responds in 0.5, which is 92 percent faster. One caveat I will state before you ask: this is N equals ten bounded quarantine runs, so we treat it as a measured indication, not a universal performance claim. Bottom left is the persisted lifecycle: every state transition is stored, and executed-unverified is deliberately distinguishable from verified so an issued command is never counted as a security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sharing results. On the left is operator-visible proof: a threat card in one region marked external and identifying the region it came from. On the right are the five findings. The two that matter most for a security audit are source exclusion, which we verified is enforced in every distribution, and provenance, which means an operator can always tell shared intelligence from a local detection. I will also be straight about the trade-off at the bottom: the deduplication threshold is a tuning decision, so we keep the similarity score and the reasoning for every skip so the decision can be audited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why the project needed to exist. Six ground-truth 5G scenarios against both platforms concurrently. On STIX precision we retrieve the correct threat every time; OpenCTI, never. On taxonomy alignment, 100 versus 33 percent, because OpenCTI simply has no schema for a UE traffic surge or xApp API abuse. We are equal on detection capture and stability. And I want to volunteer the one place we lose: latency. We are about a hundred times slower, because we run embedding, escalation and synthesis instead of a keyword lookup. For analysis at the Non-RT tier that is the right trade, and we say so rather than hiding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all three original objectives and both extended objectives are implemented, and O3 is evaluated within our declared scope. Right side, and I want to present this myself rather than have it drawn out of me: the cluster is single-node, so this is logically distributed, not physically. Three of our interface anomalies are detector-contract simulations and are flagged as such in the database. We have not validated against commercial multi-vendor hardware. And the per-UE containment happens in the core rather than the RAN, because srsRAN rejects the E2SM-RC control action. Every one of these is stated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work follows directly from the limitations I just showed. The single most valuable next step is deploying across physical nodes, because that is what turns a logically distributed prototype into a genuinely federated system. After that, a larger independently reviewed benchmark, better retrieval, and longer campaigns to test whether local resolution keeps rising without quality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four O-RAN regions, 750 emulated security events, a closed-loop intelligence score that rose to 75.6 percent, and 100 percent STIX precision against zero for the leading enterprise CTI platform on 5G scenarios. Thank you. We are happy to take questions, and the live dashboard is running if you would like a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1F6"/>
        </a:solidFill>
      </p:bgPr>
    </p:bg>
    <p:spTree>
      <p:nvGrpSpPr>
        <p:cNvPr id="1" name=""/>
        <p:cNvGrpSpPr/>
        <p:nvPr/>
      </p:nvGrpSpPr>
      <p:grpSpPr>
        <a:xfrm>
          <a:off x="0" y="0"/>
          <a:ext cx="0" cy="0"/>
          <a:chOff x="0" y="0"/>
          <a:chExt cx="0" cy="0"/>
        </a:xfrm>
      </p:grpSpPr>
      <p:sp>
        <p:nvSpPr>
          <p:cNvPr id="2" name="Shape 0"/>
          <p:cNvSpPr/>
          <p:nvPr/>
        </p:nvSpPr>
        <p:spPr>
          <a:xfrm>
            <a:off x="8686800" y="-457200"/>
            <a:ext cx="4206240" cy="7772400"/>
          </a:xfrm>
          <a:prstGeom prst="roundRect">
            <a:avLst>
              <a:gd name="adj" fmla="val 1739"/>
            </a:avLst>
          </a:prstGeom>
          <a:solidFill>
            <a:srgbClr val="DDE4EE"/>
          </a:solidFill>
          <a:ln w="12700">
            <a:solidFill>
              <a:srgbClr val="333333"/>
            </a:solidFill>
            <a:prstDash val="solid"/>
          </a:ln>
        </p:spPr>
      </p:sp>
      <p:sp>
        <p:nvSpPr>
          <p:cNvPr id="3" name="Text 1"/>
          <p:cNvSpPr/>
          <p:nvPr/>
        </p:nvSpPr>
        <p:spPr>
          <a:xfrm>
            <a:off x="868680" y="777240"/>
            <a:ext cx="7315200" cy="2377440"/>
          </a:xfrm>
          <a:prstGeom prst="rect">
            <a:avLst/>
          </a:prstGeom>
          <a:noFill/>
          <a:ln/>
        </p:spPr>
        <p:txBody>
          <a:bodyPr wrap="square" lIns="0" tIns="0" rIns="0" bIns="0" rtlCol="0" anchor="ctr"/>
          <a:lstStyle/>
          <a:p>
            <a:pPr indent="0" marL="0">
              <a:lnSpc>
                <a:spcPts val="4600"/>
              </a:lnSpc>
              <a:buNone/>
            </a:pPr>
            <a:r>
              <a:rPr lang="en-US" sz="4000" b="1" dirty="0">
                <a:solidFill>
                  <a:srgbClr val="0F1B40"/>
                </a:solidFill>
                <a:latin typeface="Arial" pitchFamily="34" charset="0"/>
                <a:ea typeface="Arial" pitchFamily="34" charset="-122"/>
                <a:cs typeface="Arial" pitchFamily="34" charset="-120"/>
              </a:rPr>
              <a:t>Cyber Threat Intelligence</a:t>
            </a:r>
            <a:endParaRPr lang="en-US" sz="4000" dirty="0"/>
          </a:p>
          <a:p>
            <a:pPr indent="0" marL="0">
              <a:lnSpc>
                <a:spcPts val="4600"/>
              </a:lnSpc>
              <a:buNone/>
            </a:pPr>
            <a:r>
              <a:rPr lang="en-US" sz="4000" b="1" dirty="0">
                <a:solidFill>
                  <a:srgbClr val="0F1B40"/>
                </a:solidFill>
                <a:latin typeface="Arial" pitchFamily="34" charset="0"/>
                <a:ea typeface="Arial" pitchFamily="34" charset="-122"/>
                <a:cs typeface="Arial" pitchFamily="34" charset="-120"/>
              </a:rPr>
              <a:t>(CTI) Platform for</a:t>
            </a:r>
            <a:endParaRPr lang="en-US" sz="4000" dirty="0"/>
          </a:p>
          <a:p>
            <a:pPr indent="0" marL="0">
              <a:lnSpc>
                <a:spcPts val="4600"/>
              </a:lnSpc>
              <a:buNone/>
            </a:pPr>
            <a:r>
              <a:rPr lang="en-US" sz="4000" b="1" dirty="0">
                <a:solidFill>
                  <a:srgbClr val="0F1B40"/>
                </a:solidFill>
                <a:latin typeface="Arial" pitchFamily="34" charset="0"/>
                <a:ea typeface="Arial" pitchFamily="34" charset="-122"/>
                <a:cs typeface="Arial" pitchFamily="34" charset="-120"/>
              </a:rPr>
              <a:t>Open-RAN</a:t>
            </a:r>
            <a:endParaRPr lang="en-US" sz="4000" dirty="0"/>
          </a:p>
        </p:txBody>
      </p:sp>
      <p:pic>
        <p:nvPicPr>
          <p:cNvPr id="4" name="Image 0" descr="C:\Users\Ravin\AppData\Local\Temp\claude\D--Projects-FYP-demo-site\7c41a152-688c-4cf7-a8dd-5ea6f53eb77e\scratchpad\eval\img\p01_0.png">    </p:cNvPr>
          <p:cNvPicPr>
            <a:picLocks noChangeAspect="1"/>
          </p:cNvPicPr>
          <p:nvPr/>
        </p:nvPicPr>
        <p:blipFill>
          <a:blip r:embed="rId1"/>
          <a:stretch>
            <a:fillRect/>
          </a:stretch>
        </p:blipFill>
        <p:spPr>
          <a:xfrm>
            <a:off x="8275320" y="1417320"/>
            <a:ext cx="3063240" cy="3813048"/>
          </a:xfrm>
          <a:prstGeom prst="rect">
            <a:avLst/>
          </a:prstGeom>
        </p:spPr>
      </p:pic>
      <p:sp>
        <p:nvSpPr>
          <p:cNvPr id="5" name="Text 2"/>
          <p:cNvSpPr/>
          <p:nvPr/>
        </p:nvSpPr>
        <p:spPr>
          <a:xfrm>
            <a:off x="932688" y="3950208"/>
            <a:ext cx="2286000" cy="237744"/>
          </a:xfrm>
          <a:prstGeom prst="rect">
            <a:avLst/>
          </a:prstGeom>
          <a:noFill/>
          <a:ln/>
        </p:spPr>
        <p:txBody>
          <a:bodyPr wrap="square" lIns="0" tIns="0" rIns="0" bIns="0" rtlCol="0" anchor="ctr"/>
          <a:lstStyle/>
          <a:p>
            <a:pPr indent="0" marL="0">
              <a:buNone/>
            </a:pPr>
            <a:r>
              <a:rPr lang="en-US" sz="1300" dirty="0">
                <a:solidFill>
                  <a:srgbClr val="0F1B40"/>
                </a:solidFill>
                <a:latin typeface="Calibri" pitchFamily="34" charset="0"/>
                <a:ea typeface="Calibri" pitchFamily="34" charset="-122"/>
                <a:cs typeface="Calibri" pitchFamily="34" charset="-120"/>
              </a:rPr>
              <a:t>H.G.R. Achintha</a:t>
            </a:r>
            <a:endParaRPr lang="en-US" sz="1300" dirty="0"/>
          </a:p>
        </p:txBody>
      </p:sp>
      <p:sp>
        <p:nvSpPr>
          <p:cNvPr id="6" name="Text 3"/>
          <p:cNvSpPr/>
          <p:nvPr/>
        </p:nvSpPr>
        <p:spPr>
          <a:xfrm>
            <a:off x="3246120" y="3950208"/>
            <a:ext cx="1645920" cy="237744"/>
          </a:xfrm>
          <a:prstGeom prst="rect">
            <a:avLst/>
          </a:prstGeom>
          <a:noFill/>
          <a:ln/>
        </p:spPr>
        <p:txBody>
          <a:bodyPr wrap="square" lIns="0" tIns="0" rIns="0" bIns="0" rtlCol="0" anchor="ctr"/>
          <a:lstStyle/>
          <a:p>
            <a:pPr indent="0" marL="0">
              <a:buNone/>
            </a:pPr>
            <a:r>
              <a:rPr lang="en-US" sz="1300" dirty="0">
                <a:solidFill>
                  <a:srgbClr val="0F1B40"/>
                </a:solidFill>
                <a:latin typeface="Calibri" pitchFamily="34" charset="0"/>
                <a:ea typeface="Calibri" pitchFamily="34" charset="-122"/>
                <a:cs typeface="Calibri" pitchFamily="34" charset="-120"/>
              </a:rPr>
              <a:t>EG/2021/4384</a:t>
            </a:r>
            <a:endParaRPr lang="en-US" sz="1300" dirty="0"/>
          </a:p>
        </p:txBody>
      </p:sp>
      <p:sp>
        <p:nvSpPr>
          <p:cNvPr id="7" name="Text 4"/>
          <p:cNvSpPr/>
          <p:nvPr/>
        </p:nvSpPr>
        <p:spPr>
          <a:xfrm>
            <a:off x="932688" y="4206240"/>
            <a:ext cx="2286000" cy="237744"/>
          </a:xfrm>
          <a:prstGeom prst="rect">
            <a:avLst/>
          </a:prstGeom>
          <a:noFill/>
          <a:ln/>
        </p:spPr>
        <p:txBody>
          <a:bodyPr wrap="square" lIns="0" tIns="0" rIns="0" bIns="0" rtlCol="0" anchor="ctr"/>
          <a:lstStyle/>
          <a:p>
            <a:pPr indent="0" marL="0">
              <a:buNone/>
            </a:pPr>
            <a:r>
              <a:rPr lang="en-US" sz="1300" dirty="0">
                <a:solidFill>
                  <a:srgbClr val="0F1B40"/>
                </a:solidFill>
                <a:latin typeface="Calibri" pitchFamily="34" charset="0"/>
                <a:ea typeface="Calibri" pitchFamily="34" charset="-122"/>
                <a:cs typeface="Calibri" pitchFamily="34" charset="-120"/>
              </a:rPr>
              <a:t>I.U. Madakaladeniya</a:t>
            </a:r>
            <a:endParaRPr lang="en-US" sz="1300" dirty="0"/>
          </a:p>
        </p:txBody>
      </p:sp>
      <p:sp>
        <p:nvSpPr>
          <p:cNvPr id="8" name="Text 5"/>
          <p:cNvSpPr/>
          <p:nvPr/>
        </p:nvSpPr>
        <p:spPr>
          <a:xfrm>
            <a:off x="3246120" y="4206240"/>
            <a:ext cx="1645920" cy="237744"/>
          </a:xfrm>
          <a:prstGeom prst="rect">
            <a:avLst/>
          </a:prstGeom>
          <a:noFill/>
          <a:ln/>
        </p:spPr>
        <p:txBody>
          <a:bodyPr wrap="square" lIns="0" tIns="0" rIns="0" bIns="0" rtlCol="0" anchor="ctr"/>
          <a:lstStyle/>
          <a:p>
            <a:pPr indent="0" marL="0">
              <a:buNone/>
            </a:pPr>
            <a:r>
              <a:rPr lang="en-US" sz="1300" dirty="0">
                <a:solidFill>
                  <a:srgbClr val="0F1B40"/>
                </a:solidFill>
                <a:latin typeface="Calibri" pitchFamily="34" charset="0"/>
                <a:ea typeface="Calibri" pitchFamily="34" charset="-122"/>
                <a:cs typeface="Calibri" pitchFamily="34" charset="-120"/>
              </a:rPr>
              <a:t>EG/2021/4651</a:t>
            </a:r>
            <a:endParaRPr lang="en-US" sz="1300" dirty="0"/>
          </a:p>
        </p:txBody>
      </p:sp>
      <p:sp>
        <p:nvSpPr>
          <p:cNvPr id="9" name="Text 6"/>
          <p:cNvSpPr/>
          <p:nvPr/>
        </p:nvSpPr>
        <p:spPr>
          <a:xfrm>
            <a:off x="932688" y="4462272"/>
            <a:ext cx="2286000" cy="237744"/>
          </a:xfrm>
          <a:prstGeom prst="rect">
            <a:avLst/>
          </a:prstGeom>
          <a:noFill/>
          <a:ln/>
        </p:spPr>
        <p:txBody>
          <a:bodyPr wrap="square" lIns="0" tIns="0" rIns="0" bIns="0" rtlCol="0" anchor="ctr"/>
          <a:lstStyle/>
          <a:p>
            <a:pPr indent="0" marL="0">
              <a:buNone/>
            </a:pPr>
            <a:r>
              <a:rPr lang="en-US" sz="1300" dirty="0">
                <a:solidFill>
                  <a:srgbClr val="0F1B40"/>
                </a:solidFill>
                <a:latin typeface="Calibri" pitchFamily="34" charset="0"/>
                <a:ea typeface="Calibri" pitchFamily="34" charset="-122"/>
                <a:cs typeface="Calibri" pitchFamily="34" charset="-120"/>
              </a:rPr>
              <a:t>P.A.G.N. Rathnaweera</a:t>
            </a:r>
            <a:endParaRPr lang="en-US" sz="1300" dirty="0"/>
          </a:p>
        </p:txBody>
      </p:sp>
      <p:sp>
        <p:nvSpPr>
          <p:cNvPr id="10" name="Text 7"/>
          <p:cNvSpPr/>
          <p:nvPr/>
        </p:nvSpPr>
        <p:spPr>
          <a:xfrm>
            <a:off x="3246120" y="4462272"/>
            <a:ext cx="1645920" cy="237744"/>
          </a:xfrm>
          <a:prstGeom prst="rect">
            <a:avLst/>
          </a:prstGeom>
          <a:noFill/>
          <a:ln/>
        </p:spPr>
        <p:txBody>
          <a:bodyPr wrap="square" lIns="0" tIns="0" rIns="0" bIns="0" rtlCol="0" anchor="ctr"/>
          <a:lstStyle/>
          <a:p>
            <a:pPr indent="0" marL="0">
              <a:buNone/>
            </a:pPr>
            <a:r>
              <a:rPr lang="en-US" sz="1300" dirty="0">
                <a:solidFill>
                  <a:srgbClr val="0F1B40"/>
                </a:solidFill>
                <a:latin typeface="Calibri" pitchFamily="34" charset="0"/>
                <a:ea typeface="Calibri" pitchFamily="34" charset="-122"/>
                <a:cs typeface="Calibri" pitchFamily="34" charset="-120"/>
              </a:rPr>
              <a:t>EG/2021/4751</a:t>
            </a:r>
            <a:endParaRPr lang="en-US" sz="1300" dirty="0"/>
          </a:p>
        </p:txBody>
      </p:sp>
      <p:sp>
        <p:nvSpPr>
          <p:cNvPr id="11" name="Text 8"/>
          <p:cNvSpPr/>
          <p:nvPr/>
        </p:nvSpPr>
        <p:spPr>
          <a:xfrm>
            <a:off x="932688" y="4718304"/>
            <a:ext cx="2286000" cy="237744"/>
          </a:xfrm>
          <a:prstGeom prst="rect">
            <a:avLst/>
          </a:prstGeom>
          <a:noFill/>
          <a:ln/>
        </p:spPr>
        <p:txBody>
          <a:bodyPr wrap="square" lIns="0" tIns="0" rIns="0" bIns="0" rtlCol="0" anchor="ctr"/>
          <a:lstStyle/>
          <a:p>
            <a:pPr indent="0" marL="0">
              <a:buNone/>
            </a:pPr>
            <a:r>
              <a:rPr lang="en-US" sz="1300" dirty="0">
                <a:solidFill>
                  <a:srgbClr val="0F1B40"/>
                </a:solidFill>
                <a:latin typeface="Calibri" pitchFamily="34" charset="0"/>
                <a:ea typeface="Calibri" pitchFamily="34" charset="-122"/>
                <a:cs typeface="Calibri" pitchFamily="34" charset="-120"/>
              </a:rPr>
              <a:t>S.A. Wijesinghe</a:t>
            </a:r>
            <a:endParaRPr lang="en-US" sz="1300" dirty="0"/>
          </a:p>
        </p:txBody>
      </p:sp>
      <p:sp>
        <p:nvSpPr>
          <p:cNvPr id="12" name="Text 9"/>
          <p:cNvSpPr/>
          <p:nvPr/>
        </p:nvSpPr>
        <p:spPr>
          <a:xfrm>
            <a:off x="3246120" y="4718304"/>
            <a:ext cx="1645920" cy="237744"/>
          </a:xfrm>
          <a:prstGeom prst="rect">
            <a:avLst/>
          </a:prstGeom>
          <a:noFill/>
          <a:ln/>
        </p:spPr>
        <p:txBody>
          <a:bodyPr wrap="square" lIns="0" tIns="0" rIns="0" bIns="0" rtlCol="0" anchor="ctr"/>
          <a:lstStyle/>
          <a:p>
            <a:pPr indent="0" marL="0">
              <a:buNone/>
            </a:pPr>
            <a:r>
              <a:rPr lang="en-US" sz="1300" dirty="0">
                <a:solidFill>
                  <a:srgbClr val="0F1B40"/>
                </a:solidFill>
                <a:latin typeface="Calibri" pitchFamily="34" charset="0"/>
                <a:ea typeface="Calibri" pitchFamily="34" charset="-122"/>
                <a:cs typeface="Calibri" pitchFamily="34" charset="-120"/>
              </a:rPr>
              <a:t>EG/2021/4877</a:t>
            </a:r>
            <a:endParaRPr lang="en-US" sz="1300" dirty="0"/>
          </a:p>
        </p:txBody>
      </p:sp>
      <p:sp>
        <p:nvSpPr>
          <p:cNvPr id="13" name="Text 10"/>
          <p:cNvSpPr/>
          <p:nvPr/>
        </p:nvSpPr>
        <p:spPr>
          <a:xfrm>
            <a:off x="868680" y="5532120"/>
            <a:ext cx="5943600" cy="256032"/>
          </a:xfrm>
          <a:prstGeom prst="rect">
            <a:avLst/>
          </a:prstGeom>
          <a:noFill/>
          <a:ln/>
        </p:spPr>
        <p:txBody>
          <a:bodyPr wrap="square" lIns="0" tIns="0" rIns="0" bIns="0" rtlCol="0" anchor="ctr"/>
          <a:lstStyle/>
          <a:p>
            <a:pPr indent="0" marL="0">
              <a:buNone/>
            </a:pPr>
            <a:r>
              <a:rPr lang="en-US" sz="1300" dirty="0">
                <a:solidFill>
                  <a:srgbClr val="0F1B40"/>
                </a:solidFill>
                <a:latin typeface="Calibri" pitchFamily="34" charset="0"/>
                <a:ea typeface="Calibri" pitchFamily="34" charset="-122"/>
                <a:cs typeface="Calibri" pitchFamily="34" charset="-120"/>
              </a:rPr>
              <a:t>Supervisor      : Dr. Geeth Priyankara</a:t>
            </a:r>
            <a:endParaRPr lang="en-US" sz="1300" dirty="0"/>
          </a:p>
        </p:txBody>
      </p:sp>
      <p:sp>
        <p:nvSpPr>
          <p:cNvPr id="14" name="Text 11"/>
          <p:cNvSpPr/>
          <p:nvPr/>
        </p:nvSpPr>
        <p:spPr>
          <a:xfrm>
            <a:off x="868680" y="5788152"/>
            <a:ext cx="5943600" cy="256032"/>
          </a:xfrm>
          <a:prstGeom prst="rect">
            <a:avLst/>
          </a:prstGeom>
          <a:noFill/>
          <a:ln/>
        </p:spPr>
        <p:txBody>
          <a:bodyPr wrap="square" lIns="0" tIns="0" rIns="0" bIns="0" rtlCol="0" anchor="ctr"/>
          <a:lstStyle/>
          <a:p>
            <a:pPr indent="0" marL="0">
              <a:buNone/>
            </a:pPr>
            <a:r>
              <a:rPr lang="en-US" sz="1300" dirty="0">
                <a:solidFill>
                  <a:srgbClr val="0F1B40"/>
                </a:solidFill>
                <a:latin typeface="Calibri" pitchFamily="34" charset="0"/>
                <a:ea typeface="Calibri" pitchFamily="34" charset="-122"/>
                <a:cs typeface="Calibri" pitchFamily="34" charset="-120"/>
              </a:rPr>
              <a:t>Co-Supervisor : Assistant Prof. Pasika Ranaweera</a:t>
            </a:r>
            <a:endParaRPr lang="en-US" sz="1300" dirty="0"/>
          </a:p>
        </p:txBody>
      </p:sp>
      <p:sp>
        <p:nvSpPr>
          <p:cNvPr id="15" name="Shape 12"/>
          <p:cNvSpPr/>
          <p:nvPr/>
        </p:nvSpPr>
        <p:spPr>
          <a:xfrm>
            <a:off x="11478463" y="6236208"/>
            <a:ext cx="384048" cy="384048"/>
          </a:xfrm>
          <a:prstGeom prst="ellipse">
            <a:avLst/>
          </a:prstGeom>
          <a:solidFill>
            <a:srgbClr val="8FA3C1"/>
          </a:solidFill>
          <a:ln w="12700">
            <a:solidFill>
              <a:srgbClr val="8FA3C1"/>
            </a:solidFill>
            <a:prstDash val="solid"/>
          </a:ln>
        </p:spPr>
      </p:sp>
      <p:sp>
        <p:nvSpPr>
          <p:cNvPr id="16" name="Text 13"/>
          <p:cNvSpPr/>
          <p:nvPr/>
        </p:nvSpPr>
        <p:spPr>
          <a:xfrm>
            <a:off x="11478463" y="6236208"/>
            <a:ext cx="384048" cy="384048"/>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1F6"/>
        </a:solidFill>
      </p:bgPr>
    </p:bg>
    <p:spTree>
      <p:nvGrpSpPr>
        <p:cNvPr id="1" name=""/>
        <p:cNvGrpSpPr/>
        <p:nvPr/>
      </p:nvGrpSpPr>
      <p:grpSpPr>
        <a:xfrm>
          <a:off x="0" y="0"/>
          <a:ext cx="0" cy="0"/>
          <a:chOff x="0" y="0"/>
          <a:chExt cx="0" cy="0"/>
        </a:xfrm>
      </p:grpSpPr>
      <p:sp>
        <p:nvSpPr>
          <p:cNvPr id="2" name="Text 0"/>
          <p:cNvSpPr/>
          <p:nvPr/>
        </p:nvSpPr>
        <p:spPr>
          <a:xfrm>
            <a:off x="502920" y="219456"/>
            <a:ext cx="11185855" cy="658368"/>
          </a:xfrm>
          <a:prstGeom prst="rect">
            <a:avLst/>
          </a:prstGeom>
          <a:noFill/>
          <a:ln/>
        </p:spPr>
        <p:txBody>
          <a:bodyPr wrap="square" lIns="0" tIns="0" rIns="0" bIns="0" rtlCol="0" anchor="ctr"/>
          <a:lstStyle/>
          <a:p>
            <a:pPr indent="0" marL="0">
              <a:buNone/>
            </a:pPr>
            <a:r>
              <a:rPr lang="en-US" sz="2800" b="1" dirty="0">
                <a:solidFill>
                  <a:srgbClr val="0F1B40"/>
                </a:solidFill>
                <a:latin typeface="Arial" pitchFamily="34" charset="0"/>
                <a:ea typeface="Arial" pitchFamily="34" charset="-122"/>
                <a:cs typeface="Arial" pitchFamily="34" charset="-120"/>
              </a:rPr>
              <a:t>The O-RAN Paradigm - Flexibility vs. Vulnerability</a:t>
            </a:r>
            <a:endParaRPr lang="en-US" sz="2800" dirty="0"/>
          </a:p>
        </p:txBody>
      </p:sp>
      <p:sp>
        <p:nvSpPr>
          <p:cNvPr id="3" name="Shape 1"/>
          <p:cNvSpPr/>
          <p:nvPr/>
        </p:nvSpPr>
        <p:spPr>
          <a:xfrm>
            <a:off x="11478463" y="6236208"/>
            <a:ext cx="384048" cy="384048"/>
          </a:xfrm>
          <a:prstGeom prst="ellipse">
            <a:avLst/>
          </a:prstGeom>
          <a:solidFill>
            <a:srgbClr val="8FA3C1"/>
          </a:solidFill>
          <a:ln w="12700">
            <a:solidFill>
              <a:srgbClr val="8FA3C1"/>
            </a:solidFill>
            <a:prstDash val="solid"/>
          </a:ln>
        </p:spPr>
      </p:sp>
      <p:sp>
        <p:nvSpPr>
          <p:cNvPr id="4" name="Text 2"/>
          <p:cNvSpPr/>
          <p:nvPr/>
        </p:nvSpPr>
        <p:spPr>
          <a:xfrm>
            <a:off x="11478463" y="6236208"/>
            <a:ext cx="384048" cy="384048"/>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2</a:t>
            </a:r>
            <a:endParaRPr lang="en-US" sz="1100" dirty="0"/>
          </a:p>
        </p:txBody>
      </p:sp>
      <p:pic>
        <p:nvPicPr>
          <p:cNvPr id="5" name="Image 0" descr="C:\Users\Ravin\AppData\Local\Temp\claude\D--Projects-FYP-demo-site\7c41a152-688c-4cf7-a8dd-5ea6f53eb77e\scratchpad\eval\img\p02_0.png">    </p:cNvPr>
          <p:cNvPicPr>
            <a:picLocks noChangeAspect="1"/>
          </p:cNvPicPr>
          <p:nvPr/>
        </p:nvPicPr>
        <p:blipFill>
          <a:blip r:embed="rId1"/>
          <a:stretch>
            <a:fillRect/>
          </a:stretch>
        </p:blipFill>
        <p:spPr>
          <a:xfrm>
            <a:off x="1331231" y="960120"/>
            <a:ext cx="3189698" cy="2834640"/>
          </a:xfrm>
          <a:prstGeom prst="rect">
            <a:avLst/>
          </a:prstGeom>
        </p:spPr>
      </p:pic>
      <p:pic>
        <p:nvPicPr>
          <p:cNvPr id="6" name="Image 1" descr="C:\Users\Ravin\AppData\Local\Temp\claude\D--Projects-FYP-demo-site\7c41a152-688c-4cf7-a8dd-5ea6f53eb77e\scratchpad\eval\img\p02_1.png">    </p:cNvPr>
          <p:cNvPicPr>
            <a:picLocks noChangeAspect="1"/>
          </p:cNvPicPr>
          <p:nvPr/>
        </p:nvPicPr>
        <p:blipFill>
          <a:blip r:embed="rId2"/>
          <a:stretch>
            <a:fillRect/>
          </a:stretch>
        </p:blipFill>
        <p:spPr>
          <a:xfrm>
            <a:off x="5760720" y="1189595"/>
            <a:ext cx="5760720" cy="2375691"/>
          </a:xfrm>
          <a:prstGeom prst="rect">
            <a:avLst/>
          </a:prstGeom>
        </p:spPr>
      </p:pic>
      <p:sp>
        <p:nvSpPr>
          <p:cNvPr id="7" name="Text 3"/>
          <p:cNvSpPr/>
          <p:nvPr/>
        </p:nvSpPr>
        <p:spPr>
          <a:xfrm>
            <a:off x="914400" y="3913632"/>
            <a:ext cx="4023360" cy="502920"/>
          </a:xfrm>
          <a:prstGeom prst="rect">
            <a:avLst/>
          </a:prstGeom>
          <a:noFill/>
          <a:ln/>
        </p:spPr>
        <p:txBody>
          <a:bodyPr wrap="square" lIns="0" tIns="0" rIns="0" bIns="0" rtlCol="0" anchor="t"/>
          <a:lstStyle/>
          <a:p>
            <a:pPr indent="0" marL="0">
              <a:buNone/>
            </a:pPr>
            <a:r>
              <a:rPr lang="en-US" sz="1050" i="1" dirty="0">
                <a:solidFill>
                  <a:srgbClr val="6B7688"/>
                </a:solidFill>
                <a:latin typeface="Calibri" pitchFamily="34" charset="0"/>
                <a:ea typeface="Calibri" pitchFamily="34" charset="-122"/>
                <a:cs typeface="Calibri" pitchFamily="34" charset="-120"/>
              </a:rPr>
              <a:t>Traditional networks: closed, single-vendor architectures with a limited and predictable attack surface.</a:t>
            </a:r>
            <a:endParaRPr lang="en-US" sz="1050" dirty="0"/>
          </a:p>
        </p:txBody>
      </p:sp>
      <p:sp>
        <p:nvSpPr>
          <p:cNvPr id="8" name="Text 4"/>
          <p:cNvSpPr/>
          <p:nvPr/>
        </p:nvSpPr>
        <p:spPr>
          <a:xfrm>
            <a:off x="5852160" y="3913632"/>
            <a:ext cx="5577840" cy="502920"/>
          </a:xfrm>
          <a:prstGeom prst="rect">
            <a:avLst/>
          </a:prstGeom>
          <a:noFill/>
          <a:ln/>
        </p:spPr>
        <p:txBody>
          <a:bodyPr wrap="square" lIns="0" tIns="0" rIns="0" bIns="0" rtlCol="0" anchor="t"/>
          <a:lstStyle/>
          <a:p>
            <a:pPr indent="0" marL="0">
              <a:buNone/>
            </a:pPr>
            <a:r>
              <a:rPr lang="en-US" sz="1050" i="1" dirty="0">
                <a:solidFill>
                  <a:srgbClr val="6B7688"/>
                </a:solidFill>
                <a:latin typeface="Calibri" pitchFamily="34" charset="0"/>
                <a:ea typeface="Calibri" pitchFamily="34" charset="-122"/>
                <a:cs typeface="Calibri" pitchFamily="34" charset="-120"/>
              </a:rPr>
              <a:t>O-RAN: unprecedented flexibility through interoperable components, completely redefining the security perimeter.</a:t>
            </a:r>
            <a:endParaRPr lang="en-US" sz="1050" dirty="0"/>
          </a:p>
        </p:txBody>
      </p:sp>
      <p:sp>
        <p:nvSpPr>
          <p:cNvPr id="9" name="Shape 5"/>
          <p:cNvSpPr/>
          <p:nvPr/>
        </p:nvSpPr>
        <p:spPr>
          <a:xfrm>
            <a:off x="502920" y="4617720"/>
            <a:ext cx="2688336" cy="1481328"/>
          </a:xfrm>
          <a:prstGeom prst="roundRect">
            <a:avLst>
              <a:gd name="adj" fmla="val 3704"/>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10" name="Shape 6"/>
          <p:cNvSpPr/>
          <p:nvPr/>
        </p:nvSpPr>
        <p:spPr>
          <a:xfrm>
            <a:off x="502920" y="4617720"/>
            <a:ext cx="2688336" cy="420624"/>
          </a:xfrm>
          <a:prstGeom prst="rect">
            <a:avLst/>
          </a:prstGeom>
          <a:solidFill>
            <a:srgbClr val="E8EEF7"/>
          </a:solidFill>
          <a:ln w="12700">
            <a:solidFill>
              <a:srgbClr val="333333"/>
            </a:solidFill>
            <a:prstDash val="solid"/>
          </a:ln>
        </p:spPr>
      </p:sp>
      <p:sp>
        <p:nvSpPr>
          <p:cNvPr id="11" name="Text 7"/>
          <p:cNvSpPr/>
          <p:nvPr/>
        </p:nvSpPr>
        <p:spPr>
          <a:xfrm>
            <a:off x="594360" y="4617720"/>
            <a:ext cx="2505456" cy="420624"/>
          </a:xfrm>
          <a:prstGeom prst="rect">
            <a:avLst/>
          </a:prstGeom>
          <a:noFill/>
          <a:ln/>
        </p:spPr>
        <p:txBody>
          <a:bodyPr wrap="square" lIns="0" tIns="0" rIns="0" bIns="0" rtlCol="0" anchor="ctr"/>
          <a:lstStyle/>
          <a:p>
            <a:pPr algn="ctr" indent="0" marL="0">
              <a:buNone/>
            </a:pPr>
            <a:r>
              <a:rPr lang="en-US" sz="1150" b="1" dirty="0">
                <a:solidFill>
                  <a:srgbClr val="0F1B40"/>
                </a:solidFill>
                <a:latin typeface="Calibri" pitchFamily="34" charset="0"/>
                <a:ea typeface="Calibri" pitchFamily="34" charset="-122"/>
                <a:cs typeface="Calibri" pitchFamily="34" charset="-120"/>
              </a:rPr>
              <a:t>O-RAN Specific CTI Absence</a:t>
            </a:r>
            <a:endParaRPr lang="en-US" sz="1150" dirty="0"/>
          </a:p>
        </p:txBody>
      </p:sp>
      <p:sp>
        <p:nvSpPr>
          <p:cNvPr id="12" name="Text 8"/>
          <p:cNvSpPr/>
          <p:nvPr/>
        </p:nvSpPr>
        <p:spPr>
          <a:xfrm>
            <a:off x="649224" y="5120640"/>
            <a:ext cx="2395728" cy="914400"/>
          </a:xfrm>
          <a:prstGeom prst="rect">
            <a:avLst/>
          </a:prstGeom>
          <a:noFill/>
          <a:ln/>
        </p:spPr>
        <p:txBody>
          <a:bodyPr wrap="square" lIns="0" tIns="0" rIns="0" bIns="0" rtlCol="0" anchor="t"/>
          <a:lstStyle/>
          <a:p>
            <a:pPr algn="ctr" indent="0" marL="0">
              <a:lnSpc>
                <a:spcPts val="1300"/>
              </a:lnSpc>
              <a:buNone/>
            </a:pPr>
            <a:r>
              <a:rPr lang="en-US" sz="950" dirty="0">
                <a:solidFill>
                  <a:srgbClr val="3B4557"/>
                </a:solidFill>
                <a:latin typeface="Calibri" pitchFamily="34" charset="0"/>
                <a:ea typeface="Calibri" pitchFamily="34" charset="-122"/>
                <a:cs typeface="Calibri" pitchFamily="34" charset="-120"/>
              </a:rPr>
              <a:t>Existing enterprise CTI tools are blind to specific O-RAN components (O-RU, O-DU, O-CU).</a:t>
            </a:r>
            <a:endParaRPr lang="en-US" sz="950" dirty="0"/>
          </a:p>
        </p:txBody>
      </p:sp>
      <p:sp>
        <p:nvSpPr>
          <p:cNvPr id="13" name="Shape 9"/>
          <p:cNvSpPr/>
          <p:nvPr/>
        </p:nvSpPr>
        <p:spPr>
          <a:xfrm>
            <a:off x="3374136" y="4617720"/>
            <a:ext cx="2688336" cy="1481328"/>
          </a:xfrm>
          <a:prstGeom prst="roundRect">
            <a:avLst>
              <a:gd name="adj" fmla="val 3704"/>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14" name="Shape 10"/>
          <p:cNvSpPr/>
          <p:nvPr/>
        </p:nvSpPr>
        <p:spPr>
          <a:xfrm>
            <a:off x="3374136" y="4617720"/>
            <a:ext cx="2688336" cy="420624"/>
          </a:xfrm>
          <a:prstGeom prst="rect">
            <a:avLst/>
          </a:prstGeom>
          <a:solidFill>
            <a:srgbClr val="E8EEF7"/>
          </a:solidFill>
          <a:ln w="12700">
            <a:solidFill>
              <a:srgbClr val="333333"/>
            </a:solidFill>
            <a:prstDash val="solid"/>
          </a:ln>
        </p:spPr>
      </p:sp>
      <p:sp>
        <p:nvSpPr>
          <p:cNvPr id="15" name="Text 11"/>
          <p:cNvSpPr/>
          <p:nvPr/>
        </p:nvSpPr>
        <p:spPr>
          <a:xfrm>
            <a:off x="3465576" y="4617720"/>
            <a:ext cx="2505456" cy="420624"/>
          </a:xfrm>
          <a:prstGeom prst="rect">
            <a:avLst/>
          </a:prstGeom>
          <a:noFill/>
          <a:ln/>
        </p:spPr>
        <p:txBody>
          <a:bodyPr wrap="square" lIns="0" tIns="0" rIns="0" bIns="0" rtlCol="0" anchor="ctr"/>
          <a:lstStyle/>
          <a:p>
            <a:pPr algn="ctr" indent="0" marL="0">
              <a:buNone/>
            </a:pPr>
            <a:r>
              <a:rPr lang="en-US" sz="1150" b="1" dirty="0">
                <a:solidFill>
                  <a:srgbClr val="0F1B40"/>
                </a:solidFill>
                <a:latin typeface="Calibri" pitchFamily="34" charset="0"/>
                <a:ea typeface="Calibri" pitchFamily="34" charset="-122"/>
                <a:cs typeface="Calibri" pitchFamily="34" charset="-120"/>
              </a:rPr>
              <a:t>Lack of RIC Integration</a:t>
            </a:r>
            <a:endParaRPr lang="en-US" sz="1150" dirty="0"/>
          </a:p>
        </p:txBody>
      </p:sp>
      <p:sp>
        <p:nvSpPr>
          <p:cNvPr id="16" name="Text 12"/>
          <p:cNvSpPr/>
          <p:nvPr/>
        </p:nvSpPr>
        <p:spPr>
          <a:xfrm>
            <a:off x="3520440" y="5120640"/>
            <a:ext cx="2395728" cy="914400"/>
          </a:xfrm>
          <a:prstGeom prst="rect">
            <a:avLst/>
          </a:prstGeom>
          <a:noFill/>
          <a:ln/>
        </p:spPr>
        <p:txBody>
          <a:bodyPr wrap="square" lIns="0" tIns="0" rIns="0" bIns="0" rtlCol="0" anchor="t"/>
          <a:lstStyle/>
          <a:p>
            <a:pPr algn="ctr" indent="0" marL="0">
              <a:lnSpc>
                <a:spcPts val="1300"/>
              </a:lnSpc>
              <a:buNone/>
            </a:pPr>
            <a:r>
              <a:rPr lang="en-US" sz="950" dirty="0">
                <a:solidFill>
                  <a:srgbClr val="3B4557"/>
                </a:solidFill>
                <a:latin typeface="Calibri" pitchFamily="34" charset="0"/>
                <a:ea typeface="Calibri" pitchFamily="34" charset="-122"/>
                <a:cs typeface="Calibri" pitchFamily="34" charset="-120"/>
              </a:rPr>
              <a:t>Security fails to natively use the RAN Intelligent Controller for programmable defence.</a:t>
            </a:r>
            <a:endParaRPr lang="en-US" sz="950" dirty="0"/>
          </a:p>
        </p:txBody>
      </p:sp>
      <p:sp>
        <p:nvSpPr>
          <p:cNvPr id="17" name="Shape 13"/>
          <p:cNvSpPr/>
          <p:nvPr/>
        </p:nvSpPr>
        <p:spPr>
          <a:xfrm>
            <a:off x="6245352" y="4617720"/>
            <a:ext cx="2688336" cy="1481328"/>
          </a:xfrm>
          <a:prstGeom prst="roundRect">
            <a:avLst>
              <a:gd name="adj" fmla="val 3704"/>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18" name="Shape 14"/>
          <p:cNvSpPr/>
          <p:nvPr/>
        </p:nvSpPr>
        <p:spPr>
          <a:xfrm>
            <a:off x="6245352" y="4617720"/>
            <a:ext cx="2688336" cy="420624"/>
          </a:xfrm>
          <a:prstGeom prst="rect">
            <a:avLst/>
          </a:prstGeom>
          <a:solidFill>
            <a:srgbClr val="E8EEF7"/>
          </a:solidFill>
          <a:ln w="12700">
            <a:solidFill>
              <a:srgbClr val="333333"/>
            </a:solidFill>
            <a:prstDash val="solid"/>
          </a:ln>
        </p:spPr>
      </p:sp>
      <p:sp>
        <p:nvSpPr>
          <p:cNvPr id="19" name="Text 15"/>
          <p:cNvSpPr/>
          <p:nvPr/>
        </p:nvSpPr>
        <p:spPr>
          <a:xfrm>
            <a:off x="6336792" y="4617720"/>
            <a:ext cx="2505456" cy="420624"/>
          </a:xfrm>
          <a:prstGeom prst="rect">
            <a:avLst/>
          </a:prstGeom>
          <a:noFill/>
          <a:ln/>
        </p:spPr>
        <p:txBody>
          <a:bodyPr wrap="square" lIns="0" tIns="0" rIns="0" bIns="0" rtlCol="0" anchor="ctr"/>
          <a:lstStyle/>
          <a:p>
            <a:pPr algn="ctr" indent="0" marL="0">
              <a:buNone/>
            </a:pPr>
            <a:r>
              <a:rPr lang="en-US" sz="1150" b="1" dirty="0">
                <a:solidFill>
                  <a:srgbClr val="0F1B40"/>
                </a:solidFill>
                <a:latin typeface="Calibri" pitchFamily="34" charset="0"/>
                <a:ea typeface="Calibri" pitchFamily="34" charset="-122"/>
                <a:cs typeface="Calibri" pitchFamily="34" charset="-120"/>
              </a:rPr>
              <a:t>Insufficient Threat Sharing</a:t>
            </a:r>
            <a:endParaRPr lang="en-US" sz="1150" dirty="0"/>
          </a:p>
        </p:txBody>
      </p:sp>
      <p:sp>
        <p:nvSpPr>
          <p:cNvPr id="20" name="Text 16"/>
          <p:cNvSpPr/>
          <p:nvPr/>
        </p:nvSpPr>
        <p:spPr>
          <a:xfrm>
            <a:off x="6391656" y="5120640"/>
            <a:ext cx="2395728" cy="914400"/>
          </a:xfrm>
          <a:prstGeom prst="rect">
            <a:avLst/>
          </a:prstGeom>
          <a:noFill/>
          <a:ln/>
        </p:spPr>
        <p:txBody>
          <a:bodyPr wrap="square" lIns="0" tIns="0" rIns="0" bIns="0" rtlCol="0" anchor="t"/>
          <a:lstStyle/>
          <a:p>
            <a:pPr algn="ctr" indent="0" marL="0">
              <a:lnSpc>
                <a:spcPts val="1300"/>
              </a:lnSpc>
              <a:buNone/>
            </a:pPr>
            <a:r>
              <a:rPr lang="en-US" sz="950" dirty="0">
                <a:solidFill>
                  <a:srgbClr val="3B4557"/>
                </a:solidFill>
                <a:latin typeface="Calibri" pitchFamily="34" charset="0"/>
                <a:ea typeface="Calibri" pitchFamily="34" charset="-122"/>
                <a:cs typeface="Calibri" pitchFamily="34" charset="-120"/>
              </a:rPr>
              <a:t>No standardised, privacy-preserving protocol, creating reactive silos not collaborative defence.</a:t>
            </a:r>
            <a:endParaRPr lang="en-US" sz="950" dirty="0"/>
          </a:p>
        </p:txBody>
      </p:sp>
      <p:sp>
        <p:nvSpPr>
          <p:cNvPr id="21" name="Shape 17"/>
          <p:cNvSpPr/>
          <p:nvPr/>
        </p:nvSpPr>
        <p:spPr>
          <a:xfrm>
            <a:off x="9116568" y="4617720"/>
            <a:ext cx="2688336" cy="1481328"/>
          </a:xfrm>
          <a:prstGeom prst="roundRect">
            <a:avLst>
              <a:gd name="adj" fmla="val 3704"/>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22" name="Shape 18"/>
          <p:cNvSpPr/>
          <p:nvPr/>
        </p:nvSpPr>
        <p:spPr>
          <a:xfrm>
            <a:off x="9116568" y="4617720"/>
            <a:ext cx="2688336" cy="420624"/>
          </a:xfrm>
          <a:prstGeom prst="rect">
            <a:avLst/>
          </a:prstGeom>
          <a:solidFill>
            <a:srgbClr val="E8EEF7"/>
          </a:solidFill>
          <a:ln w="12700">
            <a:solidFill>
              <a:srgbClr val="333333"/>
            </a:solidFill>
            <a:prstDash val="solid"/>
          </a:ln>
        </p:spPr>
      </p:sp>
      <p:sp>
        <p:nvSpPr>
          <p:cNvPr id="23" name="Text 19"/>
          <p:cNvSpPr/>
          <p:nvPr/>
        </p:nvSpPr>
        <p:spPr>
          <a:xfrm>
            <a:off x="9208008" y="4617720"/>
            <a:ext cx="2505456" cy="420624"/>
          </a:xfrm>
          <a:prstGeom prst="rect">
            <a:avLst/>
          </a:prstGeom>
          <a:noFill/>
          <a:ln/>
        </p:spPr>
        <p:txBody>
          <a:bodyPr wrap="square" lIns="0" tIns="0" rIns="0" bIns="0" rtlCol="0" anchor="ctr"/>
          <a:lstStyle/>
          <a:p>
            <a:pPr algn="ctr" indent="0" marL="0">
              <a:buNone/>
            </a:pPr>
            <a:r>
              <a:rPr lang="en-US" sz="1150" b="1" dirty="0">
                <a:solidFill>
                  <a:srgbClr val="0F1B40"/>
                </a:solidFill>
                <a:latin typeface="Calibri" pitchFamily="34" charset="0"/>
                <a:ea typeface="Calibri" pitchFamily="34" charset="-122"/>
                <a:cs typeface="Calibri" pitchFamily="34" charset="-120"/>
              </a:rPr>
              <a:t>E2E Detection &amp; Mitigation</a:t>
            </a:r>
            <a:endParaRPr lang="en-US" sz="1150" dirty="0"/>
          </a:p>
        </p:txBody>
      </p:sp>
      <p:sp>
        <p:nvSpPr>
          <p:cNvPr id="24" name="Text 20"/>
          <p:cNvSpPr/>
          <p:nvPr/>
        </p:nvSpPr>
        <p:spPr>
          <a:xfrm>
            <a:off x="9262872" y="5120640"/>
            <a:ext cx="2395728" cy="914400"/>
          </a:xfrm>
          <a:prstGeom prst="rect">
            <a:avLst/>
          </a:prstGeom>
          <a:noFill/>
          <a:ln/>
        </p:spPr>
        <p:txBody>
          <a:bodyPr wrap="square" lIns="0" tIns="0" rIns="0" bIns="0" rtlCol="0" anchor="t"/>
          <a:lstStyle/>
          <a:p>
            <a:pPr algn="ctr" indent="0" marL="0">
              <a:lnSpc>
                <a:spcPts val="1300"/>
              </a:lnSpc>
              <a:buNone/>
            </a:pPr>
            <a:r>
              <a:rPr lang="en-US" sz="950" dirty="0">
                <a:solidFill>
                  <a:srgbClr val="3B4557"/>
                </a:solidFill>
                <a:latin typeface="Calibri" pitchFamily="34" charset="0"/>
                <a:ea typeface="Calibri" pitchFamily="34" charset="-122"/>
                <a:cs typeface="Calibri" pitchFamily="34" charset="-120"/>
              </a:rPr>
              <a:t>No end-to-end threat detection and mitigation with CTI in the context of O-RAN.</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1F6"/>
        </a:solidFill>
      </p:bgPr>
    </p:bg>
    <p:spTree>
      <p:nvGrpSpPr>
        <p:cNvPr id="1" name=""/>
        <p:cNvGrpSpPr/>
        <p:nvPr/>
      </p:nvGrpSpPr>
      <p:grpSpPr>
        <a:xfrm>
          <a:off x="0" y="0"/>
          <a:ext cx="0" cy="0"/>
          <a:chOff x="0" y="0"/>
          <a:chExt cx="0" cy="0"/>
        </a:xfrm>
      </p:grpSpPr>
      <p:sp>
        <p:nvSpPr>
          <p:cNvPr id="2" name="Shape 0"/>
          <p:cNvSpPr/>
          <p:nvPr/>
        </p:nvSpPr>
        <p:spPr>
          <a:xfrm>
            <a:off x="-1005840" y="-822960"/>
            <a:ext cx="3383280" cy="2834640"/>
          </a:xfrm>
          <a:prstGeom prst="roundRect">
            <a:avLst>
              <a:gd name="adj" fmla="val 9677"/>
            </a:avLst>
          </a:prstGeom>
          <a:solidFill>
            <a:srgbClr val="DBE2EB"/>
          </a:solidFill>
          <a:ln w="12700">
            <a:solidFill>
              <a:srgbClr val="DBE2EB"/>
            </a:solidFill>
            <a:prstDash val="solid"/>
          </a:ln>
        </p:spPr>
      </p:sp>
      <p:sp>
        <p:nvSpPr>
          <p:cNvPr id="3" name="Text 1"/>
          <p:cNvSpPr/>
          <p:nvPr/>
        </p:nvSpPr>
        <p:spPr>
          <a:xfrm>
            <a:off x="502920" y="219456"/>
            <a:ext cx="11185855" cy="658368"/>
          </a:xfrm>
          <a:prstGeom prst="rect">
            <a:avLst/>
          </a:prstGeom>
          <a:noFill/>
          <a:ln/>
        </p:spPr>
        <p:txBody>
          <a:bodyPr wrap="square" lIns="0" tIns="0" rIns="0" bIns="0" rtlCol="0" anchor="ctr"/>
          <a:lstStyle/>
          <a:p>
            <a:pPr indent="0" marL="0">
              <a:buNone/>
            </a:pPr>
            <a:r>
              <a:rPr lang="en-US" sz="2900" b="1" dirty="0">
                <a:solidFill>
                  <a:srgbClr val="0F1B40"/>
                </a:solidFill>
                <a:latin typeface="Arial" pitchFamily="34" charset="0"/>
                <a:ea typeface="Arial" pitchFamily="34" charset="-122"/>
                <a:cs typeface="Arial" pitchFamily="34" charset="-120"/>
              </a:rPr>
              <a:t>Solution</a:t>
            </a:r>
            <a:endParaRPr lang="en-US" sz="2900" dirty="0"/>
          </a:p>
        </p:txBody>
      </p:sp>
      <p:sp>
        <p:nvSpPr>
          <p:cNvPr id="4" name="Shape 2"/>
          <p:cNvSpPr/>
          <p:nvPr/>
        </p:nvSpPr>
        <p:spPr>
          <a:xfrm>
            <a:off x="11478463" y="6236208"/>
            <a:ext cx="384048" cy="384048"/>
          </a:xfrm>
          <a:prstGeom prst="ellipse">
            <a:avLst/>
          </a:prstGeom>
          <a:solidFill>
            <a:srgbClr val="8FA3C1"/>
          </a:solidFill>
          <a:ln w="12700">
            <a:solidFill>
              <a:srgbClr val="8FA3C1"/>
            </a:solidFill>
            <a:prstDash val="solid"/>
          </a:ln>
        </p:spPr>
      </p:sp>
      <p:sp>
        <p:nvSpPr>
          <p:cNvPr id="5" name="Text 3"/>
          <p:cNvSpPr/>
          <p:nvPr/>
        </p:nvSpPr>
        <p:spPr>
          <a:xfrm>
            <a:off x="11478463" y="6236208"/>
            <a:ext cx="384048" cy="384048"/>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3</a:t>
            </a:r>
            <a:endParaRPr lang="en-US" sz="1100" dirty="0"/>
          </a:p>
        </p:txBody>
      </p:sp>
      <p:sp>
        <p:nvSpPr>
          <p:cNvPr id="6" name="Text 4"/>
          <p:cNvSpPr/>
          <p:nvPr/>
        </p:nvSpPr>
        <p:spPr>
          <a:xfrm>
            <a:off x="502920" y="868680"/>
            <a:ext cx="11185855" cy="347472"/>
          </a:xfrm>
          <a:prstGeom prst="rect">
            <a:avLst/>
          </a:prstGeom>
          <a:noFill/>
          <a:ln/>
        </p:spPr>
        <p:txBody>
          <a:bodyPr wrap="square" lIns="0" tIns="0" rIns="0" bIns="0" rtlCol="0" anchor="ctr"/>
          <a:lstStyle/>
          <a:p>
            <a:pPr algn="ctr" indent="0" marL="0">
              <a:buNone/>
            </a:pPr>
            <a:r>
              <a:rPr lang="en-US" sz="1500" b="1" dirty="0">
                <a:solidFill>
                  <a:srgbClr val="0F1B40"/>
                </a:solidFill>
                <a:latin typeface="Calibri" pitchFamily="34" charset="0"/>
                <a:ea typeface="Calibri" pitchFamily="34" charset="-122"/>
                <a:cs typeface="Calibri" pitchFamily="34" charset="-120"/>
              </a:rPr>
              <a:t>A disaggregated CTI platform on a native O-RAN with autonomous threat dissemination</a:t>
            </a:r>
            <a:endParaRPr lang="en-US" sz="1500" dirty="0"/>
          </a:p>
        </p:txBody>
      </p:sp>
      <p:sp>
        <p:nvSpPr>
          <p:cNvPr id="7" name="Shape 5"/>
          <p:cNvSpPr/>
          <p:nvPr/>
        </p:nvSpPr>
        <p:spPr>
          <a:xfrm>
            <a:off x="502920" y="1371600"/>
            <a:ext cx="5468112" cy="2286000"/>
          </a:xfrm>
          <a:prstGeom prst="roundRect">
            <a:avLst>
              <a:gd name="adj" fmla="val 2400"/>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8" name="Shape 6"/>
          <p:cNvSpPr/>
          <p:nvPr/>
        </p:nvSpPr>
        <p:spPr>
          <a:xfrm>
            <a:off x="502920" y="1371600"/>
            <a:ext cx="5468112" cy="457200"/>
          </a:xfrm>
          <a:prstGeom prst="rect">
            <a:avLst/>
          </a:prstGeom>
          <a:solidFill>
            <a:srgbClr val="1F3B87"/>
          </a:solidFill>
          <a:ln w="12700">
            <a:solidFill>
              <a:srgbClr val="333333"/>
            </a:solidFill>
            <a:prstDash val="solid"/>
          </a:ln>
        </p:spPr>
      </p:sp>
      <p:sp>
        <p:nvSpPr>
          <p:cNvPr id="9" name="Text 7"/>
          <p:cNvSpPr/>
          <p:nvPr/>
        </p:nvSpPr>
        <p:spPr>
          <a:xfrm>
            <a:off x="612648" y="1371600"/>
            <a:ext cx="5248656"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O-RAN Domain-Native CTI &amp; STIX 2.1 Graph</a:t>
            </a:r>
            <a:endParaRPr lang="en-US" sz="1250" dirty="0"/>
          </a:p>
        </p:txBody>
      </p:sp>
      <p:sp>
        <p:nvSpPr>
          <p:cNvPr id="10" name="Text 8"/>
          <p:cNvSpPr/>
          <p:nvPr/>
        </p:nvSpPr>
        <p:spPr>
          <a:xfrm>
            <a:off x="685800" y="1938528"/>
            <a:ext cx="5102352" cy="868680"/>
          </a:xfrm>
          <a:prstGeom prst="rect">
            <a:avLst/>
          </a:prstGeom>
          <a:noFill/>
          <a:ln/>
        </p:spPr>
        <p:txBody>
          <a:bodyPr wrap="square" lIns="0" tIns="0" rIns="0" bIns="0" rtlCol="0" anchor="t"/>
          <a:lstStyle/>
          <a:p>
            <a:pPr indent="0" marL="0">
              <a:lnSpc>
                <a:spcPts val="1400"/>
              </a:lnSpc>
              <a:buNone/>
            </a:pPr>
            <a:r>
              <a:rPr lang="en-US" sz="1050" dirty="0">
                <a:solidFill>
                  <a:srgbClr val="3B4557"/>
                </a:solidFill>
                <a:latin typeface="Calibri" pitchFamily="34" charset="0"/>
                <a:ea typeface="Calibri" pitchFamily="34" charset="-122"/>
                <a:cs typeface="Calibri" pitchFamily="34" charset="-120"/>
              </a:rPr>
              <a:t>Synthesises telecom-specific threat intelligence across all 10 O-RAN components, open interfaces (E2, A1, O1) and multi-vendor radio attack paths.</a:t>
            </a:r>
            <a:endParaRPr lang="en-US" sz="1050" dirty="0"/>
          </a:p>
        </p:txBody>
      </p:sp>
      <p:sp>
        <p:nvSpPr>
          <p:cNvPr id="11" name="Shape 9"/>
          <p:cNvSpPr/>
          <p:nvPr/>
        </p:nvSpPr>
        <p:spPr>
          <a:xfrm>
            <a:off x="685800" y="2834640"/>
            <a:ext cx="5102352" cy="713232"/>
          </a:xfrm>
          <a:prstGeom prst="rect">
            <a:avLst/>
          </a:prstGeom>
          <a:solidFill>
            <a:srgbClr val="EAF4FB"/>
          </a:solidFill>
          <a:ln w="12700">
            <a:solidFill>
              <a:srgbClr val="333333"/>
            </a:solidFill>
            <a:prstDash val="solid"/>
          </a:ln>
        </p:spPr>
      </p:sp>
      <p:sp>
        <p:nvSpPr>
          <p:cNvPr id="12" name="Text 10"/>
          <p:cNvSpPr/>
          <p:nvPr/>
        </p:nvSpPr>
        <p:spPr>
          <a:xfrm>
            <a:off x="795528" y="2907792"/>
            <a:ext cx="4882896" cy="603504"/>
          </a:xfrm>
          <a:prstGeom prst="rect">
            <a:avLst/>
          </a:prstGeom>
          <a:noFill/>
          <a:ln/>
        </p:spPr>
        <p:txBody>
          <a:bodyPr wrap="square" lIns="0" tIns="0" rIns="0" bIns="0" rtlCol="0" anchor="t"/>
          <a:lstStyle/>
          <a:p>
            <a:pPr indent="0" marL="0">
              <a:lnSpc>
                <a:spcPts val="1150"/>
              </a:lnSpc>
              <a:buNone/>
            </a:pPr>
            <a:r>
              <a:rPr lang="en-US" sz="900" dirty="0">
                <a:solidFill>
                  <a:srgbClr val="1F5A80"/>
                </a:solidFill>
                <a:latin typeface="Calibri" pitchFamily="34" charset="0"/>
                <a:ea typeface="Calibri" pitchFamily="34" charset="-122"/>
                <a:cs typeface="Calibri" pitchFamily="34" charset="-120"/>
              </a:rPr>
              <a:t>Max-Sim semantic tensor pruning of MITRE ATT&amp;CK and FiGHT, ArangoDB STIX 2.1 graph store (:8529), OASIS TAXII 2.1 REST server (:5001)</a:t>
            </a:r>
            <a:endParaRPr lang="en-US" sz="900" dirty="0"/>
          </a:p>
        </p:txBody>
      </p:sp>
      <p:sp>
        <p:nvSpPr>
          <p:cNvPr id="13" name="Shape 11"/>
          <p:cNvSpPr/>
          <p:nvPr/>
        </p:nvSpPr>
        <p:spPr>
          <a:xfrm>
            <a:off x="6208776" y="1371600"/>
            <a:ext cx="5468112" cy="2286000"/>
          </a:xfrm>
          <a:prstGeom prst="roundRect">
            <a:avLst>
              <a:gd name="adj" fmla="val 2400"/>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14" name="Shape 12"/>
          <p:cNvSpPr/>
          <p:nvPr/>
        </p:nvSpPr>
        <p:spPr>
          <a:xfrm>
            <a:off x="6208776" y="1371600"/>
            <a:ext cx="5468112" cy="457200"/>
          </a:xfrm>
          <a:prstGeom prst="rect">
            <a:avLst/>
          </a:prstGeom>
          <a:solidFill>
            <a:srgbClr val="B03A48"/>
          </a:solidFill>
          <a:ln w="12700">
            <a:solidFill>
              <a:srgbClr val="333333"/>
            </a:solidFill>
            <a:prstDash val="solid"/>
          </a:ln>
        </p:spPr>
      </p:sp>
      <p:sp>
        <p:nvSpPr>
          <p:cNvPr id="15" name="Text 13"/>
          <p:cNvSpPr/>
          <p:nvPr/>
        </p:nvSpPr>
        <p:spPr>
          <a:xfrm>
            <a:off x="6318504" y="1371600"/>
            <a:ext cx="5248656"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Dual-Tier RIC Integration (xApps + rApps)</a:t>
            </a:r>
            <a:endParaRPr lang="en-US" sz="1250" dirty="0"/>
          </a:p>
        </p:txBody>
      </p:sp>
      <p:sp>
        <p:nvSpPr>
          <p:cNvPr id="16" name="Text 14"/>
          <p:cNvSpPr/>
          <p:nvPr/>
        </p:nvSpPr>
        <p:spPr>
          <a:xfrm>
            <a:off x="6391656" y="1938528"/>
            <a:ext cx="5102352" cy="868680"/>
          </a:xfrm>
          <a:prstGeom prst="rect">
            <a:avLst/>
          </a:prstGeom>
          <a:noFill/>
          <a:ln/>
        </p:spPr>
        <p:txBody>
          <a:bodyPr wrap="square" lIns="0" tIns="0" rIns="0" bIns="0" rtlCol="0" anchor="t"/>
          <a:lstStyle/>
          <a:p>
            <a:pPr indent="0" marL="0">
              <a:lnSpc>
                <a:spcPts val="1400"/>
              </a:lnSpc>
              <a:buNone/>
            </a:pPr>
            <a:r>
              <a:rPr lang="en-US" sz="1050" dirty="0">
                <a:solidFill>
                  <a:srgbClr val="3B4557"/>
                </a:solidFill>
                <a:latin typeface="Calibri" pitchFamily="34" charset="0"/>
                <a:ea typeface="Calibri" pitchFamily="34" charset="-122"/>
                <a:cs typeface="Calibri" pitchFamily="34" charset="-120"/>
              </a:rPr>
              <a:t>Natively integrates detection, vector retrieval and tactical defence directly into Near-RT and Non-RT RIC control loops with locality-first sub-second edge resolution.</a:t>
            </a:r>
            <a:endParaRPr lang="en-US" sz="1050" dirty="0"/>
          </a:p>
        </p:txBody>
      </p:sp>
      <p:sp>
        <p:nvSpPr>
          <p:cNvPr id="17" name="Shape 15"/>
          <p:cNvSpPr/>
          <p:nvPr/>
        </p:nvSpPr>
        <p:spPr>
          <a:xfrm>
            <a:off x="6391656" y="2834640"/>
            <a:ext cx="5102352" cy="713232"/>
          </a:xfrm>
          <a:prstGeom prst="rect">
            <a:avLst/>
          </a:prstGeom>
          <a:solidFill>
            <a:srgbClr val="EAF4FB"/>
          </a:solidFill>
          <a:ln w="12700">
            <a:solidFill>
              <a:srgbClr val="333333"/>
            </a:solidFill>
            <a:prstDash val="solid"/>
          </a:ln>
        </p:spPr>
      </p:sp>
      <p:sp>
        <p:nvSpPr>
          <p:cNvPr id="18" name="Text 16"/>
          <p:cNvSpPr/>
          <p:nvPr/>
        </p:nvSpPr>
        <p:spPr>
          <a:xfrm>
            <a:off x="6501384" y="2907792"/>
            <a:ext cx="4882896" cy="603504"/>
          </a:xfrm>
          <a:prstGeom prst="rect">
            <a:avLst/>
          </a:prstGeom>
          <a:noFill/>
          <a:ln/>
        </p:spPr>
        <p:txBody>
          <a:bodyPr wrap="square" lIns="0" tIns="0" rIns="0" bIns="0" rtlCol="0" anchor="t"/>
          <a:lstStyle/>
          <a:p>
            <a:pPr indent="0" marL="0">
              <a:lnSpc>
                <a:spcPts val="1150"/>
              </a:lnSpc>
              <a:buNone/>
            </a:pPr>
            <a:r>
              <a:rPr lang="en-US" sz="900" dirty="0">
                <a:solidFill>
                  <a:srgbClr val="1F5A80"/>
                </a:solidFill>
                <a:latin typeface="Calibri" pitchFamily="34" charset="0"/>
                <a:ea typeface="Calibri" pitchFamily="34" charset="-122"/>
                <a:cs typeface="Calibri" pitchFamily="34" charset="-120"/>
              </a:rPr>
              <a:t>xApp2 telemetry ingestion, all-MiniLM-L6-v2 ChromaDB vector store with strict threshold gate (t_L = 0.69) for &lt;50 ms local response, Gemini 1.5 Pro with OpenRouter fallback.</a:t>
            </a:r>
            <a:endParaRPr lang="en-US" sz="900" dirty="0"/>
          </a:p>
        </p:txBody>
      </p:sp>
      <p:sp>
        <p:nvSpPr>
          <p:cNvPr id="19" name="Shape 17"/>
          <p:cNvSpPr/>
          <p:nvPr/>
        </p:nvSpPr>
        <p:spPr>
          <a:xfrm>
            <a:off x="502920" y="3858768"/>
            <a:ext cx="5468112" cy="2286000"/>
          </a:xfrm>
          <a:prstGeom prst="roundRect">
            <a:avLst>
              <a:gd name="adj" fmla="val 2400"/>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20" name="Shape 18"/>
          <p:cNvSpPr/>
          <p:nvPr/>
        </p:nvSpPr>
        <p:spPr>
          <a:xfrm>
            <a:off x="502920" y="3858768"/>
            <a:ext cx="5468112" cy="457200"/>
          </a:xfrm>
          <a:prstGeom prst="rect">
            <a:avLst/>
          </a:prstGeom>
          <a:solidFill>
            <a:srgbClr val="2E8358"/>
          </a:solidFill>
          <a:ln w="12700">
            <a:solidFill>
              <a:srgbClr val="333333"/>
            </a:solidFill>
            <a:prstDash val="solid"/>
          </a:ln>
        </p:spPr>
      </p:sp>
      <p:sp>
        <p:nvSpPr>
          <p:cNvPr id="21" name="Text 19"/>
          <p:cNvSpPr/>
          <p:nvPr/>
        </p:nvSpPr>
        <p:spPr>
          <a:xfrm>
            <a:off x="612648" y="3858768"/>
            <a:ext cx="5248656"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Inter-Platform Agent &amp; FastMCP Exchange</a:t>
            </a:r>
            <a:endParaRPr lang="en-US" sz="1250" dirty="0"/>
          </a:p>
        </p:txBody>
      </p:sp>
      <p:sp>
        <p:nvSpPr>
          <p:cNvPr id="22" name="Text 20"/>
          <p:cNvSpPr/>
          <p:nvPr/>
        </p:nvSpPr>
        <p:spPr>
          <a:xfrm>
            <a:off x="685800" y="4425696"/>
            <a:ext cx="5102352" cy="868680"/>
          </a:xfrm>
          <a:prstGeom prst="rect">
            <a:avLst/>
          </a:prstGeom>
          <a:noFill/>
          <a:ln/>
        </p:spPr>
        <p:txBody>
          <a:bodyPr wrap="square" lIns="0" tIns="0" rIns="0" bIns="0" rtlCol="0" anchor="t"/>
          <a:lstStyle/>
          <a:p>
            <a:pPr indent="0" marL="0">
              <a:lnSpc>
                <a:spcPts val="1400"/>
              </a:lnSpc>
              <a:buNone/>
            </a:pPr>
            <a:r>
              <a:rPr lang="en-US" sz="1050" dirty="0">
                <a:solidFill>
                  <a:srgbClr val="3B4557"/>
                </a:solidFill>
                <a:latin typeface="Calibri" pitchFamily="34" charset="0"/>
                <a:ea typeface="Calibri" pitchFamily="34" charset="-122"/>
                <a:cs typeface="Calibri" pitchFamily="34" charset="-120"/>
              </a:rPr>
              <a:t>Enables collaborative cross-region threat defence by securely synchronising intelligence and dynamic edge learning without exposing operational privacy or creating broadcast loops.</a:t>
            </a:r>
            <a:endParaRPr lang="en-US" sz="1050" dirty="0"/>
          </a:p>
        </p:txBody>
      </p:sp>
      <p:sp>
        <p:nvSpPr>
          <p:cNvPr id="23" name="Shape 21"/>
          <p:cNvSpPr/>
          <p:nvPr/>
        </p:nvSpPr>
        <p:spPr>
          <a:xfrm>
            <a:off x="685800" y="5321808"/>
            <a:ext cx="5102352" cy="713232"/>
          </a:xfrm>
          <a:prstGeom prst="rect">
            <a:avLst/>
          </a:prstGeom>
          <a:solidFill>
            <a:srgbClr val="EAF4FB"/>
          </a:solidFill>
          <a:ln w="12700">
            <a:solidFill>
              <a:srgbClr val="333333"/>
            </a:solidFill>
            <a:prstDash val="solid"/>
          </a:ln>
        </p:spPr>
      </p:sp>
      <p:sp>
        <p:nvSpPr>
          <p:cNvPr id="24" name="Text 22"/>
          <p:cNvSpPr/>
          <p:nvPr/>
        </p:nvSpPr>
        <p:spPr>
          <a:xfrm>
            <a:off x="795528" y="5394960"/>
            <a:ext cx="4882896" cy="603504"/>
          </a:xfrm>
          <a:prstGeom prst="rect">
            <a:avLst/>
          </a:prstGeom>
          <a:noFill/>
          <a:ln/>
        </p:spPr>
        <p:txBody>
          <a:bodyPr wrap="square" lIns="0" tIns="0" rIns="0" bIns="0" rtlCol="0" anchor="t"/>
          <a:lstStyle/>
          <a:p>
            <a:pPr indent="0" marL="0">
              <a:lnSpc>
                <a:spcPts val="1150"/>
              </a:lnSpc>
              <a:buNone/>
            </a:pPr>
            <a:r>
              <a:rPr lang="en-US" sz="900" dirty="0">
                <a:solidFill>
                  <a:srgbClr val="1F5A80"/>
                </a:solidFill>
                <a:latin typeface="Calibri" pitchFamily="34" charset="0"/>
                <a:ea typeface="Calibri" pitchFamily="34" charset="-122"/>
                <a:cs typeface="Calibri" pitchFamily="34" charset="-120"/>
              </a:rPr>
              <a:t>FastMCP tool escalation (:8000/mcp), automated PII and IP scrubbing, source-exclusion loop prevention, local ChromaDB PVC upsert.</a:t>
            </a:r>
            <a:endParaRPr lang="en-US" sz="900" dirty="0"/>
          </a:p>
        </p:txBody>
      </p:sp>
      <p:sp>
        <p:nvSpPr>
          <p:cNvPr id="25" name="Shape 23"/>
          <p:cNvSpPr/>
          <p:nvPr/>
        </p:nvSpPr>
        <p:spPr>
          <a:xfrm>
            <a:off x="6208776" y="3858768"/>
            <a:ext cx="5468112" cy="2286000"/>
          </a:xfrm>
          <a:prstGeom prst="roundRect">
            <a:avLst>
              <a:gd name="adj" fmla="val 2400"/>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26" name="Shape 24"/>
          <p:cNvSpPr/>
          <p:nvPr/>
        </p:nvSpPr>
        <p:spPr>
          <a:xfrm>
            <a:off x="6208776" y="3858768"/>
            <a:ext cx="5468112" cy="457200"/>
          </a:xfrm>
          <a:prstGeom prst="rect">
            <a:avLst/>
          </a:prstGeom>
          <a:solidFill>
            <a:srgbClr val="6D3F9E"/>
          </a:solidFill>
          <a:ln w="12700">
            <a:solidFill>
              <a:srgbClr val="333333"/>
            </a:solidFill>
            <a:prstDash val="solid"/>
          </a:ln>
        </p:spPr>
      </p:sp>
      <p:sp>
        <p:nvSpPr>
          <p:cNvPr id="27" name="Text 25"/>
          <p:cNvSpPr/>
          <p:nvPr/>
        </p:nvSpPr>
        <p:spPr>
          <a:xfrm>
            <a:off x="6318504" y="3858768"/>
            <a:ext cx="5248656"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Deterministic Gateway &amp; Guarded Mitigation</a:t>
            </a:r>
            <a:endParaRPr lang="en-US" sz="1250" dirty="0"/>
          </a:p>
        </p:txBody>
      </p:sp>
      <p:sp>
        <p:nvSpPr>
          <p:cNvPr id="28" name="Text 26"/>
          <p:cNvSpPr/>
          <p:nvPr/>
        </p:nvSpPr>
        <p:spPr>
          <a:xfrm>
            <a:off x="6391656" y="4425696"/>
            <a:ext cx="5102352" cy="868680"/>
          </a:xfrm>
          <a:prstGeom prst="rect">
            <a:avLst/>
          </a:prstGeom>
          <a:noFill/>
          <a:ln/>
        </p:spPr>
        <p:txBody>
          <a:bodyPr wrap="square" lIns="0" tIns="0" rIns="0" bIns="0" rtlCol="0" anchor="t"/>
          <a:lstStyle/>
          <a:p>
            <a:pPr indent="0" marL="0">
              <a:lnSpc>
                <a:spcPts val="1400"/>
              </a:lnSpc>
              <a:buNone/>
            </a:pPr>
            <a:r>
              <a:rPr lang="en-US" sz="1050" dirty="0">
                <a:solidFill>
                  <a:srgbClr val="3B4557"/>
                </a:solidFill>
                <a:latin typeface="Calibri" pitchFamily="34" charset="0"/>
                <a:ea typeface="Calibri" pitchFamily="34" charset="-122"/>
                <a:cs typeface="Calibri" pitchFamily="34" charset="-120"/>
              </a:rPr>
              <a:t>Provides end-to-end protection by grounding multi-modal anomalies in verifiable mathematical metrics and executing safety-gated, reversible network responses.</a:t>
            </a:r>
            <a:endParaRPr lang="en-US" sz="1050" dirty="0"/>
          </a:p>
        </p:txBody>
      </p:sp>
      <p:sp>
        <p:nvSpPr>
          <p:cNvPr id="29" name="Shape 27"/>
          <p:cNvSpPr/>
          <p:nvPr/>
        </p:nvSpPr>
        <p:spPr>
          <a:xfrm>
            <a:off x="6391656" y="5321808"/>
            <a:ext cx="5102352" cy="713232"/>
          </a:xfrm>
          <a:prstGeom prst="rect">
            <a:avLst/>
          </a:prstGeom>
          <a:solidFill>
            <a:srgbClr val="EAF4FB"/>
          </a:solidFill>
          <a:ln w="12700">
            <a:solidFill>
              <a:srgbClr val="333333"/>
            </a:solidFill>
            <a:prstDash val="solid"/>
          </a:ln>
        </p:spPr>
      </p:sp>
      <p:sp>
        <p:nvSpPr>
          <p:cNvPr id="30" name="Text 28"/>
          <p:cNvSpPr/>
          <p:nvPr/>
        </p:nvSpPr>
        <p:spPr>
          <a:xfrm>
            <a:off x="6501384" y="5394960"/>
            <a:ext cx="4882896" cy="603504"/>
          </a:xfrm>
          <a:prstGeom prst="rect">
            <a:avLst/>
          </a:prstGeom>
          <a:noFill/>
          <a:ln/>
        </p:spPr>
        <p:txBody>
          <a:bodyPr wrap="square" lIns="0" tIns="0" rIns="0" bIns="0" rtlCol="0" anchor="t"/>
          <a:lstStyle/>
          <a:p>
            <a:pPr indent="0" marL="0">
              <a:lnSpc>
                <a:spcPts val="1150"/>
              </a:lnSpc>
              <a:buNone/>
            </a:pPr>
            <a:r>
              <a:rPr lang="en-US" sz="900" dirty="0">
                <a:solidFill>
                  <a:srgbClr val="1F5A80"/>
                </a:solidFill>
                <a:latin typeface="Calibri" pitchFamily="34" charset="0"/>
                <a:ea typeface="Calibri" pitchFamily="34" charset="-122"/>
                <a:cs typeface="Calibri" pitchFamily="34" charset="-120"/>
              </a:rPr>
              <a:t>Multi-modal E2SM-KPM, Falco and Loki V% scoring, xApp1 E2SM-RC throttle and CNI pod quarantine, PromQL closed-loop effect verification with automated safe rollback.</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1F6"/>
        </a:solidFill>
      </p:bgPr>
    </p:bg>
    <p:spTree>
      <p:nvGrpSpPr>
        <p:cNvPr id="1" name=""/>
        <p:cNvGrpSpPr/>
        <p:nvPr/>
      </p:nvGrpSpPr>
      <p:grpSpPr>
        <a:xfrm>
          <a:off x="0" y="0"/>
          <a:ext cx="0" cy="0"/>
          <a:chOff x="0" y="0"/>
          <a:chExt cx="0" cy="0"/>
        </a:xfrm>
      </p:grpSpPr>
      <p:sp>
        <p:nvSpPr>
          <p:cNvPr id="2" name="Shape 0"/>
          <p:cNvSpPr/>
          <p:nvPr/>
        </p:nvSpPr>
        <p:spPr>
          <a:xfrm>
            <a:off x="-1005840" y="-822960"/>
            <a:ext cx="3383280" cy="2834640"/>
          </a:xfrm>
          <a:prstGeom prst="roundRect">
            <a:avLst>
              <a:gd name="adj" fmla="val 9677"/>
            </a:avLst>
          </a:prstGeom>
          <a:solidFill>
            <a:srgbClr val="DBE2EB"/>
          </a:solidFill>
          <a:ln w="12700">
            <a:solidFill>
              <a:srgbClr val="DBE2EB"/>
            </a:solidFill>
            <a:prstDash val="solid"/>
          </a:ln>
        </p:spPr>
      </p:sp>
      <p:sp>
        <p:nvSpPr>
          <p:cNvPr id="3" name="Text 1"/>
          <p:cNvSpPr/>
          <p:nvPr/>
        </p:nvSpPr>
        <p:spPr>
          <a:xfrm>
            <a:off x="502920" y="219456"/>
            <a:ext cx="11185855" cy="658368"/>
          </a:xfrm>
          <a:prstGeom prst="rect">
            <a:avLst/>
          </a:prstGeom>
          <a:noFill/>
          <a:ln/>
        </p:spPr>
        <p:txBody>
          <a:bodyPr wrap="square" lIns="0" tIns="0" rIns="0" bIns="0" rtlCol="0" anchor="ctr"/>
          <a:lstStyle/>
          <a:p>
            <a:pPr indent="0" marL="0">
              <a:buNone/>
            </a:pPr>
            <a:r>
              <a:rPr lang="en-US" sz="2900" b="1" dirty="0">
                <a:solidFill>
                  <a:srgbClr val="0F1B40"/>
                </a:solidFill>
                <a:latin typeface="Arial" pitchFamily="34" charset="0"/>
                <a:ea typeface="Arial" pitchFamily="34" charset="-122"/>
                <a:cs typeface="Arial" pitchFamily="34" charset="-120"/>
              </a:rPr>
              <a:t>Initial Project Objectives</a:t>
            </a:r>
            <a:endParaRPr lang="en-US" sz="2900" dirty="0"/>
          </a:p>
        </p:txBody>
      </p:sp>
      <p:sp>
        <p:nvSpPr>
          <p:cNvPr id="4" name="Shape 2"/>
          <p:cNvSpPr/>
          <p:nvPr/>
        </p:nvSpPr>
        <p:spPr>
          <a:xfrm>
            <a:off x="11478463" y="6236208"/>
            <a:ext cx="384048" cy="384048"/>
          </a:xfrm>
          <a:prstGeom prst="ellipse">
            <a:avLst/>
          </a:prstGeom>
          <a:solidFill>
            <a:srgbClr val="8FA3C1"/>
          </a:solidFill>
          <a:ln w="12700">
            <a:solidFill>
              <a:srgbClr val="8FA3C1"/>
            </a:solidFill>
            <a:prstDash val="solid"/>
          </a:ln>
        </p:spPr>
      </p:sp>
      <p:sp>
        <p:nvSpPr>
          <p:cNvPr id="5" name="Text 3"/>
          <p:cNvSpPr/>
          <p:nvPr/>
        </p:nvSpPr>
        <p:spPr>
          <a:xfrm>
            <a:off x="11478463" y="6236208"/>
            <a:ext cx="384048" cy="384048"/>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4</a:t>
            </a:r>
            <a:endParaRPr lang="en-US" sz="1100" dirty="0"/>
          </a:p>
        </p:txBody>
      </p:sp>
      <p:sp>
        <p:nvSpPr>
          <p:cNvPr id="6" name="Shape 4"/>
          <p:cNvSpPr/>
          <p:nvPr/>
        </p:nvSpPr>
        <p:spPr>
          <a:xfrm>
            <a:off x="502920" y="1024128"/>
            <a:ext cx="5468112" cy="2395728"/>
          </a:xfrm>
          <a:prstGeom prst="roundRect">
            <a:avLst>
              <a:gd name="adj" fmla="val 2290"/>
            </a:avLst>
          </a:prstGeom>
          <a:solidFill>
            <a:srgbClr val="EFF7F1"/>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7" name="Shape 5"/>
          <p:cNvSpPr/>
          <p:nvPr/>
        </p:nvSpPr>
        <p:spPr>
          <a:xfrm>
            <a:off x="502920" y="1024128"/>
            <a:ext cx="384048" cy="2395728"/>
          </a:xfrm>
          <a:prstGeom prst="rect">
            <a:avLst/>
          </a:prstGeom>
          <a:solidFill>
            <a:srgbClr val="2E8358"/>
          </a:solidFill>
          <a:ln w="12700">
            <a:solidFill>
              <a:srgbClr val="333333"/>
            </a:solidFill>
            <a:prstDash val="solid"/>
          </a:ln>
        </p:spPr>
      </p:sp>
      <p:sp>
        <p:nvSpPr>
          <p:cNvPr id="8" name="Text 6"/>
          <p:cNvSpPr/>
          <p:nvPr/>
        </p:nvSpPr>
        <p:spPr>
          <a:xfrm>
            <a:off x="502920" y="1024128"/>
            <a:ext cx="384048" cy="23957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1033272" y="1133856"/>
            <a:ext cx="4791456" cy="548640"/>
          </a:xfrm>
          <a:prstGeom prst="rect">
            <a:avLst/>
          </a:prstGeom>
          <a:noFill/>
          <a:ln/>
        </p:spPr>
        <p:txBody>
          <a:bodyPr wrap="square" lIns="0" tIns="0" rIns="0" bIns="0" rtlCol="0" anchor="t"/>
          <a:lstStyle/>
          <a:p>
            <a:pPr indent="0" marL="0">
              <a:buNone/>
            </a:pPr>
            <a:r>
              <a:rPr lang="en-US" sz="1300" b="1" dirty="0">
                <a:solidFill>
                  <a:srgbClr val="2E8358"/>
                </a:solidFill>
                <a:latin typeface="Calibri" pitchFamily="34" charset="0"/>
                <a:ea typeface="Calibri" pitchFamily="34" charset="-122"/>
                <a:cs typeface="Calibri" pitchFamily="34" charset="-120"/>
              </a:rPr>
              <a:t>O1: Design and Implement a Disaggregated, O-RAN-specific CTI Platform</a:t>
            </a:r>
            <a:endParaRPr lang="en-US" sz="1300" dirty="0"/>
          </a:p>
        </p:txBody>
      </p:sp>
      <p:sp>
        <p:nvSpPr>
          <p:cNvPr id="10" name="Text 8"/>
          <p:cNvSpPr/>
          <p:nvPr/>
        </p:nvSpPr>
        <p:spPr>
          <a:xfrm>
            <a:off x="1033272" y="1755648"/>
            <a:ext cx="4791456" cy="155448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3B4557"/>
                </a:solidFill>
                <a:latin typeface="Calibri" pitchFamily="34" charset="0"/>
                <a:ea typeface="Calibri" pitchFamily="34" charset="-122"/>
                <a:cs typeface="Calibri" pitchFamily="34" charset="-120"/>
              </a:rPr>
              <a:t>Build multi-region testbed with Near-RT RIC, srsRAN/Open5GS, xApps and regional intelligence.</a:t>
            </a:r>
            <a:endParaRPr lang="en-US" sz="1050" dirty="0"/>
          </a:p>
          <a:p>
            <a:pPr marL="342900" indent="-342900">
              <a:spcAft>
                <a:spcPts val="500"/>
              </a:spcAft>
              <a:buSzPct val="100000"/>
              <a:buChar char="•"/>
            </a:pPr>
            <a:r>
              <a:rPr lang="en-US" sz="1050" dirty="0">
                <a:solidFill>
                  <a:srgbClr val="3B4557"/>
                </a:solidFill>
                <a:latin typeface="Calibri" pitchFamily="34" charset="0"/>
                <a:ea typeface="Calibri" pitchFamily="34" charset="-122"/>
                <a:cs typeface="Calibri" pitchFamily="34" charset="-120"/>
              </a:rPr>
              <a:t>Collect security evidence from O-RAN and cloud sources (E2SM-KPM, Prometheus, Loki, Falco).</a:t>
            </a:r>
            <a:endParaRPr lang="en-US" sz="1050" dirty="0"/>
          </a:p>
          <a:p>
            <a:pPr marL="342900" indent="-342900">
              <a:spcAft>
                <a:spcPts val="500"/>
              </a:spcAft>
              <a:buSzPct val="100000"/>
              <a:buChar char="•"/>
            </a:pPr>
            <a:r>
              <a:rPr lang="en-US" sz="1050" dirty="0">
                <a:solidFill>
                  <a:srgbClr val="3B4557"/>
                </a:solidFill>
                <a:latin typeface="Calibri" pitchFamily="34" charset="0"/>
                <a:ea typeface="Calibri" pitchFamily="34" charset="-122"/>
                <a:cs typeface="Calibri" pitchFamily="34" charset="-120"/>
              </a:rPr>
              <a:t>Ingest ATT&amp;CK, FiGHT and vulnerabilities into O-RAN-aware CTI registries.</a:t>
            </a:r>
            <a:endParaRPr lang="en-US" sz="1050" dirty="0"/>
          </a:p>
          <a:p>
            <a:pPr marL="342900" indent="-342900">
              <a:spcAft>
                <a:spcPts val="500"/>
              </a:spcAft>
              <a:buSzPct val="100000"/>
              <a:buChar char="•"/>
            </a:pPr>
            <a:r>
              <a:rPr lang="en-US" sz="1050" dirty="0">
                <a:solidFill>
                  <a:srgbClr val="3B4557"/>
                </a:solidFill>
                <a:latin typeface="Calibri" pitchFamily="34" charset="0"/>
                <a:ea typeface="Calibri" pitchFamily="34" charset="-122"/>
                <a:cs typeface="Calibri" pitchFamily="34" charset="-120"/>
              </a:rPr>
              <a:t>Enable prioritised, privacy-aware dissemination with provenance and dashboard.</a:t>
            </a:r>
            <a:endParaRPr lang="en-US" sz="1050" dirty="0"/>
          </a:p>
        </p:txBody>
      </p:sp>
      <p:sp>
        <p:nvSpPr>
          <p:cNvPr id="11" name="Shape 9"/>
          <p:cNvSpPr/>
          <p:nvPr/>
        </p:nvSpPr>
        <p:spPr>
          <a:xfrm>
            <a:off x="6208776" y="1024128"/>
            <a:ext cx="5468112" cy="2395728"/>
          </a:xfrm>
          <a:prstGeom prst="roundRect">
            <a:avLst>
              <a:gd name="adj" fmla="val 2290"/>
            </a:avLst>
          </a:prstGeom>
          <a:solidFill>
            <a:srgbClr val="EFF7F1"/>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12" name="Shape 10"/>
          <p:cNvSpPr/>
          <p:nvPr/>
        </p:nvSpPr>
        <p:spPr>
          <a:xfrm>
            <a:off x="6208776" y="1024128"/>
            <a:ext cx="384048" cy="2395728"/>
          </a:xfrm>
          <a:prstGeom prst="rect">
            <a:avLst/>
          </a:prstGeom>
          <a:solidFill>
            <a:srgbClr val="2E8358"/>
          </a:solidFill>
          <a:ln w="12700">
            <a:solidFill>
              <a:srgbClr val="333333"/>
            </a:solidFill>
            <a:prstDash val="solid"/>
          </a:ln>
        </p:spPr>
      </p:sp>
      <p:sp>
        <p:nvSpPr>
          <p:cNvPr id="13" name="Text 11"/>
          <p:cNvSpPr/>
          <p:nvPr/>
        </p:nvSpPr>
        <p:spPr>
          <a:xfrm>
            <a:off x="6208776" y="1024128"/>
            <a:ext cx="384048" cy="23957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4" name="Text 12"/>
          <p:cNvSpPr/>
          <p:nvPr/>
        </p:nvSpPr>
        <p:spPr>
          <a:xfrm>
            <a:off x="6739128" y="1133856"/>
            <a:ext cx="4791456" cy="548640"/>
          </a:xfrm>
          <a:prstGeom prst="rect">
            <a:avLst/>
          </a:prstGeom>
          <a:noFill/>
          <a:ln/>
        </p:spPr>
        <p:txBody>
          <a:bodyPr wrap="square" lIns="0" tIns="0" rIns="0" bIns="0" rtlCol="0" anchor="t"/>
          <a:lstStyle/>
          <a:p>
            <a:pPr indent="0" marL="0">
              <a:buNone/>
            </a:pPr>
            <a:r>
              <a:rPr lang="en-US" sz="1300" b="1" dirty="0">
                <a:solidFill>
                  <a:srgbClr val="2E8358"/>
                </a:solidFill>
                <a:latin typeface="Calibri" pitchFamily="34" charset="0"/>
                <a:ea typeface="Calibri" pitchFamily="34" charset="-122"/>
                <a:cs typeface="Calibri" pitchFamily="34" charset="-120"/>
              </a:rPr>
              <a:t>O2: Integrate Agentic AI for O-RAN Threat Contextualisation &amp; Response</a:t>
            </a:r>
            <a:endParaRPr lang="en-US" sz="1300" dirty="0"/>
          </a:p>
        </p:txBody>
      </p:sp>
      <p:sp>
        <p:nvSpPr>
          <p:cNvPr id="15" name="Text 13"/>
          <p:cNvSpPr/>
          <p:nvPr/>
        </p:nvSpPr>
        <p:spPr>
          <a:xfrm>
            <a:off x="6739128" y="1755648"/>
            <a:ext cx="4791456" cy="155448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3B4557"/>
                </a:solidFill>
                <a:latin typeface="Calibri" pitchFamily="34" charset="0"/>
                <a:ea typeface="Calibri" pitchFamily="34" charset="-122"/>
                <a:cs typeface="Calibri" pitchFamily="34" charset="-120"/>
              </a:rPr>
              <a:t>Develop regional RAG agents for CTI retrieval and severity classification.</a:t>
            </a:r>
            <a:endParaRPr lang="en-US" sz="1050" dirty="0"/>
          </a:p>
          <a:p>
            <a:pPr marL="342900" indent="-342900">
              <a:spcAft>
                <a:spcPts val="500"/>
              </a:spcAft>
              <a:buSzPct val="100000"/>
              <a:buChar char="•"/>
            </a:pPr>
            <a:r>
              <a:rPr lang="en-US" sz="1050" dirty="0">
                <a:solidFill>
                  <a:srgbClr val="3B4557"/>
                </a:solidFill>
                <a:latin typeface="Calibri" pitchFamily="34" charset="0"/>
                <a:ea typeface="Calibri" pitchFamily="34" charset="-122"/>
                <a:cs typeface="Calibri" pitchFamily="34" charset="-120"/>
              </a:rPr>
              <a:t>Coordinate escalation to Global-RAG via MCP when regional evidence is insufficient.</a:t>
            </a:r>
            <a:endParaRPr lang="en-US" sz="1050" dirty="0"/>
          </a:p>
          <a:p>
            <a:pPr marL="342900" indent="-342900">
              <a:spcAft>
                <a:spcPts val="500"/>
              </a:spcAft>
              <a:buSzPct val="100000"/>
              <a:buChar char="•"/>
            </a:pPr>
            <a:r>
              <a:rPr lang="en-US" sz="1050" dirty="0">
                <a:solidFill>
                  <a:srgbClr val="3B4557"/>
                </a:solidFill>
                <a:latin typeface="Calibri" pitchFamily="34" charset="0"/>
                <a:ea typeface="Calibri" pitchFamily="34" charset="-122"/>
                <a:cs typeface="Calibri" pitchFamily="34" charset="-120"/>
              </a:rPr>
              <a:t>Return global knowledge to the region, control growth via canonicalisation and de-duplication.</a:t>
            </a:r>
            <a:endParaRPr lang="en-US" sz="1050" dirty="0"/>
          </a:p>
          <a:p>
            <a:pPr marL="342900" indent="-342900">
              <a:spcAft>
                <a:spcPts val="500"/>
              </a:spcAft>
              <a:buSzPct val="100000"/>
              <a:buChar char="•"/>
            </a:pPr>
            <a:r>
              <a:rPr lang="en-US" sz="1050" dirty="0">
                <a:solidFill>
                  <a:srgbClr val="3B4557"/>
                </a:solidFill>
                <a:latin typeface="Calibri" pitchFamily="34" charset="0"/>
                <a:ea typeface="Calibri" pitchFamily="34" charset="-122"/>
                <a:cs typeface="Calibri" pitchFamily="34" charset="-120"/>
              </a:rPr>
              <a:t>Generate contextual recommendations with policy gates, approval, verification and rollback.</a:t>
            </a:r>
            <a:endParaRPr lang="en-US" sz="1050" dirty="0"/>
          </a:p>
        </p:txBody>
      </p:sp>
      <p:sp>
        <p:nvSpPr>
          <p:cNvPr id="16" name="Shape 14"/>
          <p:cNvSpPr/>
          <p:nvPr/>
        </p:nvSpPr>
        <p:spPr>
          <a:xfrm>
            <a:off x="3355848" y="3639312"/>
            <a:ext cx="5468112" cy="2487168"/>
          </a:xfrm>
          <a:prstGeom prst="roundRect">
            <a:avLst>
              <a:gd name="adj" fmla="val 2206"/>
            </a:avLst>
          </a:prstGeom>
          <a:solidFill>
            <a:srgbClr val="EFF7F1"/>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17" name="Shape 15"/>
          <p:cNvSpPr/>
          <p:nvPr/>
        </p:nvSpPr>
        <p:spPr>
          <a:xfrm>
            <a:off x="3355848" y="3639312"/>
            <a:ext cx="384048" cy="2487168"/>
          </a:xfrm>
          <a:prstGeom prst="rect">
            <a:avLst/>
          </a:prstGeom>
          <a:solidFill>
            <a:srgbClr val="2E8358"/>
          </a:solidFill>
          <a:ln w="12700">
            <a:solidFill>
              <a:srgbClr val="333333"/>
            </a:solidFill>
            <a:prstDash val="solid"/>
          </a:ln>
        </p:spPr>
      </p:sp>
      <p:sp>
        <p:nvSpPr>
          <p:cNvPr id="18" name="Text 16"/>
          <p:cNvSpPr/>
          <p:nvPr/>
        </p:nvSpPr>
        <p:spPr>
          <a:xfrm>
            <a:off x="3355848" y="3639312"/>
            <a:ext cx="384048" cy="248716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9" name="Text 17"/>
          <p:cNvSpPr/>
          <p:nvPr/>
        </p:nvSpPr>
        <p:spPr>
          <a:xfrm>
            <a:off x="3886200" y="3749040"/>
            <a:ext cx="4791456" cy="548640"/>
          </a:xfrm>
          <a:prstGeom prst="rect">
            <a:avLst/>
          </a:prstGeom>
          <a:noFill/>
          <a:ln/>
        </p:spPr>
        <p:txBody>
          <a:bodyPr wrap="square" lIns="0" tIns="0" rIns="0" bIns="0" rtlCol="0" anchor="t"/>
          <a:lstStyle/>
          <a:p>
            <a:pPr indent="0" marL="0">
              <a:buNone/>
            </a:pPr>
            <a:r>
              <a:rPr lang="en-US" sz="1300" b="1" dirty="0">
                <a:solidFill>
                  <a:srgbClr val="2E8358"/>
                </a:solidFill>
                <a:latin typeface="Calibri" pitchFamily="34" charset="0"/>
                <a:ea typeface="Calibri" pitchFamily="34" charset="-122"/>
                <a:cs typeface="Calibri" pitchFamily="34" charset="-120"/>
              </a:rPr>
              <a:t>O3: Validate and Evaluate the O-RAN CTI Platform &amp; Agentic AI Workflow</a:t>
            </a:r>
            <a:endParaRPr lang="en-US" sz="1300" dirty="0"/>
          </a:p>
        </p:txBody>
      </p:sp>
      <p:sp>
        <p:nvSpPr>
          <p:cNvPr id="20" name="Text 18"/>
          <p:cNvSpPr/>
          <p:nvPr/>
        </p:nvSpPr>
        <p:spPr>
          <a:xfrm>
            <a:off x="3886200" y="4370832"/>
            <a:ext cx="4791456" cy="164592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3B4557"/>
                </a:solidFill>
                <a:latin typeface="Calibri" pitchFamily="34" charset="0"/>
                <a:ea typeface="Calibri" pitchFamily="34" charset="-122"/>
                <a:cs typeface="Calibri" pitchFamily="34" charset="-120"/>
              </a:rPr>
              <a:t>Measure retrieval, contextualisation and knowledge growth against an OpenCTI baseline.</a:t>
            </a:r>
            <a:endParaRPr lang="en-US" sz="1050" dirty="0"/>
          </a:p>
          <a:p>
            <a:pPr marL="342900" indent="-342900">
              <a:spcAft>
                <a:spcPts val="500"/>
              </a:spcAft>
              <a:buSzPct val="100000"/>
              <a:buChar char="•"/>
            </a:pPr>
            <a:r>
              <a:rPr lang="en-US" sz="1050" dirty="0">
                <a:solidFill>
                  <a:srgbClr val="3B4557"/>
                </a:solidFill>
                <a:latin typeface="Calibri" pitchFamily="34" charset="0"/>
                <a:ea typeface="Calibri" pitchFamily="34" charset="-122"/>
                <a:cs typeface="Calibri" pitchFamily="34" charset="-120"/>
              </a:rPr>
              <a:t>Validate detector capture and evidence transparency with controlled scenarios.</a:t>
            </a:r>
            <a:endParaRPr lang="en-US" sz="1050" dirty="0"/>
          </a:p>
          <a:p>
            <a:pPr marL="342900" indent="-342900">
              <a:spcAft>
                <a:spcPts val="500"/>
              </a:spcAft>
              <a:buSzPct val="100000"/>
              <a:buChar char="•"/>
            </a:pPr>
            <a:r>
              <a:rPr lang="en-US" sz="1050" dirty="0">
                <a:solidFill>
                  <a:srgbClr val="3B4557"/>
                </a:solidFill>
                <a:latin typeface="Calibri" pitchFamily="34" charset="0"/>
                <a:ea typeface="Calibri" pitchFamily="34" charset="-122"/>
                <a:cs typeface="Calibri" pitchFamily="34" charset="-120"/>
              </a:rPr>
              <a:t>Evaluate bounded mitigation: execution, verification, timing and rollback.</a:t>
            </a:r>
            <a:endParaRPr lang="en-US" sz="1050" dirty="0"/>
          </a:p>
          <a:p>
            <a:pPr marL="342900" indent="-342900">
              <a:spcAft>
                <a:spcPts val="500"/>
              </a:spcAft>
              <a:buSzPct val="100000"/>
              <a:buChar char="•"/>
            </a:pPr>
            <a:r>
              <a:rPr lang="en-US" sz="1050" dirty="0">
                <a:solidFill>
                  <a:srgbClr val="3B4557"/>
                </a:solidFill>
                <a:latin typeface="Calibri" pitchFamily="34" charset="0"/>
                <a:ea typeface="Calibri" pitchFamily="34" charset="-122"/>
                <a:cs typeface="Calibri" pitchFamily="34" charset="-120"/>
              </a:rPr>
              <a:t>Observe operational health via the security score and component metrics.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1F6"/>
        </a:solidFill>
      </p:bgPr>
    </p:bg>
    <p:spTree>
      <p:nvGrpSpPr>
        <p:cNvPr id="1" name=""/>
        <p:cNvGrpSpPr/>
        <p:nvPr/>
      </p:nvGrpSpPr>
      <p:grpSpPr>
        <a:xfrm>
          <a:off x="0" y="0"/>
          <a:ext cx="0" cy="0"/>
          <a:chOff x="0" y="0"/>
          <a:chExt cx="0" cy="0"/>
        </a:xfrm>
      </p:grpSpPr>
      <p:sp>
        <p:nvSpPr>
          <p:cNvPr id="2" name="Shape 0"/>
          <p:cNvSpPr/>
          <p:nvPr/>
        </p:nvSpPr>
        <p:spPr>
          <a:xfrm>
            <a:off x="-1005840" y="-822960"/>
            <a:ext cx="3383280" cy="2834640"/>
          </a:xfrm>
          <a:prstGeom prst="roundRect">
            <a:avLst>
              <a:gd name="adj" fmla="val 9677"/>
            </a:avLst>
          </a:prstGeom>
          <a:solidFill>
            <a:srgbClr val="DBE2EB"/>
          </a:solidFill>
          <a:ln w="12700">
            <a:solidFill>
              <a:srgbClr val="DBE2EB"/>
            </a:solidFill>
            <a:prstDash val="solid"/>
          </a:ln>
        </p:spPr>
      </p:sp>
      <p:sp>
        <p:nvSpPr>
          <p:cNvPr id="3" name="Text 1"/>
          <p:cNvSpPr/>
          <p:nvPr/>
        </p:nvSpPr>
        <p:spPr>
          <a:xfrm>
            <a:off x="502920" y="219456"/>
            <a:ext cx="11185855" cy="658368"/>
          </a:xfrm>
          <a:prstGeom prst="rect">
            <a:avLst/>
          </a:prstGeom>
          <a:noFill/>
          <a:ln/>
        </p:spPr>
        <p:txBody>
          <a:bodyPr wrap="square" lIns="0" tIns="0" rIns="0" bIns="0" rtlCol="0" anchor="ctr"/>
          <a:lstStyle/>
          <a:p>
            <a:pPr indent="0" marL="0">
              <a:buNone/>
            </a:pPr>
            <a:r>
              <a:rPr lang="en-US" sz="2900" b="1" dirty="0">
                <a:solidFill>
                  <a:srgbClr val="0F1B40"/>
                </a:solidFill>
                <a:latin typeface="Arial" pitchFamily="34" charset="0"/>
                <a:ea typeface="Arial" pitchFamily="34" charset="-122"/>
                <a:cs typeface="Arial" pitchFamily="34" charset="-120"/>
              </a:rPr>
              <a:t>Extended Project Objectives</a:t>
            </a:r>
            <a:endParaRPr lang="en-US" sz="2900" dirty="0"/>
          </a:p>
        </p:txBody>
      </p:sp>
      <p:sp>
        <p:nvSpPr>
          <p:cNvPr id="4" name="Shape 2"/>
          <p:cNvSpPr/>
          <p:nvPr/>
        </p:nvSpPr>
        <p:spPr>
          <a:xfrm>
            <a:off x="11478463" y="6236208"/>
            <a:ext cx="384048" cy="384048"/>
          </a:xfrm>
          <a:prstGeom prst="ellipse">
            <a:avLst/>
          </a:prstGeom>
          <a:solidFill>
            <a:srgbClr val="8FA3C1"/>
          </a:solidFill>
          <a:ln w="12700">
            <a:solidFill>
              <a:srgbClr val="8FA3C1"/>
            </a:solidFill>
            <a:prstDash val="solid"/>
          </a:ln>
        </p:spPr>
      </p:sp>
      <p:sp>
        <p:nvSpPr>
          <p:cNvPr id="5" name="Text 3"/>
          <p:cNvSpPr/>
          <p:nvPr/>
        </p:nvSpPr>
        <p:spPr>
          <a:xfrm>
            <a:off x="11478463" y="6236208"/>
            <a:ext cx="384048" cy="384048"/>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5</a:t>
            </a:r>
            <a:endParaRPr lang="en-US" sz="1100" dirty="0"/>
          </a:p>
        </p:txBody>
      </p:sp>
      <p:sp>
        <p:nvSpPr>
          <p:cNvPr id="6" name="Text 4"/>
          <p:cNvSpPr/>
          <p:nvPr/>
        </p:nvSpPr>
        <p:spPr>
          <a:xfrm>
            <a:off x="502920" y="932688"/>
            <a:ext cx="11185855" cy="310896"/>
          </a:xfrm>
          <a:prstGeom prst="rect">
            <a:avLst/>
          </a:prstGeom>
          <a:noFill/>
          <a:ln/>
        </p:spPr>
        <p:txBody>
          <a:bodyPr wrap="square" lIns="0" tIns="0" rIns="0" bIns="0" rtlCol="0" anchor="t"/>
          <a:lstStyle/>
          <a:p>
            <a:pPr indent="0" marL="0">
              <a:buNone/>
            </a:pPr>
            <a:r>
              <a:rPr lang="en-US" sz="1300" dirty="0">
                <a:solidFill>
                  <a:srgbClr val="0F1B40"/>
                </a:solidFill>
                <a:latin typeface="Calibri" pitchFamily="34" charset="0"/>
                <a:ea typeface="Calibri" pitchFamily="34" charset="-122"/>
                <a:cs typeface="Calibri" pitchFamily="34" charset="-120"/>
              </a:rPr>
              <a:t>Two major capabilities were added as the project evolved from the progress-report proposal into the final multi-region platform.</a:t>
            </a:r>
            <a:endParaRPr lang="en-US" sz="1300" dirty="0"/>
          </a:p>
        </p:txBody>
      </p:sp>
      <p:sp>
        <p:nvSpPr>
          <p:cNvPr id="7" name="Shape 5"/>
          <p:cNvSpPr/>
          <p:nvPr/>
        </p:nvSpPr>
        <p:spPr>
          <a:xfrm>
            <a:off x="502920" y="1481328"/>
            <a:ext cx="5468112" cy="4023360"/>
          </a:xfrm>
          <a:prstGeom prst="roundRect">
            <a:avLst>
              <a:gd name="adj" fmla="val 1364"/>
            </a:avLst>
          </a:prstGeom>
          <a:solidFill>
            <a:srgbClr val="EFF7F1"/>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8" name="Shape 6"/>
          <p:cNvSpPr/>
          <p:nvPr/>
        </p:nvSpPr>
        <p:spPr>
          <a:xfrm>
            <a:off x="502920" y="1481328"/>
            <a:ext cx="256032" cy="4023360"/>
          </a:xfrm>
          <a:prstGeom prst="rect">
            <a:avLst/>
          </a:prstGeom>
          <a:solidFill>
            <a:srgbClr val="2E8358"/>
          </a:solidFill>
          <a:ln w="12700">
            <a:solidFill>
              <a:srgbClr val="333333"/>
            </a:solidFill>
            <a:prstDash val="solid"/>
          </a:ln>
        </p:spPr>
      </p:sp>
      <p:sp>
        <p:nvSpPr>
          <p:cNvPr id="9" name="Text 7"/>
          <p:cNvSpPr/>
          <p:nvPr/>
        </p:nvSpPr>
        <p:spPr>
          <a:xfrm>
            <a:off x="941832" y="1645920"/>
            <a:ext cx="4864608" cy="658368"/>
          </a:xfrm>
          <a:prstGeom prst="rect">
            <a:avLst/>
          </a:prstGeom>
          <a:noFill/>
          <a:ln/>
        </p:spPr>
        <p:txBody>
          <a:bodyPr wrap="square" lIns="0" tIns="0" rIns="0" bIns="0" rtlCol="0" anchor="t"/>
          <a:lstStyle/>
          <a:p>
            <a:pPr indent="0" marL="0">
              <a:buNone/>
            </a:pPr>
            <a:r>
              <a:rPr lang="en-US" sz="1450" b="1" dirty="0">
                <a:solidFill>
                  <a:srgbClr val="2E8358"/>
                </a:solidFill>
                <a:latin typeface="Calibri" pitchFamily="34" charset="0"/>
                <a:ea typeface="Calibri" pitchFamily="34" charset="-122"/>
                <a:cs typeface="Calibri" pitchFamily="34" charset="-120"/>
              </a:rPr>
              <a:t>Implement the Anomaly Detection Gateway for O-RAN Telemetry</a:t>
            </a:r>
            <a:endParaRPr lang="en-US" sz="1450" dirty="0"/>
          </a:p>
        </p:txBody>
      </p:sp>
      <p:sp>
        <p:nvSpPr>
          <p:cNvPr id="10" name="Text 8"/>
          <p:cNvSpPr/>
          <p:nvPr/>
        </p:nvSpPr>
        <p:spPr>
          <a:xfrm>
            <a:off x="941832" y="2432304"/>
            <a:ext cx="4864608" cy="283464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3B4557"/>
                </a:solidFill>
                <a:latin typeface="Calibri" pitchFamily="34" charset="0"/>
                <a:ea typeface="Calibri" pitchFamily="34" charset="-122"/>
                <a:cs typeface="Calibri" pitchFamily="34" charset="-120"/>
              </a:rPr>
              <a:t>Ingest and correlate multi-modal telemetry across O-RAN radio, container runtime syscalls and control-plane logs.</a:t>
            </a:r>
            <a:endParaRPr lang="en-US" sz="1100" dirty="0"/>
          </a:p>
          <a:p>
            <a:pPr marL="342900" indent="-342900">
              <a:spcAft>
                <a:spcPts val="800"/>
              </a:spcAft>
              <a:buSzPct val="100000"/>
              <a:buChar char="•"/>
            </a:pPr>
            <a:r>
              <a:rPr lang="en-US" sz="1100" dirty="0">
                <a:solidFill>
                  <a:srgbClr val="3B4557"/>
                </a:solidFill>
                <a:latin typeface="Calibri" pitchFamily="34" charset="0"/>
                <a:ea typeface="Calibri" pitchFamily="34" charset="-122"/>
                <a:cs typeface="Calibri" pitchFamily="34" charset="-120"/>
              </a:rPr>
              <a:t>Execute deterministic anomaly scoring and baseline evaluation using rolling 3-sigma statistical thresholds.</a:t>
            </a:r>
            <a:endParaRPr lang="en-US" sz="1100" dirty="0"/>
          </a:p>
          <a:p>
            <a:pPr marL="342900" indent="-342900">
              <a:spcAft>
                <a:spcPts val="800"/>
              </a:spcAft>
              <a:buSzPct val="100000"/>
              <a:buChar char="•"/>
            </a:pPr>
            <a:r>
              <a:rPr lang="en-US" sz="1100" dirty="0">
                <a:solidFill>
                  <a:srgbClr val="3B4557"/>
                </a:solidFill>
                <a:latin typeface="Calibri" pitchFamily="34" charset="0"/>
                <a:ea typeface="Calibri" pitchFamily="34" charset="-122"/>
                <a:cs typeface="Calibri" pitchFamily="34" charset="-120"/>
              </a:rPr>
              <a:t>Record immutable, normalised ThreatEvent ledgers in rApp2, preserving affected component, interface and structured rule_evaluations.</a:t>
            </a:r>
            <a:endParaRPr lang="en-US" sz="1100" dirty="0"/>
          </a:p>
          <a:p>
            <a:pPr marL="342900" indent="-342900">
              <a:spcAft>
                <a:spcPts val="800"/>
              </a:spcAft>
              <a:buSzPct val="100000"/>
              <a:buChar char="•"/>
            </a:pPr>
            <a:r>
              <a:rPr lang="en-US" sz="1100" dirty="0">
                <a:solidFill>
                  <a:srgbClr val="3B4557"/>
                </a:solidFill>
                <a:latin typeface="Calibri" pitchFamily="34" charset="0"/>
                <a:ea typeface="Calibri" pitchFamily="34" charset="-122"/>
                <a:cs typeface="Calibri" pitchFamily="34" charset="-120"/>
              </a:rPr>
              <a:t>Validate detector transparency and evidence contracts across controlled synthetic scenarios.</a:t>
            </a:r>
            <a:endParaRPr lang="en-US" sz="1100" dirty="0"/>
          </a:p>
        </p:txBody>
      </p:sp>
      <p:sp>
        <p:nvSpPr>
          <p:cNvPr id="11" name="Shape 9"/>
          <p:cNvSpPr/>
          <p:nvPr/>
        </p:nvSpPr>
        <p:spPr>
          <a:xfrm>
            <a:off x="6208776" y="1481328"/>
            <a:ext cx="5468112" cy="4023360"/>
          </a:xfrm>
          <a:prstGeom prst="roundRect">
            <a:avLst>
              <a:gd name="adj" fmla="val 1364"/>
            </a:avLst>
          </a:prstGeom>
          <a:solidFill>
            <a:srgbClr val="EFF7F1"/>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12" name="Shape 10"/>
          <p:cNvSpPr/>
          <p:nvPr/>
        </p:nvSpPr>
        <p:spPr>
          <a:xfrm>
            <a:off x="6208776" y="1481328"/>
            <a:ext cx="256032" cy="4023360"/>
          </a:xfrm>
          <a:prstGeom prst="rect">
            <a:avLst/>
          </a:prstGeom>
          <a:solidFill>
            <a:srgbClr val="2E8358"/>
          </a:solidFill>
          <a:ln w="12700">
            <a:solidFill>
              <a:srgbClr val="333333"/>
            </a:solidFill>
            <a:prstDash val="solid"/>
          </a:ln>
        </p:spPr>
      </p:sp>
      <p:sp>
        <p:nvSpPr>
          <p:cNvPr id="13" name="Text 11"/>
          <p:cNvSpPr/>
          <p:nvPr/>
        </p:nvSpPr>
        <p:spPr>
          <a:xfrm>
            <a:off x="6647688" y="1645920"/>
            <a:ext cx="4864608" cy="658368"/>
          </a:xfrm>
          <a:prstGeom prst="rect">
            <a:avLst/>
          </a:prstGeom>
          <a:noFill/>
          <a:ln/>
        </p:spPr>
        <p:txBody>
          <a:bodyPr wrap="square" lIns="0" tIns="0" rIns="0" bIns="0" rtlCol="0" anchor="t"/>
          <a:lstStyle/>
          <a:p>
            <a:pPr indent="0" marL="0">
              <a:buNone/>
            </a:pPr>
            <a:r>
              <a:rPr lang="en-US" sz="1450" b="1" dirty="0">
                <a:solidFill>
                  <a:srgbClr val="2E8358"/>
                </a:solidFill>
                <a:latin typeface="Calibri" pitchFamily="34" charset="0"/>
                <a:ea typeface="Calibri" pitchFamily="34" charset="-122"/>
                <a:cs typeface="Calibri" pitchFamily="34" charset="-120"/>
              </a:rPr>
              <a:t>Set Up Automated Mitigation Pipeline for Closed-Loop O-RAN Defence</a:t>
            </a:r>
            <a:endParaRPr lang="en-US" sz="1450" dirty="0"/>
          </a:p>
        </p:txBody>
      </p:sp>
      <p:sp>
        <p:nvSpPr>
          <p:cNvPr id="14" name="Text 12"/>
          <p:cNvSpPr/>
          <p:nvPr/>
        </p:nvSpPr>
        <p:spPr>
          <a:xfrm>
            <a:off x="6647688" y="2432304"/>
            <a:ext cx="4864608" cy="283464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3B4557"/>
                </a:solidFill>
                <a:latin typeface="Calibri" pitchFamily="34" charset="0"/>
                <a:ea typeface="Calibri" pitchFamily="34" charset="-122"/>
                <a:cs typeface="Calibri" pitchFamily="34" charset="-120"/>
              </a:rPr>
              <a:t>Enforce safety policy gates and allow-listed actuators (xApp1 E2SM-RC throttle, A1 policy, pod quarantine) with explicit critical-infrastructure protection.</a:t>
            </a:r>
            <a:endParaRPr lang="en-US" sz="1100" dirty="0"/>
          </a:p>
          <a:p>
            <a:pPr marL="342900" indent="-342900">
              <a:spcAft>
                <a:spcPts val="800"/>
              </a:spcAft>
              <a:buSzPct val="100000"/>
              <a:buChar char="•"/>
            </a:pPr>
            <a:r>
              <a:rPr lang="en-US" sz="1100" dirty="0">
                <a:solidFill>
                  <a:srgbClr val="3B4557"/>
                </a:solidFill>
                <a:latin typeface="Calibri" pitchFamily="34" charset="0"/>
                <a:ea typeface="Calibri" pitchFamily="34" charset="-122"/>
                <a:cs typeface="Calibri" pitchFamily="34" charset="-120"/>
              </a:rPr>
              <a:t>Implement closed-loop PromQL telemetry verification across a 5-stage state machine to confirm security outcomes.</a:t>
            </a:r>
            <a:endParaRPr lang="en-US" sz="1100" dirty="0"/>
          </a:p>
          <a:p>
            <a:pPr marL="342900" indent="-342900">
              <a:spcAft>
                <a:spcPts val="800"/>
              </a:spcAft>
              <a:buSzPct val="100000"/>
              <a:buChar char="•"/>
            </a:pPr>
            <a:r>
              <a:rPr lang="en-US" sz="1100" dirty="0">
                <a:solidFill>
                  <a:srgbClr val="3B4557"/>
                </a:solidFill>
                <a:latin typeface="Calibri" pitchFamily="34" charset="0"/>
                <a:ea typeface="Calibri" pitchFamily="34" charset="-122"/>
                <a:cs typeface="Calibri" pitchFamily="34" charset="-120"/>
              </a:rPr>
              <a:t>Execute automated safe rollback upon verification failure or timeout, restoring baseline radio policies and network connectivity.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1F6"/>
        </a:solidFill>
      </p:bgPr>
    </p:bg>
    <p:spTree>
      <p:nvGrpSpPr>
        <p:cNvPr id="1" name=""/>
        <p:cNvGrpSpPr/>
        <p:nvPr/>
      </p:nvGrpSpPr>
      <p:grpSpPr>
        <a:xfrm>
          <a:off x="0" y="0"/>
          <a:ext cx="0" cy="0"/>
          <a:chOff x="0" y="0"/>
          <a:chExt cx="0" cy="0"/>
        </a:xfrm>
      </p:grpSpPr>
      <p:sp>
        <p:nvSpPr>
          <p:cNvPr id="2" name="Shape 0"/>
          <p:cNvSpPr/>
          <p:nvPr/>
        </p:nvSpPr>
        <p:spPr>
          <a:xfrm>
            <a:off x="-1005840" y="-822960"/>
            <a:ext cx="3383280" cy="2834640"/>
          </a:xfrm>
          <a:prstGeom prst="roundRect">
            <a:avLst>
              <a:gd name="adj" fmla="val 9677"/>
            </a:avLst>
          </a:prstGeom>
          <a:solidFill>
            <a:srgbClr val="DBE2EB"/>
          </a:solidFill>
          <a:ln w="12700">
            <a:solidFill>
              <a:srgbClr val="DBE2EB"/>
            </a:solidFill>
            <a:prstDash val="solid"/>
          </a:ln>
        </p:spPr>
      </p:sp>
      <p:sp>
        <p:nvSpPr>
          <p:cNvPr id="3" name="Text 1"/>
          <p:cNvSpPr/>
          <p:nvPr/>
        </p:nvSpPr>
        <p:spPr>
          <a:xfrm>
            <a:off x="502920" y="219456"/>
            <a:ext cx="11185855" cy="658368"/>
          </a:xfrm>
          <a:prstGeom prst="rect">
            <a:avLst/>
          </a:prstGeom>
          <a:noFill/>
          <a:ln/>
        </p:spPr>
        <p:txBody>
          <a:bodyPr wrap="square" lIns="0" tIns="0" rIns="0" bIns="0" rtlCol="0" anchor="ctr"/>
          <a:lstStyle/>
          <a:p>
            <a:pPr indent="0" marL="0">
              <a:buNone/>
            </a:pPr>
            <a:r>
              <a:rPr lang="en-US" sz="2900" b="1" dirty="0">
                <a:solidFill>
                  <a:srgbClr val="0F1B40"/>
                </a:solidFill>
                <a:latin typeface="Arial" pitchFamily="34" charset="0"/>
                <a:ea typeface="Arial" pitchFamily="34" charset="-122"/>
                <a:cs typeface="Arial" pitchFamily="34" charset="-120"/>
              </a:rPr>
              <a:t>System Architecture</a:t>
            </a:r>
            <a:endParaRPr lang="en-US" sz="2900" dirty="0"/>
          </a:p>
        </p:txBody>
      </p:sp>
      <p:sp>
        <p:nvSpPr>
          <p:cNvPr id="4" name="Shape 2"/>
          <p:cNvSpPr/>
          <p:nvPr/>
        </p:nvSpPr>
        <p:spPr>
          <a:xfrm>
            <a:off x="11478463" y="6236208"/>
            <a:ext cx="384048" cy="384048"/>
          </a:xfrm>
          <a:prstGeom prst="ellipse">
            <a:avLst/>
          </a:prstGeom>
          <a:solidFill>
            <a:srgbClr val="8FA3C1"/>
          </a:solidFill>
          <a:ln w="12700">
            <a:solidFill>
              <a:srgbClr val="8FA3C1"/>
            </a:solidFill>
            <a:prstDash val="solid"/>
          </a:ln>
        </p:spPr>
      </p:sp>
      <p:sp>
        <p:nvSpPr>
          <p:cNvPr id="5" name="Text 3"/>
          <p:cNvSpPr/>
          <p:nvPr/>
        </p:nvSpPr>
        <p:spPr>
          <a:xfrm>
            <a:off x="11478463" y="6236208"/>
            <a:ext cx="384048" cy="384048"/>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6</a:t>
            </a:r>
            <a:endParaRPr lang="en-US" sz="1100" dirty="0"/>
          </a:p>
        </p:txBody>
      </p:sp>
      <p:pic>
        <p:nvPicPr>
          <p:cNvPr id="6" name="Image 0" descr="C:\Users\Ravin\AppData\Local\Temp\claude\D--Projects-FYP-demo-site\7c41a152-688c-4cf7-a8dd-5ea6f53eb77e\scratchpad\eval\img\p06_0.png">    </p:cNvPr>
          <p:cNvPicPr>
            <a:picLocks noChangeAspect="1"/>
          </p:cNvPicPr>
          <p:nvPr/>
        </p:nvPicPr>
        <p:blipFill>
          <a:blip r:embed="rId1"/>
          <a:stretch>
            <a:fillRect/>
          </a:stretch>
        </p:blipFill>
        <p:spPr>
          <a:xfrm>
            <a:off x="4004368" y="932688"/>
            <a:ext cx="7170305" cy="5120640"/>
          </a:xfrm>
          <a:prstGeom prst="rect">
            <a:avLst/>
          </a:prstGeom>
        </p:spPr>
      </p:pic>
      <p:sp>
        <p:nvSpPr>
          <p:cNvPr id="7" name="Shape 4"/>
          <p:cNvSpPr/>
          <p:nvPr/>
        </p:nvSpPr>
        <p:spPr>
          <a:xfrm>
            <a:off x="502920" y="1234440"/>
            <a:ext cx="310896" cy="310896"/>
          </a:xfrm>
          <a:prstGeom prst="ellipse">
            <a:avLst/>
          </a:prstGeom>
          <a:solidFill>
            <a:srgbClr val="EA8C3A"/>
          </a:solidFill>
          <a:ln w="12700">
            <a:solidFill>
              <a:srgbClr val="333333"/>
            </a:solidFill>
            <a:prstDash val="solid"/>
          </a:ln>
        </p:spPr>
      </p:sp>
      <p:sp>
        <p:nvSpPr>
          <p:cNvPr id="8" name="Text 5"/>
          <p:cNvSpPr/>
          <p:nvPr/>
        </p:nvSpPr>
        <p:spPr>
          <a:xfrm>
            <a:off x="502920" y="12344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p:nvPr/>
        </p:nvSpPr>
        <p:spPr>
          <a:xfrm>
            <a:off x="923544" y="1216152"/>
            <a:ext cx="2286000" cy="329184"/>
          </a:xfrm>
          <a:prstGeom prst="rect">
            <a:avLst/>
          </a:prstGeom>
          <a:noFill/>
          <a:ln/>
        </p:spPr>
        <p:txBody>
          <a:bodyPr wrap="square" lIns="0" tIns="0" rIns="0" bIns="0" rtlCol="0" anchor="t"/>
          <a:lstStyle/>
          <a:p>
            <a:pPr indent="0" marL="0">
              <a:buNone/>
            </a:pPr>
            <a:r>
              <a:rPr lang="en-US" sz="1200" b="1" dirty="0">
                <a:solidFill>
                  <a:srgbClr val="0F1B40"/>
                </a:solidFill>
                <a:latin typeface="Calibri" pitchFamily="34" charset="0"/>
                <a:ea typeface="Calibri" pitchFamily="34" charset="-122"/>
                <a:cs typeface="Calibri" pitchFamily="34" charset="-120"/>
              </a:rPr>
              <a:t>Threat intelligence sources</a:t>
            </a:r>
            <a:endParaRPr lang="en-US" sz="1200" dirty="0"/>
          </a:p>
        </p:txBody>
      </p:sp>
      <p:sp>
        <p:nvSpPr>
          <p:cNvPr id="10" name="Text 7"/>
          <p:cNvSpPr/>
          <p:nvPr/>
        </p:nvSpPr>
        <p:spPr>
          <a:xfrm>
            <a:off x="502920" y="1600200"/>
            <a:ext cx="2651760" cy="777240"/>
          </a:xfrm>
          <a:prstGeom prst="rect">
            <a:avLst/>
          </a:prstGeom>
          <a:noFill/>
          <a:ln/>
        </p:spPr>
        <p:txBody>
          <a:bodyPr wrap="square" lIns="0" tIns="0" rIns="0" bIns="0" rtlCol="0" anchor="t"/>
          <a:lstStyle/>
          <a:p>
            <a:pPr indent="0" marL="0">
              <a:lnSpc>
                <a:spcPts val="1250"/>
              </a:lnSpc>
              <a:buNone/>
            </a:pPr>
            <a:r>
              <a:rPr lang="en-US" sz="950" dirty="0">
                <a:solidFill>
                  <a:srgbClr val="3B4557"/>
                </a:solidFill>
                <a:latin typeface="Calibri" pitchFamily="34" charset="0"/>
                <a:ea typeface="Calibri" pitchFamily="34" charset="-122"/>
                <a:cs typeface="Calibri" pitchFamily="34" charset="-120"/>
              </a:rPr>
              <a:t>MITRE ATT&amp;CK, MITRE FiGHT and vulnerability feeds enter through the Threat Data Ingestion rApp.</a:t>
            </a:r>
            <a:endParaRPr lang="en-US" sz="950" dirty="0"/>
          </a:p>
        </p:txBody>
      </p:sp>
      <p:sp>
        <p:nvSpPr>
          <p:cNvPr id="11" name="Shape 8"/>
          <p:cNvSpPr/>
          <p:nvPr/>
        </p:nvSpPr>
        <p:spPr>
          <a:xfrm>
            <a:off x="502920" y="2441448"/>
            <a:ext cx="310896" cy="310896"/>
          </a:xfrm>
          <a:prstGeom prst="ellipse">
            <a:avLst/>
          </a:prstGeom>
          <a:solidFill>
            <a:srgbClr val="EA8C3A"/>
          </a:solidFill>
          <a:ln w="12700">
            <a:solidFill>
              <a:srgbClr val="333333"/>
            </a:solidFill>
            <a:prstDash val="solid"/>
          </a:ln>
        </p:spPr>
      </p:sp>
      <p:sp>
        <p:nvSpPr>
          <p:cNvPr id="12" name="Text 9"/>
          <p:cNvSpPr/>
          <p:nvPr/>
        </p:nvSpPr>
        <p:spPr>
          <a:xfrm>
            <a:off x="502920" y="2441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0"/>
          <p:cNvSpPr/>
          <p:nvPr/>
        </p:nvSpPr>
        <p:spPr>
          <a:xfrm>
            <a:off x="923544" y="2423160"/>
            <a:ext cx="2286000" cy="329184"/>
          </a:xfrm>
          <a:prstGeom prst="rect">
            <a:avLst/>
          </a:prstGeom>
          <a:noFill/>
          <a:ln/>
        </p:spPr>
        <p:txBody>
          <a:bodyPr wrap="square" lIns="0" tIns="0" rIns="0" bIns="0" rtlCol="0" anchor="t"/>
          <a:lstStyle/>
          <a:p>
            <a:pPr indent="0" marL="0">
              <a:buNone/>
            </a:pPr>
            <a:r>
              <a:rPr lang="en-US" sz="1200" b="1" dirty="0">
                <a:solidFill>
                  <a:srgbClr val="0F1B40"/>
                </a:solidFill>
                <a:latin typeface="Calibri" pitchFamily="34" charset="0"/>
                <a:ea typeface="Calibri" pitchFamily="34" charset="-122"/>
                <a:cs typeface="Calibri" pitchFamily="34" charset="-120"/>
              </a:rPr>
              <a:t>Non-RT RIC / O-Cloud / SMO</a:t>
            </a:r>
            <a:endParaRPr lang="en-US" sz="1200" dirty="0"/>
          </a:p>
        </p:txBody>
      </p:sp>
      <p:sp>
        <p:nvSpPr>
          <p:cNvPr id="14" name="Text 11"/>
          <p:cNvSpPr/>
          <p:nvPr/>
        </p:nvSpPr>
        <p:spPr>
          <a:xfrm>
            <a:off x="502920" y="2807208"/>
            <a:ext cx="2651760" cy="777240"/>
          </a:xfrm>
          <a:prstGeom prst="rect">
            <a:avLst/>
          </a:prstGeom>
          <a:noFill/>
          <a:ln/>
        </p:spPr>
        <p:txBody>
          <a:bodyPr wrap="square" lIns="0" tIns="0" rIns="0" bIns="0" rtlCol="0" anchor="t"/>
          <a:lstStyle/>
          <a:p>
            <a:pPr indent="0" marL="0">
              <a:lnSpc>
                <a:spcPts val="1250"/>
              </a:lnSpc>
              <a:buNone/>
            </a:pPr>
            <a:r>
              <a:rPr lang="en-US" sz="950" dirty="0">
                <a:solidFill>
                  <a:srgbClr val="3B4557"/>
                </a:solidFill>
                <a:latin typeface="Calibri" pitchFamily="34" charset="0"/>
                <a:ea typeface="Calibri" pitchFamily="34" charset="-122"/>
                <a:cs typeface="Calibri" pitchFamily="34" charset="-120"/>
              </a:rPr>
              <a:t>Global RAG agent, MCP server, threat-intel database rApp, vendor notification rApp and the global dashboard.</a:t>
            </a:r>
            <a:endParaRPr lang="en-US" sz="950" dirty="0"/>
          </a:p>
        </p:txBody>
      </p:sp>
      <p:sp>
        <p:nvSpPr>
          <p:cNvPr id="15" name="Shape 12"/>
          <p:cNvSpPr/>
          <p:nvPr/>
        </p:nvSpPr>
        <p:spPr>
          <a:xfrm>
            <a:off x="502920" y="3648456"/>
            <a:ext cx="310896" cy="310896"/>
          </a:xfrm>
          <a:prstGeom prst="ellipse">
            <a:avLst/>
          </a:prstGeom>
          <a:solidFill>
            <a:srgbClr val="EA8C3A"/>
          </a:solidFill>
          <a:ln w="12700">
            <a:solidFill>
              <a:srgbClr val="333333"/>
            </a:solidFill>
            <a:prstDash val="solid"/>
          </a:ln>
        </p:spPr>
      </p:sp>
      <p:sp>
        <p:nvSpPr>
          <p:cNvPr id="16" name="Text 13"/>
          <p:cNvSpPr/>
          <p:nvPr/>
        </p:nvSpPr>
        <p:spPr>
          <a:xfrm>
            <a:off x="502920" y="364845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4"/>
          <p:cNvSpPr/>
          <p:nvPr/>
        </p:nvSpPr>
        <p:spPr>
          <a:xfrm>
            <a:off x="923544" y="3630168"/>
            <a:ext cx="2286000" cy="329184"/>
          </a:xfrm>
          <a:prstGeom prst="rect">
            <a:avLst/>
          </a:prstGeom>
          <a:noFill/>
          <a:ln/>
        </p:spPr>
        <p:txBody>
          <a:bodyPr wrap="square" lIns="0" tIns="0" rIns="0" bIns="0" rtlCol="0" anchor="t"/>
          <a:lstStyle/>
          <a:p>
            <a:pPr indent="0" marL="0">
              <a:buNone/>
            </a:pPr>
            <a:r>
              <a:rPr lang="en-US" sz="1200" b="1" dirty="0">
                <a:solidFill>
                  <a:srgbClr val="0F1B40"/>
                </a:solidFill>
                <a:latin typeface="Calibri" pitchFamily="34" charset="0"/>
                <a:ea typeface="Calibri" pitchFamily="34" charset="-122"/>
                <a:cs typeface="Calibri" pitchFamily="34" charset="-120"/>
              </a:rPr>
              <a:t>Near-RT RIC regions</a:t>
            </a:r>
            <a:endParaRPr lang="en-US" sz="1200" dirty="0"/>
          </a:p>
        </p:txBody>
      </p:sp>
      <p:sp>
        <p:nvSpPr>
          <p:cNvPr id="18" name="Text 15"/>
          <p:cNvSpPr/>
          <p:nvPr/>
        </p:nvSpPr>
        <p:spPr>
          <a:xfrm>
            <a:off x="502920" y="4014216"/>
            <a:ext cx="2651760" cy="777240"/>
          </a:xfrm>
          <a:prstGeom prst="rect">
            <a:avLst/>
          </a:prstGeom>
          <a:noFill/>
          <a:ln/>
        </p:spPr>
        <p:txBody>
          <a:bodyPr wrap="square" lIns="0" tIns="0" rIns="0" bIns="0" rtlCol="0" anchor="t"/>
          <a:lstStyle/>
          <a:p>
            <a:pPr indent="0" marL="0">
              <a:lnSpc>
                <a:spcPts val="1250"/>
              </a:lnSpc>
              <a:buNone/>
            </a:pPr>
            <a:r>
              <a:rPr lang="en-US" sz="950" dirty="0">
                <a:solidFill>
                  <a:srgbClr val="3B4557"/>
                </a:solidFill>
                <a:latin typeface="Calibri" pitchFamily="34" charset="0"/>
                <a:ea typeface="Calibri" pitchFamily="34" charset="-122"/>
                <a:cs typeface="Calibri" pitchFamily="34" charset="-120"/>
              </a:rPr>
              <a:t>Each region runs a Threat Simulator, Probe Manager, MCP client, Mini RAG agent and Inter-Platform Agent.</a:t>
            </a:r>
            <a:endParaRPr lang="en-US" sz="950" dirty="0"/>
          </a:p>
        </p:txBody>
      </p:sp>
      <p:sp>
        <p:nvSpPr>
          <p:cNvPr id="19" name="Shape 16"/>
          <p:cNvSpPr/>
          <p:nvPr/>
        </p:nvSpPr>
        <p:spPr>
          <a:xfrm>
            <a:off x="502920" y="4855464"/>
            <a:ext cx="310896" cy="310896"/>
          </a:xfrm>
          <a:prstGeom prst="ellipse">
            <a:avLst/>
          </a:prstGeom>
          <a:solidFill>
            <a:srgbClr val="EA8C3A"/>
          </a:solidFill>
          <a:ln w="12700">
            <a:solidFill>
              <a:srgbClr val="333333"/>
            </a:solidFill>
            <a:prstDash val="solid"/>
          </a:ln>
        </p:spPr>
      </p:sp>
      <p:sp>
        <p:nvSpPr>
          <p:cNvPr id="20" name="Text 17"/>
          <p:cNvSpPr/>
          <p:nvPr/>
        </p:nvSpPr>
        <p:spPr>
          <a:xfrm>
            <a:off x="502920" y="485546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8"/>
          <p:cNvSpPr/>
          <p:nvPr/>
        </p:nvSpPr>
        <p:spPr>
          <a:xfrm>
            <a:off x="923544" y="4837176"/>
            <a:ext cx="2286000" cy="329184"/>
          </a:xfrm>
          <a:prstGeom prst="rect">
            <a:avLst/>
          </a:prstGeom>
          <a:noFill/>
          <a:ln/>
        </p:spPr>
        <p:txBody>
          <a:bodyPr wrap="square" lIns="0" tIns="0" rIns="0" bIns="0" rtlCol="0" anchor="t"/>
          <a:lstStyle/>
          <a:p>
            <a:pPr indent="0" marL="0">
              <a:buNone/>
            </a:pPr>
            <a:r>
              <a:rPr lang="en-US" sz="1200" b="1" dirty="0">
                <a:solidFill>
                  <a:srgbClr val="0F1B40"/>
                </a:solidFill>
                <a:latin typeface="Calibri" pitchFamily="34" charset="0"/>
                <a:ea typeface="Calibri" pitchFamily="34" charset="-122"/>
                <a:cs typeface="Calibri" pitchFamily="34" charset="-120"/>
              </a:rPr>
              <a:t>RAN and radio layer</a:t>
            </a:r>
            <a:endParaRPr lang="en-US" sz="1200" dirty="0"/>
          </a:p>
        </p:txBody>
      </p:sp>
      <p:sp>
        <p:nvSpPr>
          <p:cNvPr id="22" name="Text 19"/>
          <p:cNvSpPr/>
          <p:nvPr/>
        </p:nvSpPr>
        <p:spPr>
          <a:xfrm>
            <a:off x="502920" y="5221224"/>
            <a:ext cx="2651760" cy="777240"/>
          </a:xfrm>
          <a:prstGeom prst="rect">
            <a:avLst/>
          </a:prstGeom>
          <a:noFill/>
          <a:ln/>
        </p:spPr>
        <p:txBody>
          <a:bodyPr wrap="square" lIns="0" tIns="0" rIns="0" bIns="0" rtlCol="0" anchor="t"/>
          <a:lstStyle/>
          <a:p>
            <a:pPr indent="0" marL="0">
              <a:lnSpc>
                <a:spcPts val="1250"/>
              </a:lnSpc>
              <a:buNone/>
            </a:pPr>
            <a:r>
              <a:rPr lang="en-US" sz="950" dirty="0">
                <a:solidFill>
                  <a:srgbClr val="3B4557"/>
                </a:solidFill>
                <a:latin typeface="Calibri" pitchFamily="34" charset="0"/>
                <a:ea typeface="Calibri" pitchFamily="34" charset="-122"/>
                <a:cs typeface="Calibri" pitchFamily="34" charset="-120"/>
              </a:rPr>
              <a:t>srsRAN O-CU, O-DU and O-RU with cyber probes, observed by the region over the E2 interface.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1F6"/>
        </a:solidFill>
      </p:bgPr>
    </p:bg>
    <p:spTree>
      <p:nvGrpSpPr>
        <p:cNvPr id="1" name=""/>
        <p:cNvGrpSpPr/>
        <p:nvPr/>
      </p:nvGrpSpPr>
      <p:grpSpPr>
        <a:xfrm>
          <a:off x="0" y="0"/>
          <a:ext cx="0" cy="0"/>
          <a:chOff x="0" y="0"/>
          <a:chExt cx="0" cy="0"/>
        </a:xfrm>
      </p:grpSpPr>
      <p:sp>
        <p:nvSpPr>
          <p:cNvPr id="2" name="Shape 0"/>
          <p:cNvSpPr/>
          <p:nvPr/>
        </p:nvSpPr>
        <p:spPr>
          <a:xfrm>
            <a:off x="-1005840" y="-822960"/>
            <a:ext cx="3383280" cy="2834640"/>
          </a:xfrm>
          <a:prstGeom prst="roundRect">
            <a:avLst>
              <a:gd name="adj" fmla="val 9677"/>
            </a:avLst>
          </a:prstGeom>
          <a:solidFill>
            <a:srgbClr val="DBE2EB"/>
          </a:solidFill>
          <a:ln w="12700">
            <a:solidFill>
              <a:srgbClr val="DBE2EB"/>
            </a:solidFill>
            <a:prstDash val="solid"/>
          </a:ln>
        </p:spPr>
      </p:sp>
      <p:sp>
        <p:nvSpPr>
          <p:cNvPr id="3" name="Text 1"/>
          <p:cNvSpPr/>
          <p:nvPr/>
        </p:nvSpPr>
        <p:spPr>
          <a:xfrm>
            <a:off x="502920" y="219456"/>
            <a:ext cx="11185855" cy="658368"/>
          </a:xfrm>
          <a:prstGeom prst="rect">
            <a:avLst/>
          </a:prstGeom>
          <a:noFill/>
          <a:ln/>
        </p:spPr>
        <p:txBody>
          <a:bodyPr wrap="square" lIns="0" tIns="0" rIns="0" bIns="0" rtlCol="0" anchor="ctr"/>
          <a:lstStyle/>
          <a:p>
            <a:pPr indent="0" marL="0">
              <a:buNone/>
            </a:pPr>
            <a:r>
              <a:rPr lang="en-US" sz="2900" b="1" dirty="0">
                <a:solidFill>
                  <a:srgbClr val="0F1B40"/>
                </a:solidFill>
                <a:latin typeface="Arial" pitchFamily="34" charset="0"/>
                <a:ea typeface="Arial" pitchFamily="34" charset="-122"/>
                <a:cs typeface="Arial" pitchFamily="34" charset="-120"/>
              </a:rPr>
              <a:t>Threat Ingestion &amp; Normalization Pipeline</a:t>
            </a:r>
            <a:endParaRPr lang="en-US" sz="2900" dirty="0"/>
          </a:p>
        </p:txBody>
      </p:sp>
      <p:sp>
        <p:nvSpPr>
          <p:cNvPr id="4" name="Shape 2"/>
          <p:cNvSpPr/>
          <p:nvPr/>
        </p:nvSpPr>
        <p:spPr>
          <a:xfrm>
            <a:off x="11478463" y="6236208"/>
            <a:ext cx="384048" cy="384048"/>
          </a:xfrm>
          <a:prstGeom prst="ellipse">
            <a:avLst/>
          </a:prstGeom>
          <a:solidFill>
            <a:srgbClr val="8FA3C1"/>
          </a:solidFill>
          <a:ln w="12700">
            <a:solidFill>
              <a:srgbClr val="8FA3C1"/>
            </a:solidFill>
            <a:prstDash val="solid"/>
          </a:ln>
        </p:spPr>
      </p:sp>
      <p:sp>
        <p:nvSpPr>
          <p:cNvPr id="5" name="Text 3"/>
          <p:cNvSpPr/>
          <p:nvPr/>
        </p:nvSpPr>
        <p:spPr>
          <a:xfrm>
            <a:off x="11478463" y="6236208"/>
            <a:ext cx="384048" cy="384048"/>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7</a:t>
            </a:r>
            <a:endParaRPr lang="en-US" sz="1100" dirty="0"/>
          </a:p>
        </p:txBody>
      </p:sp>
      <p:pic>
        <p:nvPicPr>
          <p:cNvPr id="6" name="Image 0" descr="C:\Users\Ravin\AppData\Local\Temp\claude\D--Projects-FYP-demo-site\7c41a152-688c-4cf7-a8dd-5ea6f53eb77e\scratchpad\eval\img\p07_0.png">    </p:cNvPr>
          <p:cNvPicPr>
            <a:picLocks noChangeAspect="1"/>
          </p:cNvPicPr>
          <p:nvPr/>
        </p:nvPicPr>
        <p:blipFill>
          <a:blip r:embed="rId1"/>
          <a:stretch>
            <a:fillRect/>
          </a:stretch>
        </p:blipFill>
        <p:spPr>
          <a:xfrm>
            <a:off x="1378227" y="960120"/>
            <a:ext cx="9435241" cy="4160520"/>
          </a:xfrm>
          <a:prstGeom prst="rect">
            <a:avLst/>
          </a:prstGeom>
        </p:spPr>
      </p:pic>
      <p:sp>
        <p:nvSpPr>
          <p:cNvPr id="7" name="Text 4"/>
          <p:cNvSpPr/>
          <p:nvPr/>
        </p:nvSpPr>
        <p:spPr>
          <a:xfrm>
            <a:off x="822960" y="5321808"/>
            <a:ext cx="10545775" cy="9144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3B4557"/>
                </a:solidFill>
                <a:latin typeface="Calibri" pitchFamily="34" charset="0"/>
                <a:ea typeface="Calibri" pitchFamily="34" charset="-122"/>
                <a:cs typeface="Calibri" pitchFamily="34" charset="-120"/>
              </a:rPr>
              <a:t>Semantic Tensor Pruning - dual-stage Max-Sim filtering prunes 85 to 90% of irrelevant enterprise IT noise from MITRE ATT&amp;CK and FiGHT, retaining only O-RAN-specific threat vectors.</a:t>
            </a:r>
            <a:endParaRPr lang="en-US" sz="1200" dirty="0"/>
          </a:p>
          <a:p>
            <a:pPr marL="342900" indent="-342900">
              <a:spcAft>
                <a:spcPts val="500"/>
              </a:spcAft>
              <a:buSzPct val="100000"/>
              <a:buChar char="•"/>
            </a:pPr>
            <a:r>
              <a:rPr lang="en-US" sz="1200" dirty="0">
                <a:solidFill>
                  <a:srgbClr val="3B4557"/>
                </a:solidFill>
                <a:latin typeface="Calibri" pitchFamily="34" charset="0"/>
                <a:ea typeface="Calibri" pitchFamily="34" charset="-122"/>
                <a:cs typeface="Calibri" pitchFamily="34" charset="-120"/>
              </a:rPr>
              <a:t>Domain-Native TAXII server &amp; STIX 2.1 Graph - combined threats across all 10 O-RAN architectural components into an ArangoDB graph database (:8529), exposed via an OASIS TAXII 2.1 server (:5001).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1F6"/>
        </a:solidFill>
      </p:bgPr>
    </p:bg>
    <p:spTree>
      <p:nvGrpSpPr>
        <p:cNvPr id="1" name=""/>
        <p:cNvGrpSpPr/>
        <p:nvPr/>
      </p:nvGrpSpPr>
      <p:grpSpPr>
        <a:xfrm>
          <a:off x="0" y="0"/>
          <a:ext cx="0" cy="0"/>
          <a:chOff x="0" y="0"/>
          <a:chExt cx="0" cy="0"/>
        </a:xfrm>
      </p:grpSpPr>
      <p:sp>
        <p:nvSpPr>
          <p:cNvPr id="2" name="Shape 0"/>
          <p:cNvSpPr/>
          <p:nvPr/>
        </p:nvSpPr>
        <p:spPr>
          <a:xfrm>
            <a:off x="-1005840" y="-822960"/>
            <a:ext cx="3383280" cy="2834640"/>
          </a:xfrm>
          <a:prstGeom prst="roundRect">
            <a:avLst>
              <a:gd name="adj" fmla="val 9677"/>
            </a:avLst>
          </a:prstGeom>
          <a:solidFill>
            <a:srgbClr val="DBE2EB"/>
          </a:solidFill>
          <a:ln w="12700">
            <a:solidFill>
              <a:srgbClr val="DBE2EB"/>
            </a:solidFill>
            <a:prstDash val="solid"/>
          </a:ln>
        </p:spPr>
      </p:sp>
      <p:sp>
        <p:nvSpPr>
          <p:cNvPr id="3" name="Text 1"/>
          <p:cNvSpPr/>
          <p:nvPr/>
        </p:nvSpPr>
        <p:spPr>
          <a:xfrm>
            <a:off x="502920" y="219456"/>
            <a:ext cx="11185855" cy="658368"/>
          </a:xfrm>
          <a:prstGeom prst="rect">
            <a:avLst/>
          </a:prstGeom>
          <a:noFill/>
          <a:ln/>
        </p:spPr>
        <p:txBody>
          <a:bodyPr wrap="square" lIns="0" tIns="0" rIns="0" bIns="0" rtlCol="0" anchor="ctr"/>
          <a:lstStyle/>
          <a:p>
            <a:pPr indent="0" marL="0">
              <a:buNone/>
            </a:pPr>
            <a:r>
              <a:rPr lang="en-US" sz="2900" b="1" dirty="0">
                <a:solidFill>
                  <a:srgbClr val="0F1B40"/>
                </a:solidFill>
                <a:latin typeface="Arial" pitchFamily="34" charset="0"/>
                <a:ea typeface="Arial" pitchFamily="34" charset="-122"/>
                <a:cs typeface="Arial" pitchFamily="34" charset="-120"/>
              </a:rPr>
              <a:t>Regional Mini-RAG and Global-RAG Workflow</a:t>
            </a:r>
            <a:endParaRPr lang="en-US" sz="2900" dirty="0"/>
          </a:p>
        </p:txBody>
      </p:sp>
      <p:sp>
        <p:nvSpPr>
          <p:cNvPr id="4" name="Shape 2"/>
          <p:cNvSpPr/>
          <p:nvPr/>
        </p:nvSpPr>
        <p:spPr>
          <a:xfrm>
            <a:off x="11478463" y="6236208"/>
            <a:ext cx="384048" cy="384048"/>
          </a:xfrm>
          <a:prstGeom prst="ellipse">
            <a:avLst/>
          </a:prstGeom>
          <a:solidFill>
            <a:srgbClr val="8FA3C1"/>
          </a:solidFill>
          <a:ln w="12700">
            <a:solidFill>
              <a:srgbClr val="8FA3C1"/>
            </a:solidFill>
            <a:prstDash val="solid"/>
          </a:ln>
        </p:spPr>
      </p:sp>
      <p:sp>
        <p:nvSpPr>
          <p:cNvPr id="5" name="Text 3"/>
          <p:cNvSpPr/>
          <p:nvPr/>
        </p:nvSpPr>
        <p:spPr>
          <a:xfrm>
            <a:off x="11478463" y="6236208"/>
            <a:ext cx="384048" cy="384048"/>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8</a:t>
            </a:r>
            <a:endParaRPr lang="en-US" sz="1100" dirty="0"/>
          </a:p>
        </p:txBody>
      </p:sp>
      <p:pic>
        <p:nvPicPr>
          <p:cNvPr id="6" name="Image 0" descr="C:\Users\Ravin\AppData\Local\Temp\claude\D--Projects-FYP-demo-site\7c41a152-688c-4cf7-a8dd-5ea6f53eb77e\scratchpad\eval\img\p08_0.png">    </p:cNvPr>
          <p:cNvPicPr>
            <a:picLocks noChangeAspect="1"/>
          </p:cNvPicPr>
          <p:nvPr/>
        </p:nvPicPr>
        <p:blipFill>
          <a:blip r:embed="rId1"/>
          <a:stretch>
            <a:fillRect/>
          </a:stretch>
        </p:blipFill>
        <p:spPr>
          <a:xfrm>
            <a:off x="502920" y="995567"/>
            <a:ext cx="11185855" cy="3440401"/>
          </a:xfrm>
          <a:prstGeom prst="rect">
            <a:avLst/>
          </a:prstGeom>
        </p:spPr>
      </p:pic>
      <p:pic>
        <p:nvPicPr>
          <p:cNvPr id="7" name="Image 1" descr="C:\Users\Ravin\AppData\Local\Temp\claude\D--Projects-FYP-demo-site\7c41a152-688c-4cf7-a8dd-5ea6f53eb77e\scratchpad\eval\img\p08_1.png">    </p:cNvPr>
          <p:cNvPicPr>
            <a:picLocks noChangeAspect="1"/>
          </p:cNvPicPr>
          <p:nvPr/>
        </p:nvPicPr>
        <p:blipFill>
          <a:blip r:embed="rId2"/>
          <a:stretch>
            <a:fillRect/>
          </a:stretch>
        </p:blipFill>
        <p:spPr>
          <a:xfrm>
            <a:off x="862200" y="4617720"/>
            <a:ext cx="2939040" cy="1783080"/>
          </a:xfrm>
          <a:prstGeom prst="rect">
            <a:avLst/>
          </a:prstGeom>
        </p:spPr>
      </p:pic>
      <p:sp>
        <p:nvSpPr>
          <p:cNvPr id="8" name="Text 4"/>
          <p:cNvSpPr/>
          <p:nvPr/>
        </p:nvSpPr>
        <p:spPr>
          <a:xfrm>
            <a:off x="4572000" y="4709160"/>
            <a:ext cx="7086600" cy="16002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B4557"/>
                </a:solidFill>
                <a:latin typeface="Calibri" pitchFamily="34" charset="0"/>
                <a:ea typeface="Calibri" pitchFamily="34" charset="-122"/>
                <a:cs typeface="Calibri" pitchFamily="34" charset="-120"/>
              </a:rPr>
              <a:t>Escalation trigger - Global-RAG is engaged only when local similarity drops below the threshold.</a:t>
            </a:r>
            <a:endParaRPr lang="en-US" sz="1200" dirty="0"/>
          </a:p>
          <a:p>
            <a:pPr marL="342900" indent="-342900">
              <a:spcAft>
                <a:spcPts val="600"/>
              </a:spcAft>
              <a:buSzPct val="100000"/>
              <a:buChar char="•"/>
            </a:pPr>
            <a:r>
              <a:rPr lang="en-US" sz="1200" dirty="0">
                <a:solidFill>
                  <a:srgbClr val="3B4557"/>
                </a:solidFill>
                <a:latin typeface="Calibri" pitchFamily="34" charset="0"/>
                <a:ea typeface="Calibri" pitchFamily="34" charset="-122"/>
                <a:cs typeface="Calibri" pitchFamily="34" charset="-120"/>
              </a:rPr>
              <a:t>Learning criteria - integration is limited to valid, usable and novel records; existing families are ignored.</a:t>
            </a:r>
            <a:endParaRPr lang="en-US" sz="1200" dirty="0"/>
          </a:p>
          <a:p>
            <a:pPr marL="342900" indent="-342900">
              <a:spcAft>
                <a:spcPts val="600"/>
              </a:spcAft>
              <a:buSzPct val="100000"/>
              <a:buChar char="•"/>
            </a:pPr>
            <a:r>
              <a:rPr lang="en-US" sz="1200" dirty="0">
                <a:solidFill>
                  <a:srgbClr val="3B4557"/>
                </a:solidFill>
                <a:latin typeface="Calibri" pitchFamily="34" charset="0"/>
                <a:ea typeface="Calibri" pitchFamily="34" charset="-122"/>
                <a:cs typeface="Calibri" pitchFamily="34" charset="-120"/>
              </a:rPr>
              <a:t>The RL metric - growth efficiency is learned records over eligible escalations, not raw threat volume.</a:t>
            </a:r>
            <a:endParaRPr lang="en-US" sz="1200" dirty="0"/>
          </a:p>
          <a:p>
            <a:pPr marL="342900" indent="-342900">
              <a:spcAft>
                <a:spcPts val="600"/>
              </a:spcAft>
              <a:buSzPct val="100000"/>
              <a:buChar char="•"/>
            </a:pPr>
            <a:r>
              <a:rPr lang="en-US" sz="1200" dirty="0">
                <a:solidFill>
                  <a:srgbClr val="3B4557"/>
                </a:solidFill>
                <a:latin typeface="Calibri" pitchFamily="34" charset="0"/>
                <a:ea typeface="Calibri" pitchFamily="34" charset="-122"/>
                <a:cs typeface="Calibri" pitchFamily="34" charset="-120"/>
              </a:rPr>
              <a:t>Decision separation - escalation and learning are deliberately decoupled.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1F6"/>
        </a:solidFill>
      </p:bgPr>
    </p:bg>
    <p:spTree>
      <p:nvGrpSpPr>
        <p:cNvPr id="1" name=""/>
        <p:cNvGrpSpPr/>
        <p:nvPr/>
      </p:nvGrpSpPr>
      <p:grpSpPr>
        <a:xfrm>
          <a:off x="0" y="0"/>
          <a:ext cx="0" cy="0"/>
          <a:chOff x="0" y="0"/>
          <a:chExt cx="0" cy="0"/>
        </a:xfrm>
      </p:grpSpPr>
      <p:sp>
        <p:nvSpPr>
          <p:cNvPr id="2" name="Shape 0"/>
          <p:cNvSpPr/>
          <p:nvPr/>
        </p:nvSpPr>
        <p:spPr>
          <a:xfrm>
            <a:off x="-1005840" y="-822960"/>
            <a:ext cx="3383280" cy="2834640"/>
          </a:xfrm>
          <a:prstGeom prst="roundRect">
            <a:avLst>
              <a:gd name="adj" fmla="val 9677"/>
            </a:avLst>
          </a:prstGeom>
          <a:solidFill>
            <a:srgbClr val="DBE2EB"/>
          </a:solidFill>
          <a:ln w="12700">
            <a:solidFill>
              <a:srgbClr val="DBE2EB"/>
            </a:solidFill>
            <a:prstDash val="solid"/>
          </a:ln>
        </p:spPr>
      </p:sp>
      <p:sp>
        <p:nvSpPr>
          <p:cNvPr id="3" name="Text 1"/>
          <p:cNvSpPr/>
          <p:nvPr/>
        </p:nvSpPr>
        <p:spPr>
          <a:xfrm>
            <a:off x="502920" y="219456"/>
            <a:ext cx="11185855" cy="658368"/>
          </a:xfrm>
          <a:prstGeom prst="rect">
            <a:avLst/>
          </a:prstGeom>
          <a:noFill/>
          <a:ln/>
        </p:spPr>
        <p:txBody>
          <a:bodyPr wrap="square" lIns="0" tIns="0" rIns="0" bIns="0" rtlCol="0" anchor="ctr"/>
          <a:lstStyle/>
          <a:p>
            <a:pPr indent="0" marL="0">
              <a:buNone/>
            </a:pPr>
            <a:r>
              <a:rPr lang="en-US" sz="2900" b="1" dirty="0">
                <a:solidFill>
                  <a:srgbClr val="0F1B40"/>
                </a:solidFill>
                <a:latin typeface="Arial" pitchFamily="34" charset="0"/>
                <a:ea typeface="Arial" pitchFamily="34" charset="-122"/>
                <a:cs typeface="Arial" pitchFamily="34" charset="-120"/>
              </a:rPr>
              <a:t>Anomaly Detection Gateway</a:t>
            </a:r>
            <a:endParaRPr lang="en-US" sz="2900" dirty="0"/>
          </a:p>
        </p:txBody>
      </p:sp>
      <p:sp>
        <p:nvSpPr>
          <p:cNvPr id="4" name="Shape 2"/>
          <p:cNvSpPr/>
          <p:nvPr/>
        </p:nvSpPr>
        <p:spPr>
          <a:xfrm>
            <a:off x="11478463" y="6236208"/>
            <a:ext cx="384048" cy="384048"/>
          </a:xfrm>
          <a:prstGeom prst="ellipse">
            <a:avLst/>
          </a:prstGeom>
          <a:solidFill>
            <a:srgbClr val="8FA3C1"/>
          </a:solidFill>
          <a:ln w="12700">
            <a:solidFill>
              <a:srgbClr val="8FA3C1"/>
            </a:solidFill>
            <a:prstDash val="solid"/>
          </a:ln>
        </p:spPr>
      </p:sp>
      <p:sp>
        <p:nvSpPr>
          <p:cNvPr id="5" name="Text 3"/>
          <p:cNvSpPr/>
          <p:nvPr/>
        </p:nvSpPr>
        <p:spPr>
          <a:xfrm>
            <a:off x="11478463" y="6236208"/>
            <a:ext cx="384048" cy="384048"/>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9</a:t>
            </a:r>
            <a:endParaRPr lang="en-US" sz="1100" dirty="0"/>
          </a:p>
        </p:txBody>
      </p:sp>
      <p:pic>
        <p:nvPicPr>
          <p:cNvPr id="6" name="Image 0" descr="C:\Users\Ravin\AppData\Local\Temp\claude\D--Projects-FYP-demo-site\7c41a152-688c-4cf7-a8dd-5ea6f53eb77e\scratchpad\eval\img\p09_0.png">    </p:cNvPr>
          <p:cNvPicPr>
            <a:picLocks noChangeAspect="1"/>
          </p:cNvPicPr>
          <p:nvPr/>
        </p:nvPicPr>
        <p:blipFill>
          <a:blip r:embed="rId1"/>
          <a:stretch>
            <a:fillRect/>
          </a:stretch>
        </p:blipFill>
        <p:spPr>
          <a:xfrm>
            <a:off x="640080" y="1067084"/>
            <a:ext cx="4663440" cy="4815273"/>
          </a:xfrm>
          <a:prstGeom prst="rect">
            <a:avLst/>
          </a:prstGeom>
        </p:spPr>
      </p:pic>
      <p:sp>
        <p:nvSpPr>
          <p:cNvPr id="7" name="Text 4"/>
          <p:cNvSpPr/>
          <p:nvPr/>
        </p:nvSpPr>
        <p:spPr>
          <a:xfrm>
            <a:off x="5760720" y="1170432"/>
            <a:ext cx="5852160" cy="365760"/>
          </a:xfrm>
          <a:prstGeom prst="rect">
            <a:avLst/>
          </a:prstGeom>
          <a:noFill/>
          <a:ln/>
        </p:spPr>
        <p:txBody>
          <a:bodyPr wrap="square" lIns="0" tIns="0" rIns="0" bIns="0" rtlCol="0" anchor="ctr"/>
          <a:lstStyle/>
          <a:p>
            <a:pPr indent="0" marL="0">
              <a:buNone/>
            </a:pPr>
            <a:r>
              <a:rPr lang="en-US" sz="1500" b="1" dirty="0">
                <a:solidFill>
                  <a:srgbClr val="0F1B40"/>
                </a:solidFill>
                <a:latin typeface="Calibri" pitchFamily="34" charset="0"/>
                <a:ea typeface="Calibri" pitchFamily="34" charset="-122"/>
                <a:cs typeface="Calibri" pitchFamily="34" charset="-120"/>
              </a:rPr>
              <a:t>Multi-Modal Telemetry Streams</a:t>
            </a:r>
            <a:endParaRPr lang="en-US" sz="1500" dirty="0"/>
          </a:p>
        </p:txBody>
      </p:sp>
      <p:sp>
        <p:nvSpPr>
          <p:cNvPr id="8" name="Shape 5"/>
          <p:cNvSpPr/>
          <p:nvPr/>
        </p:nvSpPr>
        <p:spPr>
          <a:xfrm>
            <a:off x="5760720" y="1572768"/>
            <a:ext cx="5852160" cy="1078992"/>
          </a:xfrm>
          <a:prstGeom prst="rect">
            <a:avLst/>
          </a:prstGeom>
          <a:solidFill>
            <a:srgbClr val="DCE7F5"/>
          </a:solidFill>
          <a:ln w="12700">
            <a:solidFill>
              <a:srgbClr val="333333"/>
            </a:solidFill>
            <a:prstDash val="solid"/>
          </a:ln>
        </p:spPr>
      </p:sp>
      <p:sp>
        <p:nvSpPr>
          <p:cNvPr id="9" name="Text 6"/>
          <p:cNvSpPr/>
          <p:nvPr/>
        </p:nvSpPr>
        <p:spPr>
          <a:xfrm>
            <a:off x="5943600" y="1664208"/>
            <a:ext cx="5486400" cy="91440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3B4557"/>
                </a:solidFill>
                <a:latin typeface="Calibri" pitchFamily="34" charset="0"/>
                <a:ea typeface="Calibri" pitchFamily="34" charset="-122"/>
                <a:cs typeface="Calibri" pitchFamily="34" charset="-120"/>
              </a:rPr>
              <a:t>Radio metrics (E2SM-KPM / xApp2)</a:t>
            </a:r>
            <a:endParaRPr lang="en-US" sz="1050" dirty="0"/>
          </a:p>
          <a:p>
            <a:pPr marL="342900" indent="-342900">
              <a:spcAft>
                <a:spcPts val="300"/>
              </a:spcAft>
              <a:buSzPct val="100000"/>
              <a:buChar char="•"/>
            </a:pPr>
            <a:r>
              <a:rPr lang="en-US" sz="1050" dirty="0">
                <a:solidFill>
                  <a:srgbClr val="3B4557"/>
                </a:solidFill>
                <a:latin typeface="Calibri" pitchFamily="34" charset="0"/>
                <a:ea typeface="Calibri" pitchFamily="34" charset="-122"/>
                <a:cs typeface="Calibri" pitchFamily="34" charset="-120"/>
              </a:rPr>
              <a:t>Container runtime (Falco)</a:t>
            </a:r>
            <a:endParaRPr lang="en-US" sz="1050" dirty="0"/>
          </a:p>
          <a:p>
            <a:pPr marL="342900" indent="-342900">
              <a:spcAft>
                <a:spcPts val="300"/>
              </a:spcAft>
              <a:buSzPct val="100000"/>
              <a:buChar char="•"/>
            </a:pPr>
            <a:r>
              <a:rPr lang="en-US" sz="1050" dirty="0">
                <a:solidFill>
                  <a:srgbClr val="3B4557"/>
                </a:solidFill>
                <a:latin typeface="Calibri" pitchFamily="34" charset="0"/>
                <a:ea typeface="Calibri" pitchFamily="34" charset="-122"/>
                <a:cs typeface="Calibri" pitchFamily="34" charset="-120"/>
              </a:rPr>
              <a:t>Control-plane logs (Loki)</a:t>
            </a:r>
            <a:endParaRPr lang="en-US" sz="1050" dirty="0"/>
          </a:p>
          <a:p>
            <a:pPr marL="342900" indent="-342900">
              <a:spcAft>
                <a:spcPts val="300"/>
              </a:spcAft>
              <a:buSzPct val="100000"/>
              <a:buChar char="•"/>
            </a:pPr>
            <a:r>
              <a:rPr lang="en-US" sz="1050" dirty="0">
                <a:solidFill>
                  <a:srgbClr val="3B4557"/>
                </a:solidFill>
                <a:latin typeface="Calibri" pitchFamily="34" charset="0"/>
                <a:ea typeface="Calibri" pitchFamily="34" charset="-122"/>
                <a:cs typeface="Calibri" pitchFamily="34" charset="-120"/>
              </a:rPr>
              <a:t>Interface events and Prometheus alerts</a:t>
            </a:r>
            <a:endParaRPr lang="en-US" sz="1050" dirty="0"/>
          </a:p>
        </p:txBody>
      </p:sp>
      <p:sp>
        <p:nvSpPr>
          <p:cNvPr id="10" name="Text 7"/>
          <p:cNvSpPr/>
          <p:nvPr/>
        </p:nvSpPr>
        <p:spPr>
          <a:xfrm>
            <a:off x="5760720" y="2834640"/>
            <a:ext cx="5852160" cy="365760"/>
          </a:xfrm>
          <a:prstGeom prst="rect">
            <a:avLst/>
          </a:prstGeom>
          <a:noFill/>
          <a:ln/>
        </p:spPr>
        <p:txBody>
          <a:bodyPr wrap="square" lIns="0" tIns="0" rIns="0" bIns="0" rtlCol="0" anchor="ctr"/>
          <a:lstStyle/>
          <a:p>
            <a:pPr indent="0" marL="0">
              <a:buNone/>
            </a:pPr>
            <a:r>
              <a:rPr lang="en-US" sz="1500" b="1" dirty="0">
                <a:solidFill>
                  <a:srgbClr val="0F1B40"/>
                </a:solidFill>
                <a:latin typeface="Calibri" pitchFamily="34" charset="0"/>
                <a:ea typeface="Calibri" pitchFamily="34" charset="-122"/>
                <a:cs typeface="Calibri" pitchFamily="34" charset="-120"/>
              </a:rPr>
              <a:t>Deterministic Scoring Engine</a:t>
            </a:r>
            <a:endParaRPr lang="en-US" sz="1500" dirty="0"/>
          </a:p>
        </p:txBody>
      </p:sp>
      <p:sp>
        <p:nvSpPr>
          <p:cNvPr id="11" name="Shape 8"/>
          <p:cNvSpPr/>
          <p:nvPr/>
        </p:nvSpPr>
        <p:spPr>
          <a:xfrm>
            <a:off x="5760720" y="3236976"/>
            <a:ext cx="5852160" cy="1078992"/>
          </a:xfrm>
          <a:prstGeom prst="rect">
            <a:avLst/>
          </a:prstGeom>
          <a:solidFill>
            <a:srgbClr val="DCE7F5"/>
          </a:solidFill>
          <a:ln w="12700">
            <a:solidFill>
              <a:srgbClr val="333333"/>
            </a:solidFill>
            <a:prstDash val="solid"/>
          </a:ln>
        </p:spPr>
      </p:sp>
      <p:sp>
        <p:nvSpPr>
          <p:cNvPr id="12" name="Text 9"/>
          <p:cNvSpPr/>
          <p:nvPr/>
        </p:nvSpPr>
        <p:spPr>
          <a:xfrm>
            <a:off x="5943600" y="3328416"/>
            <a:ext cx="5486400" cy="91440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3B4557"/>
                </a:solidFill>
                <a:latin typeface="Calibri" pitchFamily="34" charset="0"/>
                <a:ea typeface="Calibri" pitchFamily="34" charset="-122"/>
                <a:cs typeface="Calibri" pitchFamily="34" charset="-120"/>
              </a:rPr>
              <a:t>Direct threshold and 3-sigma baseline evaluation</a:t>
            </a:r>
            <a:endParaRPr lang="en-US" sz="1050" dirty="0"/>
          </a:p>
          <a:p>
            <a:pPr marL="342900" indent="-342900">
              <a:spcAft>
                <a:spcPts val="300"/>
              </a:spcAft>
              <a:buSzPct val="100000"/>
              <a:buChar char="•"/>
            </a:pPr>
            <a:r>
              <a:rPr lang="en-US" sz="1050" dirty="0">
                <a:solidFill>
                  <a:srgbClr val="3B4557"/>
                </a:solidFill>
                <a:latin typeface="Calibri" pitchFamily="34" charset="0"/>
                <a:ea typeface="Calibri" pitchFamily="34" charset="-122"/>
                <a:cs typeface="Calibri" pitchFamily="34" charset="-120"/>
              </a:rPr>
              <a:t>Correlation over a 300 s window</a:t>
            </a:r>
            <a:endParaRPr lang="en-US" sz="1050" dirty="0"/>
          </a:p>
          <a:p>
            <a:pPr marL="342900" indent="-342900">
              <a:spcAft>
                <a:spcPts val="300"/>
              </a:spcAft>
              <a:buSzPct val="100000"/>
              <a:buChar char="•"/>
            </a:pPr>
            <a:r>
              <a:rPr lang="en-US" sz="1050" dirty="0">
                <a:solidFill>
                  <a:srgbClr val="3B4557"/>
                </a:solidFill>
                <a:latin typeface="Calibri" pitchFamily="34" charset="0"/>
                <a:ea typeface="Calibri" pitchFamily="34" charset="-122"/>
                <a:cs typeface="Calibri" pitchFamily="34" charset="-120"/>
              </a:rPr>
              <a:t>Zero AI involvement in the detection decision</a:t>
            </a:r>
            <a:endParaRPr lang="en-US" sz="1050" dirty="0"/>
          </a:p>
        </p:txBody>
      </p:sp>
      <p:sp>
        <p:nvSpPr>
          <p:cNvPr id="13" name="Text 10"/>
          <p:cNvSpPr/>
          <p:nvPr/>
        </p:nvSpPr>
        <p:spPr>
          <a:xfrm>
            <a:off x="5760720" y="4498848"/>
            <a:ext cx="5852160" cy="365760"/>
          </a:xfrm>
          <a:prstGeom prst="rect">
            <a:avLst/>
          </a:prstGeom>
          <a:noFill/>
          <a:ln/>
        </p:spPr>
        <p:txBody>
          <a:bodyPr wrap="square" lIns="0" tIns="0" rIns="0" bIns="0" rtlCol="0" anchor="ctr"/>
          <a:lstStyle/>
          <a:p>
            <a:pPr indent="0" marL="0">
              <a:buNone/>
            </a:pPr>
            <a:r>
              <a:rPr lang="en-US" sz="1500" b="1" dirty="0">
                <a:solidFill>
                  <a:srgbClr val="0F1B40"/>
                </a:solidFill>
                <a:latin typeface="Calibri" pitchFamily="34" charset="0"/>
                <a:ea typeface="Calibri" pitchFamily="34" charset="-122"/>
                <a:cs typeface="Calibri" pitchFamily="34" charset="-120"/>
              </a:rPr>
              <a:t>Normalized ThreatEvent Recording</a:t>
            </a:r>
            <a:endParaRPr lang="en-US" sz="1500" dirty="0"/>
          </a:p>
        </p:txBody>
      </p:sp>
      <p:sp>
        <p:nvSpPr>
          <p:cNvPr id="14" name="Shape 11"/>
          <p:cNvSpPr/>
          <p:nvPr/>
        </p:nvSpPr>
        <p:spPr>
          <a:xfrm>
            <a:off x="5760720" y="4901184"/>
            <a:ext cx="5852160" cy="1078992"/>
          </a:xfrm>
          <a:prstGeom prst="rect">
            <a:avLst/>
          </a:prstGeom>
          <a:solidFill>
            <a:srgbClr val="DCE7F5"/>
          </a:solidFill>
          <a:ln w="12700">
            <a:solidFill>
              <a:srgbClr val="333333"/>
            </a:solidFill>
            <a:prstDash val="solid"/>
          </a:ln>
        </p:spPr>
      </p:sp>
      <p:sp>
        <p:nvSpPr>
          <p:cNvPr id="15" name="Text 12"/>
          <p:cNvSpPr/>
          <p:nvPr/>
        </p:nvSpPr>
        <p:spPr>
          <a:xfrm>
            <a:off x="5943600" y="4992624"/>
            <a:ext cx="5486400" cy="91440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3B4557"/>
                </a:solidFill>
                <a:latin typeface="Calibri" pitchFamily="34" charset="0"/>
                <a:ea typeface="Calibri" pitchFamily="34" charset="-122"/>
                <a:cs typeface="Calibri" pitchFamily="34" charset="-120"/>
              </a:rPr>
              <a:t>Standardised JSON contract</a:t>
            </a:r>
            <a:endParaRPr lang="en-US" sz="1050" dirty="0"/>
          </a:p>
          <a:p>
            <a:pPr marL="342900" indent="-342900">
              <a:spcAft>
                <a:spcPts val="300"/>
              </a:spcAft>
              <a:buSzPct val="100000"/>
              <a:buChar char="•"/>
            </a:pPr>
            <a:r>
              <a:rPr lang="en-US" sz="1050" dirty="0">
                <a:solidFill>
                  <a:srgbClr val="3B4557"/>
                </a:solidFill>
                <a:latin typeface="Calibri" pitchFamily="34" charset="0"/>
                <a:ea typeface="Calibri" pitchFamily="34" charset="-122"/>
                <a:cs typeface="Calibri" pitchFamily="34" charset="-120"/>
              </a:rPr>
              <a:t>Rule, criterion, measured value and threshold retained</a:t>
            </a:r>
            <a:endParaRPr lang="en-US" sz="1050" dirty="0"/>
          </a:p>
          <a:p>
            <a:pPr marL="342900" indent="-342900">
              <a:spcAft>
                <a:spcPts val="300"/>
              </a:spcAft>
              <a:buSzPct val="100000"/>
              <a:buChar char="•"/>
            </a:pPr>
            <a:r>
              <a:rPr lang="en-US" sz="1050" dirty="0">
                <a:solidFill>
                  <a:srgbClr val="3B4557"/>
                </a:solidFill>
                <a:latin typeface="Calibri" pitchFamily="34" charset="0"/>
                <a:ea typeface="Calibri" pitchFamily="34" charset="-122"/>
                <a:cs typeface="Calibri" pitchFamily="34" charset="-120"/>
              </a:rPr>
              <a:t>Immutable persistence in rApp2</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1F6"/>
        </a:solidFill>
      </p:bgPr>
    </p:bg>
    <p:spTree>
      <p:nvGrpSpPr>
        <p:cNvPr id="1" name=""/>
        <p:cNvGrpSpPr/>
        <p:nvPr/>
      </p:nvGrpSpPr>
      <p:grpSpPr>
        <a:xfrm>
          <a:off x="0" y="0"/>
          <a:ext cx="0" cy="0"/>
          <a:chOff x="0" y="0"/>
          <a:chExt cx="0" cy="0"/>
        </a:xfrm>
      </p:grpSpPr>
      <p:sp>
        <p:nvSpPr>
          <p:cNvPr id="2" name="Shape 0"/>
          <p:cNvSpPr/>
          <p:nvPr/>
        </p:nvSpPr>
        <p:spPr>
          <a:xfrm>
            <a:off x="-1005840" y="-822960"/>
            <a:ext cx="3383280" cy="2834640"/>
          </a:xfrm>
          <a:prstGeom prst="roundRect">
            <a:avLst>
              <a:gd name="adj" fmla="val 9677"/>
            </a:avLst>
          </a:prstGeom>
          <a:solidFill>
            <a:srgbClr val="DBE2EB"/>
          </a:solidFill>
          <a:ln w="12700">
            <a:solidFill>
              <a:srgbClr val="DBE2EB"/>
            </a:solidFill>
            <a:prstDash val="solid"/>
          </a:ln>
        </p:spPr>
      </p:sp>
      <p:sp>
        <p:nvSpPr>
          <p:cNvPr id="3" name="Text 1"/>
          <p:cNvSpPr/>
          <p:nvPr/>
        </p:nvSpPr>
        <p:spPr>
          <a:xfrm>
            <a:off x="502920" y="219456"/>
            <a:ext cx="11185855" cy="658368"/>
          </a:xfrm>
          <a:prstGeom prst="rect">
            <a:avLst/>
          </a:prstGeom>
          <a:noFill/>
          <a:ln/>
        </p:spPr>
        <p:txBody>
          <a:bodyPr wrap="square" lIns="0" tIns="0" rIns="0" bIns="0" rtlCol="0" anchor="ctr"/>
          <a:lstStyle/>
          <a:p>
            <a:pPr indent="0" marL="0">
              <a:buNone/>
            </a:pPr>
            <a:r>
              <a:rPr lang="en-US" sz="2900" b="1" dirty="0">
                <a:solidFill>
                  <a:srgbClr val="0F1B40"/>
                </a:solidFill>
                <a:latin typeface="Arial" pitchFamily="34" charset="0"/>
                <a:ea typeface="Arial" pitchFamily="34" charset="-122"/>
                <a:cs typeface="Arial" pitchFamily="34" charset="-120"/>
              </a:rPr>
              <a:t>Anomaly Families - Emulation and Detection</a:t>
            </a:r>
            <a:endParaRPr lang="en-US" sz="2900" dirty="0"/>
          </a:p>
        </p:txBody>
      </p:sp>
      <p:sp>
        <p:nvSpPr>
          <p:cNvPr id="4" name="Shape 2"/>
          <p:cNvSpPr/>
          <p:nvPr/>
        </p:nvSpPr>
        <p:spPr>
          <a:xfrm>
            <a:off x="11478463" y="6236208"/>
            <a:ext cx="384048" cy="384048"/>
          </a:xfrm>
          <a:prstGeom prst="ellipse">
            <a:avLst/>
          </a:prstGeom>
          <a:solidFill>
            <a:srgbClr val="8FA3C1"/>
          </a:solidFill>
          <a:ln w="12700">
            <a:solidFill>
              <a:srgbClr val="8FA3C1"/>
            </a:solidFill>
            <a:prstDash val="solid"/>
          </a:ln>
        </p:spPr>
      </p:sp>
      <p:sp>
        <p:nvSpPr>
          <p:cNvPr id="5" name="Text 3"/>
          <p:cNvSpPr/>
          <p:nvPr/>
        </p:nvSpPr>
        <p:spPr>
          <a:xfrm>
            <a:off x="11478463" y="6236208"/>
            <a:ext cx="384048" cy="384048"/>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10</a:t>
            </a:r>
            <a:endParaRPr lang="en-US" sz="1100" dirty="0"/>
          </a:p>
        </p:txBody>
      </p:sp>
      <p:sp>
        <p:nvSpPr>
          <p:cNvPr id="6" name="Shape 4"/>
          <p:cNvSpPr/>
          <p:nvPr/>
        </p:nvSpPr>
        <p:spPr>
          <a:xfrm>
            <a:off x="502920" y="1097280"/>
            <a:ext cx="11185855" cy="475488"/>
          </a:xfrm>
          <a:prstGeom prst="rect">
            <a:avLst/>
          </a:prstGeom>
          <a:solidFill>
            <a:srgbClr val="C8D8EC"/>
          </a:solidFill>
          <a:ln w="12700">
            <a:solidFill>
              <a:srgbClr val="333333"/>
            </a:solidFill>
            <a:prstDash val="solid"/>
          </a:ln>
        </p:spPr>
      </p:sp>
      <p:sp>
        <p:nvSpPr>
          <p:cNvPr id="7" name="Text 5"/>
          <p:cNvSpPr/>
          <p:nvPr/>
        </p:nvSpPr>
        <p:spPr>
          <a:xfrm>
            <a:off x="502920" y="1097280"/>
            <a:ext cx="3200400" cy="475488"/>
          </a:xfrm>
          <a:prstGeom prst="rect">
            <a:avLst/>
          </a:prstGeom>
          <a:noFill/>
          <a:ln/>
        </p:spPr>
        <p:txBody>
          <a:bodyPr wrap="square" lIns="0" tIns="0" rIns="0" bIns="0" rtlCol="0" anchor="ctr"/>
          <a:lstStyle/>
          <a:p>
            <a:pPr algn="ctr" indent="0" marL="0">
              <a:buNone/>
            </a:pPr>
            <a:r>
              <a:rPr lang="en-US" sz="1250" b="1" dirty="0">
                <a:solidFill>
                  <a:srgbClr val="0F1B40"/>
                </a:solidFill>
                <a:latin typeface="Calibri" pitchFamily="34" charset="0"/>
                <a:ea typeface="Calibri" pitchFamily="34" charset="-122"/>
                <a:cs typeface="Calibri" pitchFamily="34" charset="-120"/>
              </a:rPr>
              <a:t>Family</a:t>
            </a:r>
            <a:endParaRPr lang="en-US" sz="1250" dirty="0"/>
          </a:p>
        </p:txBody>
      </p:sp>
      <p:sp>
        <p:nvSpPr>
          <p:cNvPr id="8" name="Text 6"/>
          <p:cNvSpPr/>
          <p:nvPr/>
        </p:nvSpPr>
        <p:spPr>
          <a:xfrm>
            <a:off x="3703320" y="1097280"/>
            <a:ext cx="4663440" cy="475488"/>
          </a:xfrm>
          <a:prstGeom prst="rect">
            <a:avLst/>
          </a:prstGeom>
          <a:noFill/>
          <a:ln/>
        </p:spPr>
        <p:txBody>
          <a:bodyPr wrap="square" lIns="0" tIns="0" rIns="0" bIns="0" rtlCol="0" anchor="ctr"/>
          <a:lstStyle/>
          <a:p>
            <a:pPr algn="ctr" indent="0" marL="0">
              <a:buNone/>
            </a:pPr>
            <a:r>
              <a:rPr lang="en-US" sz="1250" b="1" dirty="0">
                <a:solidFill>
                  <a:srgbClr val="0F1B40"/>
                </a:solidFill>
                <a:latin typeface="Calibri" pitchFamily="34" charset="0"/>
                <a:ea typeface="Calibri" pitchFamily="34" charset="-122"/>
                <a:cs typeface="Calibri" pitchFamily="34" charset="-120"/>
              </a:rPr>
              <a:t>Mechanism (bounded / labelled simulation)</a:t>
            </a:r>
            <a:endParaRPr lang="en-US" sz="1250" dirty="0"/>
          </a:p>
        </p:txBody>
      </p:sp>
      <p:sp>
        <p:nvSpPr>
          <p:cNvPr id="9" name="Text 7"/>
          <p:cNvSpPr/>
          <p:nvPr/>
        </p:nvSpPr>
        <p:spPr>
          <a:xfrm>
            <a:off x="8366760" y="1097280"/>
            <a:ext cx="3319272" cy="475488"/>
          </a:xfrm>
          <a:prstGeom prst="rect">
            <a:avLst/>
          </a:prstGeom>
          <a:noFill/>
          <a:ln/>
        </p:spPr>
        <p:txBody>
          <a:bodyPr wrap="square" lIns="0" tIns="0" rIns="0" bIns="0" rtlCol="0" anchor="ctr"/>
          <a:lstStyle/>
          <a:p>
            <a:pPr algn="ctr" indent="0" marL="0">
              <a:buNone/>
            </a:pPr>
            <a:r>
              <a:rPr lang="en-US" sz="1250" b="1" dirty="0">
                <a:solidFill>
                  <a:srgbClr val="0F1B40"/>
                </a:solidFill>
                <a:latin typeface="Calibri" pitchFamily="34" charset="0"/>
                <a:ea typeface="Calibri" pitchFamily="34" charset="-122"/>
                <a:cs typeface="Calibri" pitchFamily="34" charset="-120"/>
              </a:rPr>
              <a:t>Expected detector family</a:t>
            </a:r>
            <a:endParaRPr lang="en-US" sz="1250" dirty="0"/>
          </a:p>
        </p:txBody>
      </p:sp>
      <p:sp>
        <p:nvSpPr>
          <p:cNvPr id="10" name="Shape 8"/>
          <p:cNvSpPr/>
          <p:nvPr/>
        </p:nvSpPr>
        <p:spPr>
          <a:xfrm>
            <a:off x="502920" y="1572768"/>
            <a:ext cx="11185855" cy="457200"/>
          </a:xfrm>
          <a:prstGeom prst="rect">
            <a:avLst/>
          </a:prstGeom>
          <a:solidFill>
            <a:srgbClr val="AFC3DE"/>
          </a:solidFill>
          <a:ln w="12700">
            <a:solidFill>
              <a:srgbClr val="333333"/>
            </a:solidFill>
            <a:prstDash val="solid"/>
          </a:ln>
        </p:spPr>
      </p:sp>
      <p:sp>
        <p:nvSpPr>
          <p:cNvPr id="11" name="Text 9"/>
          <p:cNvSpPr/>
          <p:nvPr/>
        </p:nvSpPr>
        <p:spPr>
          <a:xfrm>
            <a:off x="502920" y="1572768"/>
            <a:ext cx="3200400" cy="457200"/>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UE DoS / KPM</a:t>
            </a:r>
            <a:endParaRPr lang="en-US" sz="1100" dirty="0"/>
          </a:p>
        </p:txBody>
      </p:sp>
      <p:sp>
        <p:nvSpPr>
          <p:cNvPr id="12" name="Text 10"/>
          <p:cNvSpPr/>
          <p:nvPr/>
        </p:nvSpPr>
        <p:spPr>
          <a:xfrm>
            <a:off x="3703320" y="1572768"/>
            <a:ext cx="4663440" cy="457200"/>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Bounded iperf load + KPM throughput evidence</a:t>
            </a:r>
            <a:endParaRPr lang="en-US" sz="1100" dirty="0"/>
          </a:p>
        </p:txBody>
      </p:sp>
      <p:sp>
        <p:nvSpPr>
          <p:cNvPr id="13" name="Text 11"/>
          <p:cNvSpPr/>
          <p:nvPr/>
        </p:nvSpPr>
        <p:spPr>
          <a:xfrm>
            <a:off x="8366760" y="1572768"/>
            <a:ext cx="3319272" cy="457200"/>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KPM threshold / baseline</a:t>
            </a:r>
            <a:endParaRPr lang="en-US" sz="1100" dirty="0"/>
          </a:p>
        </p:txBody>
      </p:sp>
      <p:sp>
        <p:nvSpPr>
          <p:cNvPr id="14" name="Shape 12"/>
          <p:cNvSpPr/>
          <p:nvPr/>
        </p:nvSpPr>
        <p:spPr>
          <a:xfrm>
            <a:off x="502920" y="2029968"/>
            <a:ext cx="11185855" cy="457200"/>
          </a:xfrm>
          <a:prstGeom prst="rect">
            <a:avLst/>
          </a:prstGeom>
          <a:solidFill>
            <a:srgbClr val="DCE7F7"/>
          </a:solidFill>
          <a:ln w="12700">
            <a:solidFill>
              <a:srgbClr val="333333"/>
            </a:solidFill>
            <a:prstDash val="solid"/>
          </a:ln>
        </p:spPr>
      </p:sp>
      <p:sp>
        <p:nvSpPr>
          <p:cNvPr id="15" name="Text 13"/>
          <p:cNvSpPr/>
          <p:nvPr/>
        </p:nvSpPr>
        <p:spPr>
          <a:xfrm>
            <a:off x="502920" y="2029968"/>
            <a:ext cx="3200400" cy="457200"/>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UE runtime shell</a:t>
            </a:r>
            <a:endParaRPr lang="en-US" sz="1100" dirty="0"/>
          </a:p>
        </p:txBody>
      </p:sp>
      <p:sp>
        <p:nvSpPr>
          <p:cNvPr id="16" name="Text 14"/>
          <p:cNvSpPr/>
          <p:nvPr/>
        </p:nvSpPr>
        <p:spPr>
          <a:xfrm>
            <a:off x="3703320" y="2029968"/>
            <a:ext cx="4663440" cy="457200"/>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Bounded shell execution with experiment marker</a:t>
            </a:r>
            <a:endParaRPr lang="en-US" sz="1100" dirty="0"/>
          </a:p>
        </p:txBody>
      </p:sp>
      <p:sp>
        <p:nvSpPr>
          <p:cNvPr id="17" name="Text 15"/>
          <p:cNvSpPr/>
          <p:nvPr/>
        </p:nvSpPr>
        <p:spPr>
          <a:xfrm>
            <a:off x="8366760" y="2029968"/>
            <a:ext cx="3319272" cy="457200"/>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Falco container shell rule</a:t>
            </a:r>
            <a:endParaRPr lang="en-US" sz="1100" dirty="0"/>
          </a:p>
        </p:txBody>
      </p:sp>
      <p:sp>
        <p:nvSpPr>
          <p:cNvPr id="18" name="Shape 16"/>
          <p:cNvSpPr/>
          <p:nvPr/>
        </p:nvSpPr>
        <p:spPr>
          <a:xfrm>
            <a:off x="502920" y="2487168"/>
            <a:ext cx="11185855" cy="457200"/>
          </a:xfrm>
          <a:prstGeom prst="rect">
            <a:avLst/>
          </a:prstGeom>
          <a:solidFill>
            <a:srgbClr val="AFC3DE"/>
          </a:solidFill>
          <a:ln w="12700">
            <a:solidFill>
              <a:srgbClr val="333333"/>
            </a:solidFill>
            <a:prstDash val="solid"/>
          </a:ln>
        </p:spPr>
      </p:sp>
      <p:sp>
        <p:nvSpPr>
          <p:cNvPr id="19" name="Text 17"/>
          <p:cNvSpPr/>
          <p:nvPr/>
        </p:nvSpPr>
        <p:spPr>
          <a:xfrm>
            <a:off x="502920" y="2487168"/>
            <a:ext cx="3200400" cy="457200"/>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A1 anomaly (simulated)</a:t>
            </a:r>
            <a:endParaRPr lang="en-US" sz="1100" dirty="0"/>
          </a:p>
        </p:txBody>
      </p:sp>
      <p:sp>
        <p:nvSpPr>
          <p:cNvPr id="20" name="Text 18"/>
          <p:cNvSpPr/>
          <p:nvPr/>
        </p:nvSpPr>
        <p:spPr>
          <a:xfrm>
            <a:off x="3703320" y="2487168"/>
            <a:ext cx="4663440" cy="457200"/>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Structured invalid / unauthorised policy burst</a:t>
            </a:r>
            <a:endParaRPr lang="en-US" sz="1100" dirty="0"/>
          </a:p>
        </p:txBody>
      </p:sp>
      <p:sp>
        <p:nvSpPr>
          <p:cNvPr id="21" name="Text 19"/>
          <p:cNvSpPr/>
          <p:nvPr/>
        </p:nvSpPr>
        <p:spPr>
          <a:xfrm>
            <a:off x="8366760" y="2487168"/>
            <a:ext cx="3319272" cy="457200"/>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A1 policy validation failure</a:t>
            </a:r>
            <a:endParaRPr lang="en-US" sz="1100" dirty="0"/>
          </a:p>
        </p:txBody>
      </p:sp>
      <p:sp>
        <p:nvSpPr>
          <p:cNvPr id="22" name="Shape 20"/>
          <p:cNvSpPr/>
          <p:nvPr/>
        </p:nvSpPr>
        <p:spPr>
          <a:xfrm>
            <a:off x="502920" y="2944368"/>
            <a:ext cx="11185855" cy="457200"/>
          </a:xfrm>
          <a:prstGeom prst="rect">
            <a:avLst/>
          </a:prstGeom>
          <a:solidFill>
            <a:srgbClr val="DCE7F7"/>
          </a:solidFill>
          <a:ln w="12700">
            <a:solidFill>
              <a:srgbClr val="333333"/>
            </a:solidFill>
            <a:prstDash val="solid"/>
          </a:ln>
        </p:spPr>
      </p:sp>
      <p:sp>
        <p:nvSpPr>
          <p:cNvPr id="23" name="Text 21"/>
          <p:cNvSpPr/>
          <p:nvPr/>
        </p:nvSpPr>
        <p:spPr>
          <a:xfrm>
            <a:off x="502920" y="2944368"/>
            <a:ext cx="3200400" cy="457200"/>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F1 anomaly (simulated)</a:t>
            </a:r>
            <a:endParaRPr lang="en-US" sz="1100" dirty="0"/>
          </a:p>
        </p:txBody>
      </p:sp>
      <p:sp>
        <p:nvSpPr>
          <p:cNvPr id="24" name="Text 22"/>
          <p:cNvSpPr/>
          <p:nvPr/>
        </p:nvSpPr>
        <p:spPr>
          <a:xfrm>
            <a:off x="3703320" y="2944368"/>
            <a:ext cx="4663440" cy="457200"/>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Structured F1 interface anomaly contract</a:t>
            </a:r>
            <a:endParaRPr lang="en-US" sz="1100" dirty="0"/>
          </a:p>
        </p:txBody>
      </p:sp>
      <p:sp>
        <p:nvSpPr>
          <p:cNvPr id="25" name="Text 23"/>
          <p:cNvSpPr/>
          <p:nvPr/>
        </p:nvSpPr>
        <p:spPr>
          <a:xfrm>
            <a:off x="8366760" y="2944368"/>
            <a:ext cx="3319272" cy="457200"/>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F1 interface anomaly family</a:t>
            </a:r>
            <a:endParaRPr lang="en-US" sz="1100" dirty="0"/>
          </a:p>
        </p:txBody>
      </p:sp>
      <p:sp>
        <p:nvSpPr>
          <p:cNvPr id="26" name="Shape 24"/>
          <p:cNvSpPr/>
          <p:nvPr/>
        </p:nvSpPr>
        <p:spPr>
          <a:xfrm>
            <a:off x="502920" y="3401568"/>
            <a:ext cx="11185855" cy="457200"/>
          </a:xfrm>
          <a:prstGeom prst="rect">
            <a:avLst/>
          </a:prstGeom>
          <a:solidFill>
            <a:srgbClr val="AFC3DE"/>
          </a:solidFill>
          <a:ln w="12700">
            <a:solidFill>
              <a:srgbClr val="333333"/>
            </a:solidFill>
            <a:prstDash val="solid"/>
          </a:ln>
        </p:spPr>
      </p:sp>
      <p:sp>
        <p:nvSpPr>
          <p:cNvPr id="27" name="Text 25"/>
          <p:cNvSpPr/>
          <p:nvPr/>
        </p:nvSpPr>
        <p:spPr>
          <a:xfrm>
            <a:off x="502920" y="3401568"/>
            <a:ext cx="3200400" cy="457200"/>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E2 signalling (simulated)</a:t>
            </a:r>
            <a:endParaRPr lang="en-US" sz="1100" dirty="0"/>
          </a:p>
        </p:txBody>
      </p:sp>
      <p:sp>
        <p:nvSpPr>
          <p:cNvPr id="28" name="Text 26"/>
          <p:cNvSpPr/>
          <p:nvPr/>
        </p:nvSpPr>
        <p:spPr>
          <a:xfrm>
            <a:off x="3703320" y="3401568"/>
            <a:ext cx="4663440" cy="457200"/>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Structured E2 signalling anomaly contract</a:t>
            </a:r>
            <a:endParaRPr lang="en-US" sz="1100" dirty="0"/>
          </a:p>
        </p:txBody>
      </p:sp>
      <p:sp>
        <p:nvSpPr>
          <p:cNvPr id="29" name="Text 27"/>
          <p:cNvSpPr/>
          <p:nvPr/>
        </p:nvSpPr>
        <p:spPr>
          <a:xfrm>
            <a:off x="8366760" y="3401568"/>
            <a:ext cx="3319272" cy="457200"/>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E2 signalling / subscription family</a:t>
            </a:r>
            <a:endParaRPr lang="en-US" sz="1100" dirty="0"/>
          </a:p>
        </p:txBody>
      </p:sp>
      <p:sp>
        <p:nvSpPr>
          <p:cNvPr id="30" name="Shape 28"/>
          <p:cNvSpPr/>
          <p:nvPr/>
        </p:nvSpPr>
        <p:spPr>
          <a:xfrm>
            <a:off x="502920" y="3858768"/>
            <a:ext cx="11185855" cy="457200"/>
          </a:xfrm>
          <a:prstGeom prst="rect">
            <a:avLst/>
          </a:prstGeom>
          <a:solidFill>
            <a:srgbClr val="DCE7F7"/>
          </a:solidFill>
          <a:ln w="12700">
            <a:solidFill>
              <a:srgbClr val="333333"/>
            </a:solidFill>
            <a:prstDash val="solid"/>
          </a:ln>
        </p:spPr>
      </p:sp>
      <p:sp>
        <p:nvSpPr>
          <p:cNvPr id="31" name="Text 29"/>
          <p:cNvSpPr/>
          <p:nvPr/>
        </p:nvSpPr>
        <p:spPr>
          <a:xfrm>
            <a:off x="502920" y="3858768"/>
            <a:ext cx="3200400" cy="457200"/>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xApp invalid API</a:t>
            </a:r>
            <a:endParaRPr lang="en-US" sz="1100" dirty="0"/>
          </a:p>
        </p:txBody>
      </p:sp>
      <p:sp>
        <p:nvSpPr>
          <p:cNvPr id="32" name="Text 30"/>
          <p:cNvSpPr/>
          <p:nvPr/>
        </p:nvSpPr>
        <p:spPr>
          <a:xfrm>
            <a:off x="3703320" y="3858768"/>
            <a:ext cx="4663440" cy="457200"/>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Bounded invalid threat-event API requests</a:t>
            </a:r>
            <a:endParaRPr lang="en-US" sz="1100" dirty="0"/>
          </a:p>
        </p:txBody>
      </p:sp>
      <p:sp>
        <p:nvSpPr>
          <p:cNvPr id="33" name="Text 31"/>
          <p:cNvSpPr/>
          <p:nvPr/>
        </p:nvSpPr>
        <p:spPr>
          <a:xfrm>
            <a:off x="8366760" y="3858768"/>
            <a:ext cx="3319272" cy="457200"/>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OranXappInvalidApiBurst</a:t>
            </a:r>
            <a:endParaRPr lang="en-US" sz="1100" dirty="0"/>
          </a:p>
        </p:txBody>
      </p:sp>
      <p:sp>
        <p:nvSpPr>
          <p:cNvPr id="34" name="Shape 32"/>
          <p:cNvSpPr/>
          <p:nvPr/>
        </p:nvSpPr>
        <p:spPr>
          <a:xfrm>
            <a:off x="502920" y="4315968"/>
            <a:ext cx="11185855" cy="457200"/>
          </a:xfrm>
          <a:prstGeom prst="rect">
            <a:avLst/>
          </a:prstGeom>
          <a:solidFill>
            <a:srgbClr val="AFC3DE"/>
          </a:solidFill>
          <a:ln w="12700">
            <a:solidFill>
              <a:srgbClr val="333333"/>
            </a:solidFill>
            <a:prstDash val="solid"/>
          </a:ln>
        </p:spPr>
      </p:sp>
      <p:sp>
        <p:nvSpPr>
          <p:cNvPr id="35" name="Text 33"/>
          <p:cNvSpPr/>
          <p:nvPr/>
        </p:nvSpPr>
        <p:spPr>
          <a:xfrm>
            <a:off x="502920" y="4315968"/>
            <a:ext cx="3200400" cy="457200"/>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Pod runtime shell</a:t>
            </a:r>
            <a:endParaRPr lang="en-US" sz="1100" dirty="0"/>
          </a:p>
        </p:txBody>
      </p:sp>
      <p:sp>
        <p:nvSpPr>
          <p:cNvPr id="36" name="Text 34"/>
          <p:cNvSpPr/>
          <p:nvPr/>
        </p:nvSpPr>
        <p:spPr>
          <a:xfrm>
            <a:off x="3703320" y="4315968"/>
            <a:ext cx="4663440" cy="457200"/>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Short-lived Alpine pod shell marker</a:t>
            </a:r>
            <a:endParaRPr lang="en-US" sz="1100" dirty="0"/>
          </a:p>
        </p:txBody>
      </p:sp>
      <p:sp>
        <p:nvSpPr>
          <p:cNvPr id="37" name="Text 35"/>
          <p:cNvSpPr/>
          <p:nvPr/>
        </p:nvSpPr>
        <p:spPr>
          <a:xfrm>
            <a:off x="8366760" y="4315968"/>
            <a:ext cx="3319272" cy="457200"/>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Falco shell-spawn family</a:t>
            </a:r>
            <a:endParaRPr lang="en-US" sz="1100" dirty="0"/>
          </a:p>
        </p:txBody>
      </p:sp>
      <p:sp>
        <p:nvSpPr>
          <p:cNvPr id="38" name="Shape 36"/>
          <p:cNvSpPr/>
          <p:nvPr/>
        </p:nvSpPr>
        <p:spPr>
          <a:xfrm>
            <a:off x="502920" y="4773168"/>
            <a:ext cx="11185855" cy="457200"/>
          </a:xfrm>
          <a:prstGeom prst="rect">
            <a:avLst/>
          </a:prstGeom>
          <a:solidFill>
            <a:srgbClr val="DCE7F7"/>
          </a:solidFill>
          <a:ln w="12700">
            <a:solidFill>
              <a:srgbClr val="333333"/>
            </a:solidFill>
            <a:prstDash val="solid"/>
          </a:ln>
        </p:spPr>
      </p:sp>
      <p:sp>
        <p:nvSpPr>
          <p:cNvPr id="39" name="Text 37"/>
          <p:cNvSpPr/>
          <p:nvPr/>
        </p:nvSpPr>
        <p:spPr>
          <a:xfrm>
            <a:off x="502920" y="4773168"/>
            <a:ext cx="3200400" cy="457200"/>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Memory pressure</a:t>
            </a:r>
            <a:endParaRPr lang="en-US" sz="1100" dirty="0"/>
          </a:p>
        </p:txBody>
      </p:sp>
      <p:sp>
        <p:nvSpPr>
          <p:cNvPr id="40" name="Text 38"/>
          <p:cNvSpPr/>
          <p:nvPr/>
        </p:nvSpPr>
        <p:spPr>
          <a:xfrm>
            <a:off x="3703320" y="4773168"/>
            <a:ext cx="4663440" cy="457200"/>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Resource-limited workload, sustained pressure</a:t>
            </a:r>
            <a:endParaRPr lang="en-US" sz="1100" dirty="0"/>
          </a:p>
        </p:txBody>
      </p:sp>
      <p:sp>
        <p:nvSpPr>
          <p:cNvPr id="41" name="Text 39"/>
          <p:cNvSpPr/>
          <p:nvPr/>
        </p:nvSpPr>
        <p:spPr>
          <a:xfrm>
            <a:off x="8366760" y="4773168"/>
            <a:ext cx="3319272" cy="457200"/>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Memory limit pressure family</a:t>
            </a:r>
            <a:endParaRPr lang="en-US" sz="1100" dirty="0"/>
          </a:p>
        </p:txBody>
      </p:sp>
      <p:sp>
        <p:nvSpPr>
          <p:cNvPr id="42" name="Shape 40"/>
          <p:cNvSpPr/>
          <p:nvPr/>
        </p:nvSpPr>
        <p:spPr>
          <a:xfrm>
            <a:off x="502920" y="5230368"/>
            <a:ext cx="11185855" cy="457200"/>
          </a:xfrm>
          <a:prstGeom prst="rect">
            <a:avLst/>
          </a:prstGeom>
          <a:solidFill>
            <a:srgbClr val="AFC3DE"/>
          </a:solidFill>
          <a:ln w="12700">
            <a:solidFill>
              <a:srgbClr val="333333"/>
            </a:solidFill>
            <a:prstDash val="solid"/>
          </a:ln>
        </p:spPr>
      </p:sp>
      <p:sp>
        <p:nvSpPr>
          <p:cNvPr id="43" name="Text 41"/>
          <p:cNvSpPr/>
          <p:nvPr/>
        </p:nvSpPr>
        <p:spPr>
          <a:xfrm>
            <a:off x="502920" y="5230368"/>
            <a:ext cx="3200400" cy="457200"/>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Auth log burst</a:t>
            </a:r>
            <a:endParaRPr lang="en-US" sz="1100" dirty="0"/>
          </a:p>
        </p:txBody>
      </p:sp>
      <p:sp>
        <p:nvSpPr>
          <p:cNvPr id="44" name="Text 42"/>
          <p:cNvSpPr/>
          <p:nvPr/>
        </p:nvSpPr>
        <p:spPr>
          <a:xfrm>
            <a:off x="3703320" y="5230368"/>
            <a:ext cx="4663440" cy="457200"/>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Controlled authentication failure log messages</a:t>
            </a:r>
            <a:endParaRPr lang="en-US" sz="1100" dirty="0"/>
          </a:p>
        </p:txBody>
      </p:sp>
      <p:sp>
        <p:nvSpPr>
          <p:cNvPr id="45" name="Text 43"/>
          <p:cNvSpPr/>
          <p:nvPr/>
        </p:nvSpPr>
        <p:spPr>
          <a:xfrm>
            <a:off x="8366760" y="5230368"/>
            <a:ext cx="3319272" cy="457200"/>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Region auth failure burst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1F6"/>
        </a:solidFill>
      </p:bgPr>
    </p:bg>
    <p:spTree>
      <p:nvGrpSpPr>
        <p:cNvPr id="1" name=""/>
        <p:cNvGrpSpPr/>
        <p:nvPr/>
      </p:nvGrpSpPr>
      <p:grpSpPr>
        <a:xfrm>
          <a:off x="0" y="0"/>
          <a:ext cx="0" cy="0"/>
          <a:chOff x="0" y="0"/>
          <a:chExt cx="0" cy="0"/>
        </a:xfrm>
      </p:grpSpPr>
      <p:sp>
        <p:nvSpPr>
          <p:cNvPr id="2" name="Shape 0"/>
          <p:cNvSpPr/>
          <p:nvPr/>
        </p:nvSpPr>
        <p:spPr>
          <a:xfrm>
            <a:off x="-1005840" y="-822960"/>
            <a:ext cx="3383280" cy="2834640"/>
          </a:xfrm>
          <a:prstGeom prst="roundRect">
            <a:avLst>
              <a:gd name="adj" fmla="val 9677"/>
            </a:avLst>
          </a:prstGeom>
          <a:solidFill>
            <a:srgbClr val="DBE2EB"/>
          </a:solidFill>
          <a:ln w="12700">
            <a:solidFill>
              <a:srgbClr val="DBE2EB"/>
            </a:solidFill>
            <a:prstDash val="solid"/>
          </a:ln>
        </p:spPr>
      </p:sp>
      <p:sp>
        <p:nvSpPr>
          <p:cNvPr id="3" name="Text 1"/>
          <p:cNvSpPr/>
          <p:nvPr/>
        </p:nvSpPr>
        <p:spPr>
          <a:xfrm>
            <a:off x="502920" y="219456"/>
            <a:ext cx="11185855" cy="658368"/>
          </a:xfrm>
          <a:prstGeom prst="rect">
            <a:avLst/>
          </a:prstGeom>
          <a:noFill/>
          <a:ln/>
        </p:spPr>
        <p:txBody>
          <a:bodyPr wrap="square" lIns="0" tIns="0" rIns="0" bIns="0" rtlCol="0" anchor="ctr"/>
          <a:lstStyle/>
          <a:p>
            <a:pPr indent="0" marL="0">
              <a:buNone/>
            </a:pPr>
            <a:r>
              <a:rPr lang="en-US" sz="2900" b="1" dirty="0">
                <a:solidFill>
                  <a:srgbClr val="0F1B40"/>
                </a:solidFill>
                <a:latin typeface="Arial" pitchFamily="34" charset="0"/>
                <a:ea typeface="Arial" pitchFamily="34" charset="-122"/>
                <a:cs typeface="Arial" pitchFamily="34" charset="-120"/>
              </a:rPr>
              <a:t>Guarded Closed-Loop Mitigation &amp; Actuation</a:t>
            </a:r>
            <a:endParaRPr lang="en-US" sz="2900" dirty="0"/>
          </a:p>
        </p:txBody>
      </p:sp>
      <p:sp>
        <p:nvSpPr>
          <p:cNvPr id="4" name="Shape 2"/>
          <p:cNvSpPr/>
          <p:nvPr/>
        </p:nvSpPr>
        <p:spPr>
          <a:xfrm>
            <a:off x="11478463" y="6236208"/>
            <a:ext cx="384048" cy="384048"/>
          </a:xfrm>
          <a:prstGeom prst="ellipse">
            <a:avLst/>
          </a:prstGeom>
          <a:solidFill>
            <a:srgbClr val="8FA3C1"/>
          </a:solidFill>
          <a:ln w="12700">
            <a:solidFill>
              <a:srgbClr val="8FA3C1"/>
            </a:solidFill>
            <a:prstDash val="solid"/>
          </a:ln>
        </p:spPr>
      </p:sp>
      <p:sp>
        <p:nvSpPr>
          <p:cNvPr id="5" name="Text 3"/>
          <p:cNvSpPr/>
          <p:nvPr/>
        </p:nvSpPr>
        <p:spPr>
          <a:xfrm>
            <a:off x="11478463" y="6236208"/>
            <a:ext cx="384048" cy="384048"/>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11</a:t>
            </a:r>
            <a:endParaRPr lang="en-US" sz="1100" dirty="0"/>
          </a:p>
        </p:txBody>
      </p:sp>
      <p:pic>
        <p:nvPicPr>
          <p:cNvPr id="6" name="Image 0" descr="C:\Users\Ravin\AppData\Local\Temp\claude\D--Projects-FYP-demo-site\7c41a152-688c-4cf7-a8dd-5ea6f53eb77e\scratchpad\eval\img\p11_0.png">    </p:cNvPr>
          <p:cNvPicPr>
            <a:picLocks noChangeAspect="1"/>
          </p:cNvPicPr>
          <p:nvPr/>
        </p:nvPicPr>
        <p:blipFill>
          <a:blip r:embed="rId1"/>
          <a:stretch>
            <a:fillRect/>
          </a:stretch>
        </p:blipFill>
        <p:spPr>
          <a:xfrm>
            <a:off x="1588456" y="960120"/>
            <a:ext cx="9014784" cy="50749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1F6"/>
        </a:solidFill>
      </p:bgPr>
    </p:bg>
    <p:spTree>
      <p:nvGrpSpPr>
        <p:cNvPr id="1" name=""/>
        <p:cNvGrpSpPr/>
        <p:nvPr/>
      </p:nvGrpSpPr>
      <p:grpSpPr>
        <a:xfrm>
          <a:off x="0" y="0"/>
          <a:ext cx="0" cy="0"/>
          <a:chOff x="0" y="0"/>
          <a:chExt cx="0" cy="0"/>
        </a:xfrm>
      </p:grpSpPr>
      <p:sp>
        <p:nvSpPr>
          <p:cNvPr id="2" name="Shape 0"/>
          <p:cNvSpPr/>
          <p:nvPr/>
        </p:nvSpPr>
        <p:spPr>
          <a:xfrm>
            <a:off x="-1005840" y="-822960"/>
            <a:ext cx="3383280" cy="2834640"/>
          </a:xfrm>
          <a:prstGeom prst="roundRect">
            <a:avLst>
              <a:gd name="adj" fmla="val 9677"/>
            </a:avLst>
          </a:prstGeom>
          <a:solidFill>
            <a:srgbClr val="DBE2EB"/>
          </a:solidFill>
          <a:ln w="12700">
            <a:solidFill>
              <a:srgbClr val="DBE2EB"/>
            </a:solidFill>
            <a:prstDash val="solid"/>
          </a:ln>
        </p:spPr>
      </p:sp>
      <p:sp>
        <p:nvSpPr>
          <p:cNvPr id="3" name="Text 1"/>
          <p:cNvSpPr/>
          <p:nvPr/>
        </p:nvSpPr>
        <p:spPr>
          <a:xfrm>
            <a:off x="502920" y="219456"/>
            <a:ext cx="11185855" cy="658368"/>
          </a:xfrm>
          <a:prstGeom prst="rect">
            <a:avLst/>
          </a:prstGeom>
          <a:noFill/>
          <a:ln/>
        </p:spPr>
        <p:txBody>
          <a:bodyPr wrap="square" lIns="0" tIns="0" rIns="0" bIns="0" rtlCol="0" anchor="ctr"/>
          <a:lstStyle/>
          <a:p>
            <a:pPr indent="0" marL="0">
              <a:buNone/>
            </a:pPr>
            <a:r>
              <a:rPr lang="en-US" sz="2900" b="1" dirty="0">
                <a:solidFill>
                  <a:srgbClr val="0F1B40"/>
                </a:solidFill>
                <a:latin typeface="Arial" pitchFamily="34" charset="0"/>
                <a:ea typeface="Arial" pitchFamily="34" charset="-122"/>
                <a:cs typeface="Arial" pitchFamily="34" charset="-120"/>
              </a:rPr>
              <a:t>Inter-Platform Agent - Privacy-Preserving Sharing</a:t>
            </a:r>
            <a:endParaRPr lang="en-US" sz="2900" dirty="0"/>
          </a:p>
        </p:txBody>
      </p:sp>
      <p:sp>
        <p:nvSpPr>
          <p:cNvPr id="4" name="Shape 2"/>
          <p:cNvSpPr/>
          <p:nvPr/>
        </p:nvSpPr>
        <p:spPr>
          <a:xfrm>
            <a:off x="11478463" y="6236208"/>
            <a:ext cx="384048" cy="384048"/>
          </a:xfrm>
          <a:prstGeom prst="ellipse">
            <a:avLst/>
          </a:prstGeom>
          <a:solidFill>
            <a:srgbClr val="8FA3C1"/>
          </a:solidFill>
          <a:ln w="12700">
            <a:solidFill>
              <a:srgbClr val="8FA3C1"/>
            </a:solidFill>
            <a:prstDash val="solid"/>
          </a:ln>
        </p:spPr>
      </p:sp>
      <p:sp>
        <p:nvSpPr>
          <p:cNvPr id="5" name="Text 3"/>
          <p:cNvSpPr/>
          <p:nvPr/>
        </p:nvSpPr>
        <p:spPr>
          <a:xfrm>
            <a:off x="11478463" y="6236208"/>
            <a:ext cx="384048" cy="384048"/>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12</a:t>
            </a:r>
            <a:endParaRPr lang="en-US" sz="1100" dirty="0"/>
          </a:p>
        </p:txBody>
      </p:sp>
      <p:pic>
        <p:nvPicPr>
          <p:cNvPr id="6" name="Image 0" descr="C:\Users\Ravin\AppData\Local\Temp\claude\D--Projects-FYP-demo-site\7c41a152-688c-4cf7-a8dd-5ea6f53eb77e\scratchpad\eval\img\ipa_flow.png">    </p:cNvPr>
          <p:cNvPicPr>
            <a:picLocks noChangeAspect="1"/>
          </p:cNvPicPr>
          <p:nvPr/>
        </p:nvPicPr>
        <p:blipFill>
          <a:blip r:embed="rId1"/>
          <a:stretch>
            <a:fillRect/>
          </a:stretch>
        </p:blipFill>
        <p:spPr>
          <a:xfrm>
            <a:off x="548640" y="1370397"/>
            <a:ext cx="4846320" cy="4208646"/>
          </a:xfrm>
          <a:prstGeom prst="rect">
            <a:avLst/>
          </a:prstGeom>
        </p:spPr>
      </p:pic>
      <p:sp>
        <p:nvSpPr>
          <p:cNvPr id="7" name="Shape 4"/>
          <p:cNvSpPr/>
          <p:nvPr/>
        </p:nvSpPr>
        <p:spPr>
          <a:xfrm>
            <a:off x="5715000" y="1115568"/>
            <a:ext cx="256032" cy="256032"/>
          </a:xfrm>
          <a:prstGeom prst="ellipse">
            <a:avLst/>
          </a:prstGeom>
          <a:solidFill>
            <a:srgbClr val="7C3AED"/>
          </a:solidFill>
          <a:ln w="12700">
            <a:solidFill>
              <a:srgbClr val="333333"/>
            </a:solidFill>
            <a:prstDash val="solid"/>
          </a:ln>
        </p:spPr>
      </p:sp>
      <p:sp>
        <p:nvSpPr>
          <p:cNvPr id="8" name="Text 5"/>
          <p:cNvSpPr/>
          <p:nvPr/>
        </p:nvSpPr>
        <p:spPr>
          <a:xfrm>
            <a:off x="6108192" y="1078992"/>
            <a:ext cx="5577840" cy="310896"/>
          </a:xfrm>
          <a:prstGeom prst="rect">
            <a:avLst/>
          </a:prstGeom>
          <a:noFill/>
          <a:ln/>
        </p:spPr>
        <p:txBody>
          <a:bodyPr wrap="square" lIns="0" tIns="0" rIns="0" bIns="0" rtlCol="0" anchor="ctr"/>
          <a:lstStyle/>
          <a:p>
            <a:pPr indent="0" marL="0">
              <a:buNone/>
            </a:pPr>
            <a:r>
              <a:rPr lang="en-US" sz="1300" b="1" dirty="0">
                <a:solidFill>
                  <a:srgbClr val="0F1B40"/>
                </a:solidFill>
                <a:latin typeface="Calibri" pitchFamily="34" charset="0"/>
                <a:ea typeface="Calibri" pitchFamily="34" charset="-122"/>
                <a:cs typeface="Calibri" pitchFamily="34" charset="-120"/>
              </a:rPr>
              <a:t>Sanitise before it leaves</a:t>
            </a:r>
            <a:endParaRPr lang="en-US" sz="1300" dirty="0"/>
          </a:p>
        </p:txBody>
      </p:sp>
      <p:sp>
        <p:nvSpPr>
          <p:cNvPr id="9" name="Text 6"/>
          <p:cNvSpPr/>
          <p:nvPr/>
        </p:nvSpPr>
        <p:spPr>
          <a:xfrm>
            <a:off x="6108192" y="1426464"/>
            <a:ext cx="5532120" cy="621792"/>
          </a:xfrm>
          <a:prstGeom prst="rect">
            <a:avLst/>
          </a:prstGeom>
          <a:noFill/>
          <a:ln/>
        </p:spPr>
        <p:txBody>
          <a:bodyPr wrap="square" lIns="0" tIns="0" rIns="0" bIns="0" rtlCol="0" anchor="t"/>
          <a:lstStyle/>
          <a:p>
            <a:pPr indent="0" marL="0">
              <a:lnSpc>
                <a:spcPts val="1350"/>
              </a:lnSpc>
              <a:buNone/>
            </a:pPr>
            <a:r>
              <a:rPr lang="en-US" sz="1050" dirty="0">
                <a:solidFill>
                  <a:srgbClr val="3B4557"/>
                </a:solidFill>
                <a:latin typeface="Calibri" pitchFamily="34" charset="0"/>
                <a:ea typeface="Calibri" pitchFamily="34" charset="-122"/>
                <a:cs typeface="Calibri" pitchFamily="34" charset="-120"/>
              </a:rPr>
              <a:t>build_shared_intel() scrubs indicators and raw metrics, drops operational identifiers and tags the source region as external intel.</a:t>
            </a:r>
            <a:endParaRPr lang="en-US" sz="1050" dirty="0"/>
          </a:p>
        </p:txBody>
      </p:sp>
      <p:sp>
        <p:nvSpPr>
          <p:cNvPr id="10" name="Shape 7"/>
          <p:cNvSpPr/>
          <p:nvPr/>
        </p:nvSpPr>
        <p:spPr>
          <a:xfrm>
            <a:off x="5715000" y="2139696"/>
            <a:ext cx="256032" cy="256032"/>
          </a:xfrm>
          <a:prstGeom prst="ellipse">
            <a:avLst/>
          </a:prstGeom>
          <a:solidFill>
            <a:srgbClr val="1F3B87"/>
          </a:solidFill>
          <a:ln w="12700">
            <a:solidFill>
              <a:srgbClr val="333333"/>
            </a:solidFill>
            <a:prstDash val="solid"/>
          </a:ln>
        </p:spPr>
      </p:sp>
      <p:sp>
        <p:nvSpPr>
          <p:cNvPr id="11" name="Text 8"/>
          <p:cNvSpPr/>
          <p:nvPr/>
        </p:nvSpPr>
        <p:spPr>
          <a:xfrm>
            <a:off x="6108192" y="2103120"/>
            <a:ext cx="5577840" cy="310896"/>
          </a:xfrm>
          <a:prstGeom prst="rect">
            <a:avLst/>
          </a:prstGeom>
          <a:noFill/>
          <a:ln/>
        </p:spPr>
        <p:txBody>
          <a:bodyPr wrap="square" lIns="0" tIns="0" rIns="0" bIns="0" rtlCol="0" anchor="ctr"/>
          <a:lstStyle/>
          <a:p>
            <a:pPr indent="0" marL="0">
              <a:buNone/>
            </a:pPr>
            <a:r>
              <a:rPr lang="en-US" sz="1300" b="1" dirty="0">
                <a:solidFill>
                  <a:srgbClr val="0F1B40"/>
                </a:solidFill>
                <a:latin typeface="Calibri" pitchFamily="34" charset="0"/>
                <a:ea typeface="Calibri" pitchFamily="34" charset="-122"/>
                <a:cs typeface="Calibri" pitchFamily="34" charset="-120"/>
              </a:rPr>
              <a:t>Source exclusion prevents loops</a:t>
            </a:r>
            <a:endParaRPr lang="en-US" sz="1300" dirty="0"/>
          </a:p>
        </p:txBody>
      </p:sp>
      <p:sp>
        <p:nvSpPr>
          <p:cNvPr id="12" name="Text 9"/>
          <p:cNvSpPr/>
          <p:nvPr/>
        </p:nvSpPr>
        <p:spPr>
          <a:xfrm>
            <a:off x="6108192" y="2450592"/>
            <a:ext cx="5532120" cy="621792"/>
          </a:xfrm>
          <a:prstGeom prst="rect">
            <a:avLst/>
          </a:prstGeom>
          <a:noFill/>
          <a:ln/>
        </p:spPr>
        <p:txBody>
          <a:bodyPr wrap="square" lIns="0" tIns="0" rIns="0" bIns="0" rtlCol="0" anchor="t"/>
          <a:lstStyle/>
          <a:p>
            <a:pPr indent="0" marL="0">
              <a:lnSpc>
                <a:spcPts val="1350"/>
              </a:lnSpc>
              <a:buNone/>
            </a:pPr>
            <a:r>
              <a:rPr lang="en-US" sz="1050" dirty="0">
                <a:solidFill>
                  <a:srgbClr val="3B4557"/>
                </a:solidFill>
                <a:latin typeface="Calibri" pitchFamily="34" charset="0"/>
                <a:ea typeface="Calibri" pitchFamily="34" charset="-122"/>
                <a:cs typeface="Calibri" pitchFamily="34" charset="-120"/>
              </a:rPr>
              <a:t>The originating region is removed from the target set, so shared intelligence can never be reflected back to its author.</a:t>
            </a:r>
            <a:endParaRPr lang="en-US" sz="1050" dirty="0"/>
          </a:p>
        </p:txBody>
      </p:sp>
      <p:sp>
        <p:nvSpPr>
          <p:cNvPr id="13" name="Shape 10"/>
          <p:cNvSpPr/>
          <p:nvPr/>
        </p:nvSpPr>
        <p:spPr>
          <a:xfrm>
            <a:off x="5715000" y="3163824"/>
            <a:ext cx="256032" cy="256032"/>
          </a:xfrm>
          <a:prstGeom prst="ellipse">
            <a:avLst/>
          </a:prstGeom>
          <a:solidFill>
            <a:srgbClr val="0E7490"/>
          </a:solidFill>
          <a:ln w="12700">
            <a:solidFill>
              <a:srgbClr val="333333"/>
            </a:solidFill>
            <a:prstDash val="solid"/>
          </a:ln>
        </p:spPr>
      </p:sp>
      <p:sp>
        <p:nvSpPr>
          <p:cNvPr id="14" name="Text 11"/>
          <p:cNvSpPr/>
          <p:nvPr/>
        </p:nvSpPr>
        <p:spPr>
          <a:xfrm>
            <a:off x="6108192" y="3127248"/>
            <a:ext cx="5577840" cy="310896"/>
          </a:xfrm>
          <a:prstGeom prst="rect">
            <a:avLst/>
          </a:prstGeom>
          <a:noFill/>
          <a:ln/>
        </p:spPr>
        <p:txBody>
          <a:bodyPr wrap="square" lIns="0" tIns="0" rIns="0" bIns="0" rtlCol="0" anchor="ctr"/>
          <a:lstStyle/>
          <a:p>
            <a:pPr indent="0" marL="0">
              <a:buNone/>
            </a:pPr>
            <a:r>
              <a:rPr lang="en-US" sz="1300" b="1" dirty="0">
                <a:solidFill>
                  <a:srgbClr val="0F1B40"/>
                </a:solidFill>
                <a:latin typeface="Calibri" pitchFamily="34" charset="0"/>
                <a:ea typeface="Calibri" pitchFamily="34" charset="-122"/>
                <a:cs typeface="Calibri" pitchFamily="34" charset="-120"/>
              </a:rPr>
              <a:t>Concurrent dedup, not broadcast</a:t>
            </a:r>
            <a:endParaRPr lang="en-US" sz="1300" dirty="0"/>
          </a:p>
        </p:txBody>
      </p:sp>
      <p:sp>
        <p:nvSpPr>
          <p:cNvPr id="15" name="Text 12"/>
          <p:cNvSpPr/>
          <p:nvPr/>
        </p:nvSpPr>
        <p:spPr>
          <a:xfrm>
            <a:off x="6108192" y="3474720"/>
            <a:ext cx="5532120" cy="621792"/>
          </a:xfrm>
          <a:prstGeom prst="rect">
            <a:avLst/>
          </a:prstGeom>
          <a:noFill/>
          <a:ln/>
        </p:spPr>
        <p:txBody>
          <a:bodyPr wrap="square" lIns="0" tIns="0" rIns="0" bIns="0" rtlCol="0" anchor="t"/>
          <a:lstStyle/>
          <a:p>
            <a:pPr indent="0" marL="0">
              <a:lnSpc>
                <a:spcPts val="1350"/>
              </a:lnSpc>
              <a:buNone/>
            </a:pPr>
            <a:r>
              <a:rPr lang="en-US" sz="1050" dirty="0">
                <a:solidFill>
                  <a:srgbClr val="3B4557"/>
                </a:solidFill>
                <a:latin typeface="Calibri" pitchFamily="34" charset="0"/>
                <a:ea typeface="Calibri" pitchFamily="34" charset="-122"/>
                <a:cs typeface="Calibri" pitchFamily="34" charset="-120"/>
              </a:rPr>
              <a:t>Every remaining peer is asked over MCP/SSE whether it already holds the intel. Peers answer already_present, missing or unreachable.</a:t>
            </a:r>
            <a:endParaRPr lang="en-US" sz="1050" dirty="0"/>
          </a:p>
        </p:txBody>
      </p:sp>
      <p:sp>
        <p:nvSpPr>
          <p:cNvPr id="16" name="Shape 13"/>
          <p:cNvSpPr/>
          <p:nvPr/>
        </p:nvSpPr>
        <p:spPr>
          <a:xfrm>
            <a:off x="5715000" y="4187952"/>
            <a:ext cx="256032" cy="256032"/>
          </a:xfrm>
          <a:prstGeom prst="ellipse">
            <a:avLst/>
          </a:prstGeom>
          <a:solidFill>
            <a:srgbClr val="2E8358"/>
          </a:solidFill>
          <a:ln w="12700">
            <a:solidFill>
              <a:srgbClr val="333333"/>
            </a:solidFill>
            <a:prstDash val="solid"/>
          </a:ln>
        </p:spPr>
      </p:sp>
      <p:sp>
        <p:nvSpPr>
          <p:cNvPr id="17" name="Text 14"/>
          <p:cNvSpPr/>
          <p:nvPr/>
        </p:nvSpPr>
        <p:spPr>
          <a:xfrm>
            <a:off x="6108192" y="4151376"/>
            <a:ext cx="5577840" cy="310896"/>
          </a:xfrm>
          <a:prstGeom prst="rect">
            <a:avLst/>
          </a:prstGeom>
          <a:noFill/>
          <a:ln/>
        </p:spPr>
        <p:txBody>
          <a:bodyPr wrap="square" lIns="0" tIns="0" rIns="0" bIns="0" rtlCol="0" anchor="ctr"/>
          <a:lstStyle/>
          <a:p>
            <a:pPr indent="0" marL="0">
              <a:buNone/>
            </a:pPr>
            <a:r>
              <a:rPr lang="en-US" sz="1300" b="1" dirty="0">
                <a:solidFill>
                  <a:srgbClr val="0F1B40"/>
                </a:solidFill>
                <a:latin typeface="Calibri" pitchFamily="34" charset="0"/>
                <a:ea typeface="Calibri" pitchFamily="34" charset="-122"/>
                <a:cs typeface="Calibri" pitchFamily="34" charset="-120"/>
              </a:rPr>
              <a:t>Selective REST ingest</a:t>
            </a:r>
            <a:endParaRPr lang="en-US" sz="1300" dirty="0"/>
          </a:p>
        </p:txBody>
      </p:sp>
      <p:sp>
        <p:nvSpPr>
          <p:cNvPr id="18" name="Text 15"/>
          <p:cNvSpPr/>
          <p:nvPr/>
        </p:nvSpPr>
        <p:spPr>
          <a:xfrm>
            <a:off x="6108192" y="4498848"/>
            <a:ext cx="5532120" cy="621792"/>
          </a:xfrm>
          <a:prstGeom prst="rect">
            <a:avLst/>
          </a:prstGeom>
          <a:noFill/>
          <a:ln/>
        </p:spPr>
        <p:txBody>
          <a:bodyPr wrap="square" lIns="0" tIns="0" rIns="0" bIns="0" rtlCol="0" anchor="t"/>
          <a:lstStyle/>
          <a:p>
            <a:pPr indent="0" marL="0">
              <a:lnSpc>
                <a:spcPts val="1350"/>
              </a:lnSpc>
              <a:buNone/>
            </a:pPr>
            <a:r>
              <a:rPr lang="en-US" sz="1050" dirty="0">
                <a:solidFill>
                  <a:srgbClr val="3B4557"/>
                </a:solidFill>
                <a:latin typeface="Calibri" pitchFamily="34" charset="0"/>
                <a:ea typeface="Calibri" pitchFamily="34" charset="-122"/>
                <a:cs typeface="Calibri" pitchFamily="34" charset="-120"/>
              </a:rPr>
              <a:t>Only peers that lack it receive a POST to /api/v1/ingest-local-knowledge, which vector-embeds and appends into that region alone.</a:t>
            </a:r>
            <a:endParaRPr lang="en-US" sz="1050" dirty="0"/>
          </a:p>
        </p:txBody>
      </p:sp>
      <p:sp>
        <p:nvSpPr>
          <p:cNvPr id="19" name="Shape 16"/>
          <p:cNvSpPr/>
          <p:nvPr/>
        </p:nvSpPr>
        <p:spPr>
          <a:xfrm>
            <a:off x="5715000" y="5212080"/>
            <a:ext cx="256032" cy="256032"/>
          </a:xfrm>
          <a:prstGeom prst="ellipse">
            <a:avLst/>
          </a:prstGeom>
          <a:solidFill>
            <a:srgbClr val="D97706"/>
          </a:solidFill>
          <a:ln w="12700">
            <a:solidFill>
              <a:srgbClr val="333333"/>
            </a:solidFill>
            <a:prstDash val="solid"/>
          </a:ln>
        </p:spPr>
      </p:sp>
      <p:sp>
        <p:nvSpPr>
          <p:cNvPr id="20" name="Text 17"/>
          <p:cNvSpPr/>
          <p:nvPr/>
        </p:nvSpPr>
        <p:spPr>
          <a:xfrm>
            <a:off x="6108192" y="5175504"/>
            <a:ext cx="5577840" cy="310896"/>
          </a:xfrm>
          <a:prstGeom prst="rect">
            <a:avLst/>
          </a:prstGeom>
          <a:noFill/>
          <a:ln/>
        </p:spPr>
        <p:txBody>
          <a:bodyPr wrap="square" lIns="0" tIns="0" rIns="0" bIns="0" rtlCol="0" anchor="ctr"/>
          <a:lstStyle/>
          <a:p>
            <a:pPr indent="0" marL="0">
              <a:buNone/>
            </a:pPr>
            <a:r>
              <a:rPr lang="en-US" sz="1300" b="1" dirty="0">
                <a:solidFill>
                  <a:srgbClr val="0F1B40"/>
                </a:solidFill>
                <a:latin typeface="Calibri" pitchFamily="34" charset="0"/>
                <a:ea typeface="Calibri" pitchFamily="34" charset="-122"/>
                <a:cs typeface="Calibri" pitchFamily="34" charset="-120"/>
              </a:rPr>
              <a:t>Auditable outcome</a:t>
            </a:r>
            <a:endParaRPr lang="en-US" sz="1300" dirty="0"/>
          </a:p>
        </p:txBody>
      </p:sp>
      <p:sp>
        <p:nvSpPr>
          <p:cNvPr id="21" name="Text 18"/>
          <p:cNvSpPr/>
          <p:nvPr/>
        </p:nvSpPr>
        <p:spPr>
          <a:xfrm>
            <a:off x="6108192" y="5522976"/>
            <a:ext cx="5532120" cy="621792"/>
          </a:xfrm>
          <a:prstGeom prst="rect">
            <a:avLst/>
          </a:prstGeom>
          <a:noFill/>
          <a:ln/>
        </p:spPr>
        <p:txBody>
          <a:bodyPr wrap="square" lIns="0" tIns="0" rIns="0" bIns="0" rtlCol="0" anchor="t"/>
          <a:lstStyle/>
          <a:p>
            <a:pPr indent="0" marL="0">
              <a:lnSpc>
                <a:spcPts val="1350"/>
              </a:lnSpc>
              <a:buNone/>
            </a:pPr>
            <a:r>
              <a:rPr lang="en-US" sz="1050" dirty="0">
                <a:solidFill>
                  <a:srgbClr val="3B4557"/>
                </a:solidFill>
                <a:latin typeface="Calibri" pitchFamily="34" charset="0"/>
                <a:ea typeface="Calibri" pitchFamily="34" charset="-122"/>
                <a:cs typeface="Calibri" pitchFamily="34" charset="-120"/>
              </a:rPr>
              <a:t>DistributionResult records distributed_to, already_present, skipped and the redaction counts for every attempt.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F1F6"/>
        </a:solidFill>
      </p:bgPr>
    </p:bg>
    <p:spTree>
      <p:nvGrpSpPr>
        <p:cNvPr id="1" name=""/>
        <p:cNvGrpSpPr/>
        <p:nvPr/>
      </p:nvGrpSpPr>
      <p:grpSpPr>
        <a:xfrm>
          <a:off x="0" y="0"/>
          <a:ext cx="0" cy="0"/>
          <a:chOff x="0" y="0"/>
          <a:chExt cx="0" cy="0"/>
        </a:xfrm>
      </p:grpSpPr>
      <p:sp>
        <p:nvSpPr>
          <p:cNvPr id="2" name="Shape 0"/>
          <p:cNvSpPr/>
          <p:nvPr/>
        </p:nvSpPr>
        <p:spPr>
          <a:xfrm>
            <a:off x="-1005840" y="-822960"/>
            <a:ext cx="3383280" cy="2834640"/>
          </a:xfrm>
          <a:prstGeom prst="roundRect">
            <a:avLst>
              <a:gd name="adj" fmla="val 9677"/>
            </a:avLst>
          </a:prstGeom>
          <a:solidFill>
            <a:srgbClr val="DBE2EB"/>
          </a:solidFill>
          <a:ln w="12700">
            <a:solidFill>
              <a:srgbClr val="DBE2EB"/>
            </a:solidFill>
            <a:prstDash val="solid"/>
          </a:ln>
        </p:spPr>
      </p:sp>
      <p:sp>
        <p:nvSpPr>
          <p:cNvPr id="3" name="Text 1"/>
          <p:cNvSpPr/>
          <p:nvPr/>
        </p:nvSpPr>
        <p:spPr>
          <a:xfrm>
            <a:off x="502920" y="219456"/>
            <a:ext cx="11185855" cy="658368"/>
          </a:xfrm>
          <a:prstGeom prst="rect">
            <a:avLst/>
          </a:prstGeom>
          <a:noFill/>
          <a:ln/>
        </p:spPr>
        <p:txBody>
          <a:bodyPr wrap="square" lIns="0" tIns="0" rIns="0" bIns="0" rtlCol="0" anchor="ctr"/>
          <a:lstStyle/>
          <a:p>
            <a:pPr indent="0" marL="0">
              <a:buNone/>
            </a:pPr>
            <a:r>
              <a:rPr lang="en-US" sz="2900" b="1" dirty="0">
                <a:solidFill>
                  <a:srgbClr val="0F1B40"/>
                </a:solidFill>
                <a:latin typeface="Arial" pitchFamily="34" charset="0"/>
                <a:ea typeface="Arial" pitchFamily="34" charset="-122"/>
                <a:cs typeface="Arial" pitchFamily="34" charset="-120"/>
              </a:rPr>
              <a:t>Operator Command Dashboard</a:t>
            </a:r>
            <a:endParaRPr lang="en-US" sz="2900" dirty="0"/>
          </a:p>
        </p:txBody>
      </p:sp>
      <p:sp>
        <p:nvSpPr>
          <p:cNvPr id="4" name="Shape 2"/>
          <p:cNvSpPr/>
          <p:nvPr/>
        </p:nvSpPr>
        <p:spPr>
          <a:xfrm>
            <a:off x="11478463" y="6236208"/>
            <a:ext cx="384048" cy="384048"/>
          </a:xfrm>
          <a:prstGeom prst="ellipse">
            <a:avLst/>
          </a:prstGeom>
          <a:solidFill>
            <a:srgbClr val="8FA3C1"/>
          </a:solidFill>
          <a:ln w="12700">
            <a:solidFill>
              <a:srgbClr val="8FA3C1"/>
            </a:solidFill>
            <a:prstDash val="solid"/>
          </a:ln>
        </p:spPr>
      </p:sp>
      <p:sp>
        <p:nvSpPr>
          <p:cNvPr id="5" name="Text 3"/>
          <p:cNvSpPr/>
          <p:nvPr/>
        </p:nvSpPr>
        <p:spPr>
          <a:xfrm>
            <a:off x="11478463" y="6236208"/>
            <a:ext cx="384048" cy="384048"/>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13</a:t>
            </a:r>
            <a:endParaRPr lang="en-US" sz="1100" dirty="0"/>
          </a:p>
        </p:txBody>
      </p:sp>
      <p:sp>
        <p:nvSpPr>
          <p:cNvPr id="6" name="Shape 4"/>
          <p:cNvSpPr/>
          <p:nvPr/>
        </p:nvSpPr>
        <p:spPr>
          <a:xfrm>
            <a:off x="502920" y="987552"/>
            <a:ext cx="6903720" cy="3246120"/>
          </a:xfrm>
          <a:prstGeom prst="roundRect">
            <a:avLst>
              <a:gd name="adj" fmla="val 1690"/>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pic>
        <p:nvPicPr>
          <p:cNvPr id="7" name="Image 0" descr="C:\Users\Ravin\AppData\Local\Temp\claude\D--Projects-FYP-demo-site\7c41a152-688c-4cf7-a8dd-5ea6f53eb77e\scratchpad\eval\img\dash_main.png">    </p:cNvPr>
          <p:cNvPicPr>
            <a:picLocks noChangeAspect="1"/>
          </p:cNvPicPr>
          <p:nvPr/>
        </p:nvPicPr>
        <p:blipFill>
          <a:blip r:embed="rId1"/>
          <a:stretch>
            <a:fillRect/>
          </a:stretch>
        </p:blipFill>
        <p:spPr>
          <a:xfrm>
            <a:off x="612648" y="1151911"/>
            <a:ext cx="6684264" cy="2917403"/>
          </a:xfrm>
          <a:prstGeom prst="rect">
            <a:avLst/>
          </a:prstGeom>
        </p:spPr>
      </p:pic>
      <p:sp>
        <p:nvSpPr>
          <p:cNvPr id="8" name="Text 5"/>
          <p:cNvSpPr/>
          <p:nvPr/>
        </p:nvSpPr>
        <p:spPr>
          <a:xfrm>
            <a:off x="502920" y="4315968"/>
            <a:ext cx="6903720" cy="256032"/>
          </a:xfrm>
          <a:prstGeom prst="rect">
            <a:avLst/>
          </a:prstGeom>
          <a:noFill/>
          <a:ln/>
        </p:spPr>
        <p:txBody>
          <a:bodyPr wrap="square" lIns="0" tIns="0" rIns="0" bIns="0" rtlCol="0" anchor="t"/>
          <a:lstStyle/>
          <a:p>
            <a:pPr algn="ctr" indent="0" marL="0">
              <a:buNone/>
            </a:pPr>
            <a:r>
              <a:rPr lang="en-US" sz="1000" i="1" dirty="0">
                <a:solidFill>
                  <a:srgbClr val="6B7688"/>
                </a:solidFill>
                <a:latin typeface="Calibri" pitchFamily="34" charset="0"/>
                <a:ea typeface="Calibri" pitchFamily="34" charset="-122"/>
                <a:cs typeface="Calibri" pitchFamily="34" charset="-120"/>
              </a:rPr>
              <a:t>Command centre: region selector, live status and per-region threat counters</a:t>
            </a:r>
            <a:endParaRPr lang="en-US" sz="1000" dirty="0"/>
          </a:p>
        </p:txBody>
      </p:sp>
      <p:sp>
        <p:nvSpPr>
          <p:cNvPr id="9" name="Shape 6"/>
          <p:cNvSpPr/>
          <p:nvPr/>
        </p:nvSpPr>
        <p:spPr>
          <a:xfrm>
            <a:off x="7726680" y="987552"/>
            <a:ext cx="3959352" cy="1170432"/>
          </a:xfrm>
          <a:prstGeom prst="roundRect">
            <a:avLst>
              <a:gd name="adj" fmla="val 4688"/>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10" name="Shape 7"/>
          <p:cNvSpPr/>
          <p:nvPr/>
        </p:nvSpPr>
        <p:spPr>
          <a:xfrm>
            <a:off x="7726680" y="987552"/>
            <a:ext cx="82296" cy="1170432"/>
          </a:xfrm>
          <a:prstGeom prst="rect">
            <a:avLst/>
          </a:prstGeom>
          <a:solidFill>
            <a:srgbClr val="0E7490"/>
          </a:solidFill>
          <a:ln w="12700">
            <a:solidFill>
              <a:srgbClr val="333333"/>
            </a:solidFill>
            <a:prstDash val="solid"/>
          </a:ln>
        </p:spPr>
      </p:sp>
      <p:sp>
        <p:nvSpPr>
          <p:cNvPr id="11" name="Text 8"/>
          <p:cNvSpPr/>
          <p:nvPr/>
        </p:nvSpPr>
        <p:spPr>
          <a:xfrm>
            <a:off x="7936992" y="1078992"/>
            <a:ext cx="3657600" cy="274320"/>
          </a:xfrm>
          <a:prstGeom prst="rect">
            <a:avLst/>
          </a:prstGeom>
          <a:noFill/>
          <a:ln/>
        </p:spPr>
        <p:txBody>
          <a:bodyPr wrap="square" lIns="0" tIns="0" rIns="0" bIns="0" rtlCol="0" anchor="ctr"/>
          <a:lstStyle/>
          <a:p>
            <a:pPr indent="0" marL="0">
              <a:buNone/>
            </a:pPr>
            <a:r>
              <a:rPr lang="en-US" sz="1200" b="1" dirty="0">
                <a:solidFill>
                  <a:srgbClr val="0F1B40"/>
                </a:solidFill>
                <a:latin typeface="Calibri" pitchFamily="34" charset="0"/>
                <a:ea typeface="Calibri" pitchFamily="34" charset="-122"/>
                <a:cs typeface="Calibri" pitchFamily="34" charset="-120"/>
              </a:rPr>
              <a:t>Region-scoped single pane</a:t>
            </a:r>
            <a:endParaRPr lang="en-US" sz="1200" dirty="0"/>
          </a:p>
        </p:txBody>
      </p:sp>
      <p:sp>
        <p:nvSpPr>
          <p:cNvPr id="12" name="Text 9"/>
          <p:cNvSpPr/>
          <p:nvPr/>
        </p:nvSpPr>
        <p:spPr>
          <a:xfrm>
            <a:off x="7936992" y="1371600"/>
            <a:ext cx="3639312" cy="713232"/>
          </a:xfrm>
          <a:prstGeom prst="rect">
            <a:avLst/>
          </a:prstGeom>
          <a:noFill/>
          <a:ln/>
        </p:spPr>
        <p:txBody>
          <a:bodyPr wrap="square" lIns="0" tIns="0" rIns="0" bIns="0" rtlCol="0" anchor="t"/>
          <a:lstStyle/>
          <a:p>
            <a:pPr indent="0" marL="0">
              <a:lnSpc>
                <a:spcPts val="1200"/>
              </a:lnSpc>
              <a:buNone/>
            </a:pPr>
            <a:r>
              <a:rPr lang="en-US" sz="950" dirty="0">
                <a:solidFill>
                  <a:srgbClr val="3B4557"/>
                </a:solidFill>
                <a:latin typeface="Calibri" pitchFamily="34" charset="0"/>
                <a:ea typeface="Calibri" pitchFamily="34" charset="-122"/>
                <a:cs typeface="Calibri" pitchFamily="34" charset="-120"/>
              </a:rPr>
              <a:t>One view over all four regions with a selector; each region streams its own live updates over WebSocket.</a:t>
            </a:r>
            <a:endParaRPr lang="en-US" sz="950" dirty="0"/>
          </a:p>
        </p:txBody>
      </p:sp>
      <p:sp>
        <p:nvSpPr>
          <p:cNvPr id="13" name="Shape 10"/>
          <p:cNvSpPr/>
          <p:nvPr/>
        </p:nvSpPr>
        <p:spPr>
          <a:xfrm>
            <a:off x="7726680" y="2286000"/>
            <a:ext cx="3959352" cy="1170432"/>
          </a:xfrm>
          <a:prstGeom prst="roundRect">
            <a:avLst>
              <a:gd name="adj" fmla="val 4688"/>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14" name="Shape 11"/>
          <p:cNvSpPr/>
          <p:nvPr/>
        </p:nvSpPr>
        <p:spPr>
          <a:xfrm>
            <a:off x="7726680" y="2286000"/>
            <a:ext cx="82296" cy="1170432"/>
          </a:xfrm>
          <a:prstGeom prst="rect">
            <a:avLst/>
          </a:prstGeom>
          <a:solidFill>
            <a:srgbClr val="0E7490"/>
          </a:solidFill>
          <a:ln w="12700">
            <a:solidFill>
              <a:srgbClr val="333333"/>
            </a:solidFill>
            <a:prstDash val="solid"/>
          </a:ln>
        </p:spPr>
      </p:sp>
      <p:sp>
        <p:nvSpPr>
          <p:cNvPr id="15" name="Text 12"/>
          <p:cNvSpPr/>
          <p:nvPr/>
        </p:nvSpPr>
        <p:spPr>
          <a:xfrm>
            <a:off x="7936992" y="2377440"/>
            <a:ext cx="3657600" cy="274320"/>
          </a:xfrm>
          <a:prstGeom prst="rect">
            <a:avLst/>
          </a:prstGeom>
          <a:noFill/>
          <a:ln/>
        </p:spPr>
        <p:txBody>
          <a:bodyPr wrap="square" lIns="0" tIns="0" rIns="0" bIns="0" rtlCol="0" anchor="ctr"/>
          <a:lstStyle/>
          <a:p>
            <a:pPr indent="0" marL="0">
              <a:buNone/>
            </a:pPr>
            <a:r>
              <a:rPr lang="en-US" sz="1200" b="1" dirty="0">
                <a:solidFill>
                  <a:srgbClr val="0F1B40"/>
                </a:solidFill>
                <a:latin typeface="Calibri" pitchFamily="34" charset="0"/>
                <a:ea typeface="Calibri" pitchFamily="34" charset="-122"/>
                <a:cs typeface="Calibri" pitchFamily="34" charset="-120"/>
              </a:rPr>
              <a:t>Evidence transparency</a:t>
            </a:r>
            <a:endParaRPr lang="en-US" sz="1200" dirty="0"/>
          </a:p>
        </p:txBody>
      </p:sp>
      <p:sp>
        <p:nvSpPr>
          <p:cNvPr id="16" name="Text 13"/>
          <p:cNvSpPr/>
          <p:nvPr/>
        </p:nvSpPr>
        <p:spPr>
          <a:xfrm>
            <a:off x="7936992" y="2670048"/>
            <a:ext cx="3639312" cy="713232"/>
          </a:xfrm>
          <a:prstGeom prst="rect">
            <a:avLst/>
          </a:prstGeom>
          <a:noFill/>
          <a:ln/>
        </p:spPr>
        <p:txBody>
          <a:bodyPr wrap="square" lIns="0" tIns="0" rIns="0" bIns="0" rtlCol="0" anchor="t"/>
          <a:lstStyle/>
          <a:p>
            <a:pPr indent="0" marL="0">
              <a:lnSpc>
                <a:spcPts val="1200"/>
              </a:lnSpc>
              <a:buNone/>
            </a:pPr>
            <a:r>
              <a:rPr lang="en-US" sz="950" dirty="0">
                <a:solidFill>
                  <a:srgbClr val="3B4557"/>
                </a:solidFill>
                <a:latin typeface="Calibri" pitchFamily="34" charset="0"/>
                <a:ea typeface="Calibri" pitchFamily="34" charset="-122"/>
                <a:cs typeface="Calibri" pitchFamily="34" charset="-120"/>
              </a:rPr>
              <a:t>Every threat card exposes the detector rule, measured value and threshold, plus the matched knowledge-base records and their similarity.</a:t>
            </a:r>
            <a:endParaRPr lang="en-US" sz="950" dirty="0"/>
          </a:p>
        </p:txBody>
      </p:sp>
      <p:sp>
        <p:nvSpPr>
          <p:cNvPr id="17" name="Shape 14"/>
          <p:cNvSpPr/>
          <p:nvPr/>
        </p:nvSpPr>
        <p:spPr>
          <a:xfrm>
            <a:off x="7726680" y="3584448"/>
            <a:ext cx="3959352" cy="1170432"/>
          </a:xfrm>
          <a:prstGeom prst="roundRect">
            <a:avLst>
              <a:gd name="adj" fmla="val 4688"/>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18" name="Shape 15"/>
          <p:cNvSpPr/>
          <p:nvPr/>
        </p:nvSpPr>
        <p:spPr>
          <a:xfrm>
            <a:off x="7726680" y="3584448"/>
            <a:ext cx="82296" cy="1170432"/>
          </a:xfrm>
          <a:prstGeom prst="rect">
            <a:avLst/>
          </a:prstGeom>
          <a:solidFill>
            <a:srgbClr val="0E7490"/>
          </a:solidFill>
          <a:ln w="12700">
            <a:solidFill>
              <a:srgbClr val="333333"/>
            </a:solidFill>
            <a:prstDash val="solid"/>
          </a:ln>
        </p:spPr>
      </p:sp>
      <p:sp>
        <p:nvSpPr>
          <p:cNvPr id="19" name="Text 16"/>
          <p:cNvSpPr/>
          <p:nvPr/>
        </p:nvSpPr>
        <p:spPr>
          <a:xfrm>
            <a:off x="7936992" y="3675888"/>
            <a:ext cx="3657600" cy="274320"/>
          </a:xfrm>
          <a:prstGeom prst="rect">
            <a:avLst/>
          </a:prstGeom>
          <a:noFill/>
          <a:ln/>
        </p:spPr>
        <p:txBody>
          <a:bodyPr wrap="square" lIns="0" tIns="0" rIns="0" bIns="0" rtlCol="0" anchor="ctr"/>
          <a:lstStyle/>
          <a:p>
            <a:pPr indent="0" marL="0">
              <a:buNone/>
            </a:pPr>
            <a:r>
              <a:rPr lang="en-US" sz="1200" b="1" dirty="0">
                <a:solidFill>
                  <a:srgbClr val="0F1B40"/>
                </a:solidFill>
                <a:latin typeface="Calibri" pitchFamily="34" charset="0"/>
                <a:ea typeface="Calibri" pitchFamily="34" charset="-122"/>
                <a:cs typeface="Calibri" pitchFamily="34" charset="-120"/>
              </a:rPr>
              <a:t>Mitigation history</a:t>
            </a:r>
            <a:endParaRPr lang="en-US" sz="1200" dirty="0"/>
          </a:p>
        </p:txBody>
      </p:sp>
      <p:sp>
        <p:nvSpPr>
          <p:cNvPr id="20" name="Text 17"/>
          <p:cNvSpPr/>
          <p:nvPr/>
        </p:nvSpPr>
        <p:spPr>
          <a:xfrm>
            <a:off x="7936992" y="3968496"/>
            <a:ext cx="3639312" cy="713232"/>
          </a:xfrm>
          <a:prstGeom prst="rect">
            <a:avLst/>
          </a:prstGeom>
          <a:noFill/>
          <a:ln/>
        </p:spPr>
        <p:txBody>
          <a:bodyPr wrap="square" lIns="0" tIns="0" rIns="0" bIns="0" rtlCol="0" anchor="t"/>
          <a:lstStyle/>
          <a:p>
            <a:pPr indent="0" marL="0">
              <a:lnSpc>
                <a:spcPts val="1200"/>
              </a:lnSpc>
              <a:buNone/>
            </a:pPr>
            <a:r>
              <a:rPr lang="en-US" sz="950" dirty="0">
                <a:solidFill>
                  <a:srgbClr val="3B4557"/>
                </a:solidFill>
                <a:latin typeface="Calibri" pitchFamily="34" charset="0"/>
                <a:ea typeface="Calibri" pitchFamily="34" charset="-122"/>
                <a:cs typeface="Calibri" pitchFamily="34" charset="-120"/>
              </a:rPr>
              <a:t>Full candidate lifecycle with verification and rollback state, persisted rather than live-only.</a:t>
            </a:r>
            <a:endParaRPr lang="en-US" sz="950" dirty="0"/>
          </a:p>
        </p:txBody>
      </p:sp>
      <p:sp>
        <p:nvSpPr>
          <p:cNvPr id="21" name="Shape 18"/>
          <p:cNvSpPr/>
          <p:nvPr/>
        </p:nvSpPr>
        <p:spPr>
          <a:xfrm>
            <a:off x="7726680" y="4882896"/>
            <a:ext cx="3959352" cy="1170432"/>
          </a:xfrm>
          <a:prstGeom prst="roundRect">
            <a:avLst>
              <a:gd name="adj" fmla="val 4688"/>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22" name="Shape 19"/>
          <p:cNvSpPr/>
          <p:nvPr/>
        </p:nvSpPr>
        <p:spPr>
          <a:xfrm>
            <a:off x="7726680" y="4882896"/>
            <a:ext cx="82296" cy="1170432"/>
          </a:xfrm>
          <a:prstGeom prst="rect">
            <a:avLst/>
          </a:prstGeom>
          <a:solidFill>
            <a:srgbClr val="0E7490"/>
          </a:solidFill>
          <a:ln w="12700">
            <a:solidFill>
              <a:srgbClr val="333333"/>
            </a:solidFill>
            <a:prstDash val="solid"/>
          </a:ln>
        </p:spPr>
      </p:sp>
      <p:sp>
        <p:nvSpPr>
          <p:cNvPr id="23" name="Text 20"/>
          <p:cNvSpPr/>
          <p:nvPr/>
        </p:nvSpPr>
        <p:spPr>
          <a:xfrm>
            <a:off x="7936992" y="4974336"/>
            <a:ext cx="3657600" cy="274320"/>
          </a:xfrm>
          <a:prstGeom prst="rect">
            <a:avLst/>
          </a:prstGeom>
          <a:noFill/>
          <a:ln/>
        </p:spPr>
        <p:txBody>
          <a:bodyPr wrap="square" lIns="0" tIns="0" rIns="0" bIns="0" rtlCol="0" anchor="ctr"/>
          <a:lstStyle/>
          <a:p>
            <a:pPr indent="0" marL="0">
              <a:buNone/>
            </a:pPr>
            <a:r>
              <a:rPr lang="en-US" sz="1200" b="1" dirty="0">
                <a:solidFill>
                  <a:srgbClr val="0F1B40"/>
                </a:solidFill>
                <a:latin typeface="Calibri" pitchFamily="34" charset="0"/>
                <a:ea typeface="Calibri" pitchFamily="34" charset="-122"/>
                <a:cs typeface="Calibri" pitchFamily="34" charset="-120"/>
              </a:rPr>
              <a:t>Intelligence growth tab</a:t>
            </a:r>
            <a:endParaRPr lang="en-US" sz="1200" dirty="0"/>
          </a:p>
        </p:txBody>
      </p:sp>
      <p:sp>
        <p:nvSpPr>
          <p:cNvPr id="24" name="Text 21"/>
          <p:cNvSpPr/>
          <p:nvPr/>
        </p:nvSpPr>
        <p:spPr>
          <a:xfrm>
            <a:off x="7936992" y="5266944"/>
            <a:ext cx="3639312" cy="713232"/>
          </a:xfrm>
          <a:prstGeom prst="rect">
            <a:avLst/>
          </a:prstGeom>
          <a:noFill/>
          <a:ln/>
        </p:spPr>
        <p:txBody>
          <a:bodyPr wrap="square" lIns="0" tIns="0" rIns="0" bIns="0" rtlCol="0" anchor="t"/>
          <a:lstStyle/>
          <a:p>
            <a:pPr indent="0" marL="0">
              <a:lnSpc>
                <a:spcPts val="1200"/>
              </a:lnSpc>
              <a:buNone/>
            </a:pPr>
            <a:r>
              <a:rPr lang="en-US" sz="950" dirty="0">
                <a:solidFill>
                  <a:srgbClr val="3B4557"/>
                </a:solidFill>
                <a:latin typeface="Calibri" pitchFamily="34" charset="0"/>
                <a:ea typeface="Calibri" pitchFamily="34" charset="-122"/>
                <a:cs typeface="Calibri" pitchFamily="34" charset="-120"/>
              </a:rPr>
              <a:t>Session scores, metric composition and weight-sensitivity, served from /cti/intelligence/growth.</a:t>
            </a:r>
            <a:endParaRPr lang="en-US" sz="950" dirty="0"/>
          </a:p>
        </p:txBody>
      </p:sp>
      <p:sp>
        <p:nvSpPr>
          <p:cNvPr id="25" name="Text 22"/>
          <p:cNvSpPr/>
          <p:nvPr/>
        </p:nvSpPr>
        <p:spPr>
          <a:xfrm>
            <a:off x="502920" y="4754880"/>
            <a:ext cx="6903720" cy="274320"/>
          </a:xfrm>
          <a:prstGeom prst="rect">
            <a:avLst/>
          </a:prstGeom>
          <a:noFill/>
          <a:ln/>
        </p:spPr>
        <p:txBody>
          <a:bodyPr wrap="square" lIns="0" tIns="0" rIns="0" bIns="0" rtlCol="0" anchor="ctr"/>
          <a:lstStyle/>
          <a:p>
            <a:pPr algn="ctr" indent="0" marL="0">
              <a:buNone/>
            </a:pPr>
            <a:r>
              <a:rPr lang="en-US" sz="1150" b="1" dirty="0">
                <a:solidFill>
                  <a:srgbClr val="0E7490"/>
                </a:solidFill>
                <a:latin typeface="Calibri" pitchFamily="34" charset="0"/>
                <a:ea typeface="Calibri" pitchFamily="34" charset="-122"/>
                <a:cs typeface="Calibri" pitchFamily="34" charset="-120"/>
              </a:rPr>
              <a:t>Live deployment: http://193.1.132.238/</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F1F6"/>
        </a:solidFill>
      </p:bgPr>
    </p:bg>
    <p:spTree>
      <p:nvGrpSpPr>
        <p:cNvPr id="1" name=""/>
        <p:cNvGrpSpPr/>
        <p:nvPr/>
      </p:nvGrpSpPr>
      <p:grpSpPr>
        <a:xfrm>
          <a:off x="0" y="0"/>
          <a:ext cx="0" cy="0"/>
          <a:chOff x="0" y="0"/>
          <a:chExt cx="0" cy="0"/>
        </a:xfrm>
      </p:grpSpPr>
      <p:sp>
        <p:nvSpPr>
          <p:cNvPr id="2" name="Shape 0"/>
          <p:cNvSpPr/>
          <p:nvPr/>
        </p:nvSpPr>
        <p:spPr>
          <a:xfrm>
            <a:off x="-1005840" y="-822960"/>
            <a:ext cx="3383280" cy="2834640"/>
          </a:xfrm>
          <a:prstGeom prst="roundRect">
            <a:avLst>
              <a:gd name="adj" fmla="val 9677"/>
            </a:avLst>
          </a:prstGeom>
          <a:solidFill>
            <a:srgbClr val="DBE2EB"/>
          </a:solidFill>
          <a:ln w="12700">
            <a:solidFill>
              <a:srgbClr val="DBE2EB"/>
            </a:solidFill>
            <a:prstDash val="solid"/>
          </a:ln>
        </p:spPr>
      </p:sp>
      <p:sp>
        <p:nvSpPr>
          <p:cNvPr id="3" name="Text 1"/>
          <p:cNvSpPr/>
          <p:nvPr/>
        </p:nvSpPr>
        <p:spPr>
          <a:xfrm>
            <a:off x="502920" y="219456"/>
            <a:ext cx="11185855" cy="658368"/>
          </a:xfrm>
          <a:prstGeom prst="rect">
            <a:avLst/>
          </a:prstGeom>
          <a:noFill/>
          <a:ln/>
        </p:spPr>
        <p:txBody>
          <a:bodyPr wrap="square" lIns="0" tIns="0" rIns="0" bIns="0" rtlCol="0" anchor="ctr"/>
          <a:lstStyle/>
          <a:p>
            <a:pPr indent="0" marL="0">
              <a:buNone/>
            </a:pPr>
            <a:r>
              <a:rPr lang="en-US" sz="2900" b="1" dirty="0">
                <a:solidFill>
                  <a:srgbClr val="0F1B40"/>
                </a:solidFill>
                <a:latin typeface="Arial" pitchFamily="34" charset="0"/>
                <a:ea typeface="Arial" pitchFamily="34" charset="-122"/>
                <a:cs typeface="Arial" pitchFamily="34" charset="-120"/>
              </a:rPr>
              <a:t>Subscriber Notifications &amp; Operator Feedback</a:t>
            </a:r>
            <a:endParaRPr lang="en-US" sz="2900" dirty="0"/>
          </a:p>
        </p:txBody>
      </p:sp>
      <p:sp>
        <p:nvSpPr>
          <p:cNvPr id="4" name="Shape 2"/>
          <p:cNvSpPr/>
          <p:nvPr/>
        </p:nvSpPr>
        <p:spPr>
          <a:xfrm>
            <a:off x="11478463" y="6236208"/>
            <a:ext cx="384048" cy="384048"/>
          </a:xfrm>
          <a:prstGeom prst="ellipse">
            <a:avLst/>
          </a:prstGeom>
          <a:solidFill>
            <a:srgbClr val="8FA3C1"/>
          </a:solidFill>
          <a:ln w="12700">
            <a:solidFill>
              <a:srgbClr val="8FA3C1"/>
            </a:solidFill>
            <a:prstDash val="solid"/>
          </a:ln>
        </p:spPr>
      </p:sp>
      <p:sp>
        <p:nvSpPr>
          <p:cNvPr id="5" name="Text 3"/>
          <p:cNvSpPr/>
          <p:nvPr/>
        </p:nvSpPr>
        <p:spPr>
          <a:xfrm>
            <a:off x="11478463" y="6236208"/>
            <a:ext cx="384048" cy="384048"/>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14</a:t>
            </a:r>
            <a:endParaRPr lang="en-US" sz="1100" dirty="0"/>
          </a:p>
        </p:txBody>
      </p:sp>
      <p:sp>
        <p:nvSpPr>
          <p:cNvPr id="6" name="Shape 4"/>
          <p:cNvSpPr/>
          <p:nvPr/>
        </p:nvSpPr>
        <p:spPr>
          <a:xfrm>
            <a:off x="502920" y="987552"/>
            <a:ext cx="3200400" cy="4983480"/>
          </a:xfrm>
          <a:prstGeom prst="roundRect">
            <a:avLst>
              <a:gd name="adj" fmla="val 1714"/>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pic>
        <p:nvPicPr>
          <p:cNvPr id="7" name="Image 0" descr="C:\Users\Ravin\AppData\Local\Temp\claude\D--Projects-FYP-demo-site\7c41a152-688c-4cf7-a8dd-5ea6f53eb77e\scratchpad\eval\img\ev_notification.png">    </p:cNvPr>
          <p:cNvPicPr>
            <a:picLocks noChangeAspect="1"/>
          </p:cNvPicPr>
          <p:nvPr/>
        </p:nvPicPr>
        <p:blipFill>
          <a:blip r:embed="rId1"/>
          <a:stretch>
            <a:fillRect/>
          </a:stretch>
        </p:blipFill>
        <p:spPr>
          <a:xfrm>
            <a:off x="612648" y="1444188"/>
            <a:ext cx="2980944" cy="4061065"/>
          </a:xfrm>
          <a:prstGeom prst="rect">
            <a:avLst/>
          </a:prstGeom>
        </p:spPr>
      </p:pic>
      <p:sp>
        <p:nvSpPr>
          <p:cNvPr id="8" name="Text 5"/>
          <p:cNvSpPr/>
          <p:nvPr/>
        </p:nvSpPr>
        <p:spPr>
          <a:xfrm>
            <a:off x="502920" y="6035040"/>
            <a:ext cx="3200400" cy="219456"/>
          </a:xfrm>
          <a:prstGeom prst="rect">
            <a:avLst/>
          </a:prstGeom>
          <a:noFill/>
          <a:ln/>
        </p:spPr>
        <p:txBody>
          <a:bodyPr wrap="square" lIns="0" tIns="0" rIns="0" bIns="0" rtlCol="0" anchor="t"/>
          <a:lstStyle/>
          <a:p>
            <a:pPr algn="ctr" indent="0" marL="0">
              <a:buNone/>
            </a:pPr>
            <a:r>
              <a:rPr lang="en-US" sz="950" i="1" dirty="0">
                <a:solidFill>
                  <a:srgbClr val="6B7688"/>
                </a:solidFill>
                <a:latin typeface="Calibri" pitchFamily="34" charset="0"/>
                <a:ea typeface="Calibri" pitchFamily="34" charset="-122"/>
                <a:cs typeface="Calibri" pitchFamily="34" charset="-120"/>
              </a:rPr>
              <a:t>Delivered Region 2 alert</a:t>
            </a:r>
            <a:endParaRPr lang="en-US" sz="950" dirty="0"/>
          </a:p>
        </p:txBody>
      </p:sp>
      <p:sp>
        <p:nvSpPr>
          <p:cNvPr id="9" name="Shape 6"/>
          <p:cNvSpPr/>
          <p:nvPr/>
        </p:nvSpPr>
        <p:spPr>
          <a:xfrm>
            <a:off x="3950208" y="987552"/>
            <a:ext cx="3931920" cy="4983480"/>
          </a:xfrm>
          <a:prstGeom prst="roundRect">
            <a:avLst>
              <a:gd name="adj" fmla="val 1395"/>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pic>
        <p:nvPicPr>
          <p:cNvPr id="10" name="Image 1" descr="C:\Users\Ravin\AppData\Local\Temp\claude\D--Projects-FYP-demo-site\7c41a152-688c-4cf7-a8dd-5ea6f53eb77e\scratchpad\eval\img\ev_operator_actions.png">    </p:cNvPr>
          <p:cNvPicPr>
            <a:picLocks noChangeAspect="1"/>
          </p:cNvPicPr>
          <p:nvPr/>
        </p:nvPicPr>
        <p:blipFill>
          <a:blip r:embed="rId2"/>
          <a:stretch>
            <a:fillRect/>
          </a:stretch>
        </p:blipFill>
        <p:spPr>
          <a:xfrm>
            <a:off x="4059936" y="1158636"/>
            <a:ext cx="3712464" cy="3626328"/>
          </a:xfrm>
          <a:prstGeom prst="rect">
            <a:avLst/>
          </a:prstGeom>
        </p:spPr>
      </p:pic>
      <p:sp>
        <p:nvSpPr>
          <p:cNvPr id="11" name="Text 7"/>
          <p:cNvSpPr/>
          <p:nvPr/>
        </p:nvSpPr>
        <p:spPr>
          <a:xfrm>
            <a:off x="3950208" y="4983480"/>
            <a:ext cx="3931920" cy="457200"/>
          </a:xfrm>
          <a:prstGeom prst="rect">
            <a:avLst/>
          </a:prstGeom>
          <a:noFill/>
          <a:ln/>
        </p:spPr>
        <p:txBody>
          <a:bodyPr wrap="square" lIns="0" tIns="0" rIns="0" bIns="0" rtlCol="0" anchor="t"/>
          <a:lstStyle/>
          <a:p>
            <a:pPr algn="ctr" indent="0" marL="0">
              <a:buNone/>
            </a:pPr>
            <a:r>
              <a:rPr lang="en-US" sz="950" i="1" dirty="0">
                <a:solidFill>
                  <a:srgbClr val="6B7688"/>
                </a:solidFill>
                <a:latin typeface="Calibri" pitchFamily="34" charset="0"/>
                <a:ea typeface="Calibri" pitchFamily="34" charset="-122"/>
                <a:cs typeface="Calibri" pitchFamily="34" charset="-120"/>
              </a:rPr>
              <a:t>Operator action and knowledge-feedback capture</a:t>
            </a:r>
            <a:endParaRPr lang="en-US" sz="950" dirty="0"/>
          </a:p>
        </p:txBody>
      </p:sp>
      <p:sp>
        <p:nvSpPr>
          <p:cNvPr id="12" name="Shape 8"/>
          <p:cNvSpPr/>
          <p:nvPr/>
        </p:nvSpPr>
        <p:spPr>
          <a:xfrm>
            <a:off x="8092440" y="987552"/>
            <a:ext cx="3593592" cy="1133856"/>
          </a:xfrm>
          <a:prstGeom prst="roundRect">
            <a:avLst>
              <a:gd name="adj" fmla="val 4839"/>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13" name="Shape 9"/>
          <p:cNvSpPr/>
          <p:nvPr/>
        </p:nvSpPr>
        <p:spPr>
          <a:xfrm>
            <a:off x="8092440" y="987552"/>
            <a:ext cx="82296" cy="1133856"/>
          </a:xfrm>
          <a:prstGeom prst="rect">
            <a:avLst/>
          </a:prstGeom>
          <a:solidFill>
            <a:srgbClr val="0E7490"/>
          </a:solidFill>
          <a:ln w="12700">
            <a:solidFill>
              <a:srgbClr val="333333"/>
            </a:solidFill>
            <a:prstDash val="solid"/>
          </a:ln>
        </p:spPr>
      </p:sp>
      <p:sp>
        <p:nvSpPr>
          <p:cNvPr id="14" name="Text 10"/>
          <p:cNvSpPr/>
          <p:nvPr/>
        </p:nvSpPr>
        <p:spPr>
          <a:xfrm>
            <a:off x="8284464" y="1060704"/>
            <a:ext cx="3291840" cy="274320"/>
          </a:xfrm>
          <a:prstGeom prst="rect">
            <a:avLst/>
          </a:prstGeom>
          <a:noFill/>
          <a:ln/>
        </p:spPr>
        <p:txBody>
          <a:bodyPr wrap="square" lIns="0" tIns="0" rIns="0" bIns="0" rtlCol="0" anchor="ctr"/>
          <a:lstStyle/>
          <a:p>
            <a:pPr indent="0" marL="0">
              <a:buNone/>
            </a:pPr>
            <a:r>
              <a:rPr lang="en-US" sz="1150" b="1" dirty="0">
                <a:solidFill>
                  <a:srgbClr val="0F1B40"/>
                </a:solidFill>
                <a:latin typeface="Calibri" pitchFamily="34" charset="0"/>
                <a:ea typeface="Calibri" pitchFamily="34" charset="-122"/>
                <a:cs typeface="Calibri" pitchFamily="34" charset="-120"/>
              </a:rPr>
              <a:t>Subscription model</a:t>
            </a:r>
            <a:endParaRPr lang="en-US" sz="1150" dirty="0"/>
          </a:p>
        </p:txBody>
      </p:sp>
      <p:sp>
        <p:nvSpPr>
          <p:cNvPr id="15" name="Text 11"/>
          <p:cNvSpPr/>
          <p:nvPr/>
        </p:nvSpPr>
        <p:spPr>
          <a:xfrm>
            <a:off x="8284464" y="1353312"/>
            <a:ext cx="3291840" cy="694944"/>
          </a:xfrm>
          <a:prstGeom prst="rect">
            <a:avLst/>
          </a:prstGeom>
          <a:noFill/>
          <a:ln/>
        </p:spPr>
        <p:txBody>
          <a:bodyPr wrap="square" lIns="0" tIns="0" rIns="0" bIns="0" rtlCol="0" anchor="t"/>
          <a:lstStyle/>
          <a:p>
            <a:pPr indent="0" marL="0">
              <a:lnSpc>
                <a:spcPts val="1150"/>
              </a:lnSpc>
              <a:buNone/>
            </a:pPr>
            <a:r>
              <a:rPr lang="en-US" sz="900" dirty="0">
                <a:solidFill>
                  <a:srgbClr val="3B4557"/>
                </a:solidFill>
                <a:latin typeface="Calibri" pitchFamily="34" charset="0"/>
                <a:ea typeface="Calibri" pitchFamily="34" charset="-122"/>
                <a:cs typeface="Calibri" pitchFamily="34" charset="-120"/>
              </a:rPr>
              <a:t>Vendors, operators and security teams subscribe per region; an alert is sent when a threat is detected, analysed, mitigated or shared.</a:t>
            </a:r>
            <a:endParaRPr lang="en-US" sz="900" dirty="0"/>
          </a:p>
        </p:txBody>
      </p:sp>
      <p:sp>
        <p:nvSpPr>
          <p:cNvPr id="16" name="Shape 12"/>
          <p:cNvSpPr/>
          <p:nvPr/>
        </p:nvSpPr>
        <p:spPr>
          <a:xfrm>
            <a:off x="8092440" y="2249424"/>
            <a:ext cx="3593592" cy="1133856"/>
          </a:xfrm>
          <a:prstGeom prst="roundRect">
            <a:avLst>
              <a:gd name="adj" fmla="val 4839"/>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17" name="Shape 13"/>
          <p:cNvSpPr/>
          <p:nvPr/>
        </p:nvSpPr>
        <p:spPr>
          <a:xfrm>
            <a:off x="8092440" y="2249424"/>
            <a:ext cx="82296" cy="1133856"/>
          </a:xfrm>
          <a:prstGeom prst="rect">
            <a:avLst/>
          </a:prstGeom>
          <a:solidFill>
            <a:srgbClr val="7C3AED"/>
          </a:solidFill>
          <a:ln w="12700">
            <a:solidFill>
              <a:srgbClr val="333333"/>
            </a:solidFill>
            <a:prstDash val="solid"/>
          </a:ln>
        </p:spPr>
      </p:sp>
      <p:sp>
        <p:nvSpPr>
          <p:cNvPr id="18" name="Text 14"/>
          <p:cNvSpPr/>
          <p:nvPr/>
        </p:nvSpPr>
        <p:spPr>
          <a:xfrm>
            <a:off x="8284464" y="2322576"/>
            <a:ext cx="3291840" cy="274320"/>
          </a:xfrm>
          <a:prstGeom prst="rect">
            <a:avLst/>
          </a:prstGeom>
          <a:noFill/>
          <a:ln/>
        </p:spPr>
        <p:txBody>
          <a:bodyPr wrap="square" lIns="0" tIns="0" rIns="0" bIns="0" rtlCol="0" anchor="ctr"/>
          <a:lstStyle/>
          <a:p>
            <a:pPr indent="0" marL="0">
              <a:buNone/>
            </a:pPr>
            <a:r>
              <a:rPr lang="en-US" sz="1150" b="1" dirty="0">
                <a:solidFill>
                  <a:srgbClr val="0F1B40"/>
                </a:solidFill>
                <a:latin typeface="Calibri" pitchFamily="34" charset="0"/>
                <a:ea typeface="Calibri" pitchFamily="34" charset="-122"/>
                <a:cs typeface="Calibri" pitchFamily="34" charset="-120"/>
              </a:rPr>
              <a:t>Emailed once, never twice</a:t>
            </a:r>
            <a:endParaRPr lang="en-US" sz="1150" dirty="0"/>
          </a:p>
        </p:txBody>
      </p:sp>
      <p:sp>
        <p:nvSpPr>
          <p:cNvPr id="19" name="Text 15"/>
          <p:cNvSpPr/>
          <p:nvPr/>
        </p:nvSpPr>
        <p:spPr>
          <a:xfrm>
            <a:off x="8284464" y="2615184"/>
            <a:ext cx="3291840" cy="694944"/>
          </a:xfrm>
          <a:prstGeom prst="rect">
            <a:avLst/>
          </a:prstGeom>
          <a:noFill/>
          <a:ln/>
        </p:spPr>
        <p:txBody>
          <a:bodyPr wrap="square" lIns="0" tIns="0" rIns="0" bIns="0" rtlCol="0" anchor="t"/>
          <a:lstStyle/>
          <a:p>
            <a:pPr indent="0" marL="0">
              <a:lnSpc>
                <a:spcPts val="1150"/>
              </a:lnSpc>
              <a:buNone/>
            </a:pPr>
            <a:r>
              <a:rPr lang="en-US" sz="900" dirty="0">
                <a:solidFill>
                  <a:srgbClr val="3B4557"/>
                </a:solidFill>
                <a:latin typeface="Calibri" pitchFamily="34" charset="0"/>
                <a:ea typeface="Calibri" pitchFamily="34" charset="-122"/>
                <a:cs typeface="Calibri" pitchFamily="34" charset="-120"/>
              </a:rPr>
              <a:t>A notification log keyed per threat guards idempotency, so a re-broadcast or a restart cannot spam a subscriber.</a:t>
            </a:r>
            <a:endParaRPr lang="en-US" sz="900" dirty="0"/>
          </a:p>
        </p:txBody>
      </p:sp>
      <p:sp>
        <p:nvSpPr>
          <p:cNvPr id="20" name="Shape 16"/>
          <p:cNvSpPr/>
          <p:nvPr/>
        </p:nvSpPr>
        <p:spPr>
          <a:xfrm>
            <a:off x="8092440" y="3511296"/>
            <a:ext cx="3593592" cy="1133856"/>
          </a:xfrm>
          <a:prstGeom prst="roundRect">
            <a:avLst>
              <a:gd name="adj" fmla="val 4839"/>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21" name="Shape 17"/>
          <p:cNvSpPr/>
          <p:nvPr/>
        </p:nvSpPr>
        <p:spPr>
          <a:xfrm>
            <a:off x="8092440" y="3511296"/>
            <a:ext cx="82296" cy="1133856"/>
          </a:xfrm>
          <a:prstGeom prst="rect">
            <a:avLst/>
          </a:prstGeom>
          <a:solidFill>
            <a:srgbClr val="D97706"/>
          </a:solidFill>
          <a:ln w="12700">
            <a:solidFill>
              <a:srgbClr val="333333"/>
            </a:solidFill>
            <a:prstDash val="solid"/>
          </a:ln>
        </p:spPr>
      </p:sp>
      <p:sp>
        <p:nvSpPr>
          <p:cNvPr id="22" name="Text 18"/>
          <p:cNvSpPr/>
          <p:nvPr/>
        </p:nvSpPr>
        <p:spPr>
          <a:xfrm>
            <a:off x="8284464" y="3584448"/>
            <a:ext cx="3291840" cy="274320"/>
          </a:xfrm>
          <a:prstGeom prst="rect">
            <a:avLst/>
          </a:prstGeom>
          <a:noFill/>
          <a:ln/>
        </p:spPr>
        <p:txBody>
          <a:bodyPr wrap="square" lIns="0" tIns="0" rIns="0" bIns="0" rtlCol="0" anchor="ctr"/>
          <a:lstStyle/>
          <a:p>
            <a:pPr indent="0" marL="0">
              <a:buNone/>
            </a:pPr>
            <a:r>
              <a:rPr lang="en-US" sz="1150" b="1" dirty="0">
                <a:solidFill>
                  <a:srgbClr val="0F1B40"/>
                </a:solidFill>
                <a:latin typeface="Calibri" pitchFamily="34" charset="0"/>
                <a:ea typeface="Calibri" pitchFamily="34" charset="-122"/>
                <a:cs typeface="Calibri" pitchFamily="34" charset="-120"/>
              </a:rPr>
              <a:t>Immediate actions first</a:t>
            </a:r>
            <a:endParaRPr lang="en-US" sz="1150" dirty="0"/>
          </a:p>
        </p:txBody>
      </p:sp>
      <p:sp>
        <p:nvSpPr>
          <p:cNvPr id="23" name="Text 19"/>
          <p:cNvSpPr/>
          <p:nvPr/>
        </p:nvSpPr>
        <p:spPr>
          <a:xfrm>
            <a:off x="8284464" y="3877056"/>
            <a:ext cx="3291840" cy="694944"/>
          </a:xfrm>
          <a:prstGeom prst="rect">
            <a:avLst/>
          </a:prstGeom>
          <a:noFill/>
          <a:ln/>
        </p:spPr>
        <p:txBody>
          <a:bodyPr wrap="square" lIns="0" tIns="0" rIns="0" bIns="0" rtlCol="0" anchor="t"/>
          <a:lstStyle/>
          <a:p>
            <a:pPr indent="0" marL="0">
              <a:lnSpc>
                <a:spcPts val="1150"/>
              </a:lnSpc>
              <a:buNone/>
            </a:pPr>
            <a:r>
              <a:rPr lang="en-US" sz="900" dirty="0">
                <a:solidFill>
                  <a:srgbClr val="3B4557"/>
                </a:solidFill>
                <a:latin typeface="Calibri" pitchFamily="34" charset="0"/>
                <a:ea typeface="Calibri" pitchFamily="34" charset="-122"/>
                <a:cs typeface="Calibri" pitchFamily="34" charset="-120"/>
              </a:rPr>
              <a:t>The message leads with the take-action-now tier, then detailed mitigations, evidence correlation and severity rationale.</a:t>
            </a:r>
            <a:endParaRPr lang="en-US" sz="900" dirty="0"/>
          </a:p>
        </p:txBody>
      </p:sp>
      <p:sp>
        <p:nvSpPr>
          <p:cNvPr id="24" name="Shape 20"/>
          <p:cNvSpPr/>
          <p:nvPr/>
        </p:nvSpPr>
        <p:spPr>
          <a:xfrm>
            <a:off x="8092440" y="4773168"/>
            <a:ext cx="3593592" cy="1133856"/>
          </a:xfrm>
          <a:prstGeom prst="roundRect">
            <a:avLst>
              <a:gd name="adj" fmla="val 4839"/>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25" name="Shape 21"/>
          <p:cNvSpPr/>
          <p:nvPr/>
        </p:nvSpPr>
        <p:spPr>
          <a:xfrm>
            <a:off x="8092440" y="4773168"/>
            <a:ext cx="82296" cy="1133856"/>
          </a:xfrm>
          <a:prstGeom prst="rect">
            <a:avLst/>
          </a:prstGeom>
          <a:solidFill>
            <a:srgbClr val="2E8358"/>
          </a:solidFill>
          <a:ln w="12700">
            <a:solidFill>
              <a:srgbClr val="333333"/>
            </a:solidFill>
            <a:prstDash val="solid"/>
          </a:ln>
        </p:spPr>
      </p:sp>
      <p:sp>
        <p:nvSpPr>
          <p:cNvPr id="26" name="Text 22"/>
          <p:cNvSpPr/>
          <p:nvPr/>
        </p:nvSpPr>
        <p:spPr>
          <a:xfrm>
            <a:off x="8284464" y="4846320"/>
            <a:ext cx="3291840" cy="274320"/>
          </a:xfrm>
          <a:prstGeom prst="rect">
            <a:avLst/>
          </a:prstGeom>
          <a:noFill/>
          <a:ln/>
        </p:spPr>
        <p:txBody>
          <a:bodyPr wrap="square" lIns="0" tIns="0" rIns="0" bIns="0" rtlCol="0" anchor="ctr"/>
          <a:lstStyle/>
          <a:p>
            <a:pPr indent="0" marL="0">
              <a:buNone/>
            </a:pPr>
            <a:r>
              <a:rPr lang="en-US" sz="1150" b="1" dirty="0">
                <a:solidFill>
                  <a:srgbClr val="0F1B40"/>
                </a:solidFill>
                <a:latin typeface="Calibri" pitchFamily="34" charset="0"/>
                <a:ea typeface="Calibri" pitchFamily="34" charset="-122"/>
                <a:cs typeface="Calibri" pitchFamily="34" charset="-120"/>
              </a:rPr>
              <a:t>Feedback closes the loop</a:t>
            </a:r>
            <a:endParaRPr lang="en-US" sz="1150" dirty="0"/>
          </a:p>
        </p:txBody>
      </p:sp>
      <p:sp>
        <p:nvSpPr>
          <p:cNvPr id="27" name="Text 23"/>
          <p:cNvSpPr/>
          <p:nvPr/>
        </p:nvSpPr>
        <p:spPr>
          <a:xfrm>
            <a:off x="8284464" y="5138928"/>
            <a:ext cx="3291840" cy="694944"/>
          </a:xfrm>
          <a:prstGeom prst="rect">
            <a:avLst/>
          </a:prstGeom>
          <a:noFill/>
          <a:ln/>
        </p:spPr>
        <p:txBody>
          <a:bodyPr wrap="square" lIns="0" tIns="0" rIns="0" bIns="0" rtlCol="0" anchor="t"/>
          <a:lstStyle/>
          <a:p>
            <a:pPr indent="0" marL="0">
              <a:lnSpc>
                <a:spcPts val="1150"/>
              </a:lnSpc>
              <a:buNone/>
            </a:pPr>
            <a:r>
              <a:rPr lang="en-US" sz="900" dirty="0">
                <a:solidFill>
                  <a:srgbClr val="3B4557"/>
                </a:solidFill>
                <a:latin typeface="Calibri" pitchFamily="34" charset="0"/>
                <a:ea typeface="Calibri" pitchFamily="34" charset="-122"/>
                <a:cs typeface="Calibri" pitchFamily="34" charset="-120"/>
              </a:rPr>
              <a:t>Applied actions, extra actions and a usefulness rating are persisted with the threat and can become reviewed regional knowledge.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F1F6"/>
        </a:solidFill>
      </p:bgPr>
    </p:bg>
    <p:spTree>
      <p:nvGrpSpPr>
        <p:cNvPr id="1" name=""/>
        <p:cNvGrpSpPr/>
        <p:nvPr/>
      </p:nvGrpSpPr>
      <p:grpSpPr>
        <a:xfrm>
          <a:off x="0" y="0"/>
          <a:ext cx="0" cy="0"/>
          <a:chOff x="0" y="0"/>
          <a:chExt cx="0" cy="0"/>
        </a:xfrm>
      </p:grpSpPr>
      <p:sp>
        <p:nvSpPr>
          <p:cNvPr id="2" name="Shape 0"/>
          <p:cNvSpPr/>
          <p:nvPr/>
        </p:nvSpPr>
        <p:spPr>
          <a:xfrm>
            <a:off x="-1005840" y="-822960"/>
            <a:ext cx="3383280" cy="2834640"/>
          </a:xfrm>
          <a:prstGeom prst="roundRect">
            <a:avLst>
              <a:gd name="adj" fmla="val 9677"/>
            </a:avLst>
          </a:prstGeom>
          <a:solidFill>
            <a:srgbClr val="DBE2EB"/>
          </a:solidFill>
          <a:ln w="12700">
            <a:solidFill>
              <a:srgbClr val="DBE2EB"/>
            </a:solidFill>
            <a:prstDash val="solid"/>
          </a:ln>
        </p:spPr>
      </p:sp>
      <p:sp>
        <p:nvSpPr>
          <p:cNvPr id="3" name="Text 1"/>
          <p:cNvSpPr/>
          <p:nvPr/>
        </p:nvSpPr>
        <p:spPr>
          <a:xfrm>
            <a:off x="502920" y="219456"/>
            <a:ext cx="11185855" cy="658368"/>
          </a:xfrm>
          <a:prstGeom prst="rect">
            <a:avLst/>
          </a:prstGeom>
          <a:noFill/>
          <a:ln/>
        </p:spPr>
        <p:txBody>
          <a:bodyPr wrap="square" lIns="0" tIns="0" rIns="0" bIns="0" rtlCol="0" anchor="ctr"/>
          <a:lstStyle/>
          <a:p>
            <a:pPr indent="0" marL="0">
              <a:buNone/>
            </a:pPr>
            <a:r>
              <a:rPr lang="en-US" sz="2900" b="1" dirty="0">
                <a:solidFill>
                  <a:srgbClr val="0F1B40"/>
                </a:solidFill>
                <a:latin typeface="Arial" pitchFamily="34" charset="0"/>
                <a:ea typeface="Arial" pitchFamily="34" charset="-122"/>
                <a:cs typeface="Arial" pitchFamily="34" charset="-120"/>
              </a:rPr>
              <a:t>Testbed Deployment &amp; Experimental Evaluation</a:t>
            </a:r>
            <a:endParaRPr lang="en-US" sz="2900" dirty="0"/>
          </a:p>
        </p:txBody>
      </p:sp>
      <p:sp>
        <p:nvSpPr>
          <p:cNvPr id="4" name="Shape 2"/>
          <p:cNvSpPr/>
          <p:nvPr/>
        </p:nvSpPr>
        <p:spPr>
          <a:xfrm>
            <a:off x="11478463" y="6236208"/>
            <a:ext cx="384048" cy="384048"/>
          </a:xfrm>
          <a:prstGeom prst="ellipse">
            <a:avLst/>
          </a:prstGeom>
          <a:solidFill>
            <a:srgbClr val="8FA3C1"/>
          </a:solidFill>
          <a:ln w="12700">
            <a:solidFill>
              <a:srgbClr val="8FA3C1"/>
            </a:solidFill>
            <a:prstDash val="solid"/>
          </a:ln>
        </p:spPr>
      </p:sp>
      <p:sp>
        <p:nvSpPr>
          <p:cNvPr id="5" name="Text 3"/>
          <p:cNvSpPr/>
          <p:nvPr/>
        </p:nvSpPr>
        <p:spPr>
          <a:xfrm>
            <a:off x="11478463" y="6236208"/>
            <a:ext cx="384048" cy="384048"/>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15</a:t>
            </a:r>
            <a:endParaRPr lang="en-US" sz="1100" dirty="0"/>
          </a:p>
        </p:txBody>
      </p:sp>
      <p:sp>
        <p:nvSpPr>
          <p:cNvPr id="6" name="Shape 4"/>
          <p:cNvSpPr/>
          <p:nvPr/>
        </p:nvSpPr>
        <p:spPr>
          <a:xfrm>
            <a:off x="502920" y="987552"/>
            <a:ext cx="2688336" cy="82296"/>
          </a:xfrm>
          <a:prstGeom prst="rect">
            <a:avLst/>
          </a:prstGeom>
          <a:solidFill>
            <a:srgbClr val="18BFD9"/>
          </a:solidFill>
          <a:ln w="12700">
            <a:solidFill>
              <a:srgbClr val="333333"/>
            </a:solidFill>
            <a:prstDash val="solid"/>
          </a:ln>
        </p:spPr>
      </p:sp>
      <p:sp>
        <p:nvSpPr>
          <p:cNvPr id="7" name="Shape 5"/>
          <p:cNvSpPr/>
          <p:nvPr/>
        </p:nvSpPr>
        <p:spPr>
          <a:xfrm>
            <a:off x="502920" y="1069848"/>
            <a:ext cx="2688336" cy="932688"/>
          </a:xfrm>
          <a:prstGeom prst="rect">
            <a:avLst/>
          </a:prstGeom>
          <a:solidFill>
            <a:srgbClr val="142648"/>
          </a:solidFill>
          <a:ln w="12700">
            <a:solidFill>
              <a:srgbClr val="333333"/>
            </a:solidFill>
            <a:prstDash val="solid"/>
          </a:ln>
        </p:spPr>
      </p:sp>
      <p:sp>
        <p:nvSpPr>
          <p:cNvPr id="8" name="Text 6"/>
          <p:cNvSpPr/>
          <p:nvPr/>
        </p:nvSpPr>
        <p:spPr>
          <a:xfrm>
            <a:off x="594360" y="1170432"/>
            <a:ext cx="2505456" cy="384048"/>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64 Physical Cores</a:t>
            </a:r>
            <a:endParaRPr lang="en-US" sz="1600" dirty="0"/>
          </a:p>
        </p:txBody>
      </p:sp>
      <p:sp>
        <p:nvSpPr>
          <p:cNvPr id="9" name="Text 7"/>
          <p:cNvSpPr/>
          <p:nvPr/>
        </p:nvSpPr>
        <p:spPr>
          <a:xfrm>
            <a:off x="594360" y="1536192"/>
            <a:ext cx="2505456" cy="329184"/>
          </a:xfrm>
          <a:prstGeom prst="rect">
            <a:avLst/>
          </a:prstGeom>
          <a:noFill/>
          <a:ln/>
        </p:spPr>
        <p:txBody>
          <a:bodyPr wrap="square" lIns="0" tIns="0" rIns="0" bIns="0" rtlCol="0" anchor="ctr"/>
          <a:lstStyle/>
          <a:p>
            <a:pPr algn="ctr" indent="0" marL="0">
              <a:buNone/>
            </a:pPr>
            <a:r>
              <a:rPr lang="en-US" sz="1100" dirty="0">
                <a:solidFill>
                  <a:srgbClr val="C7D2E4"/>
                </a:solidFill>
                <a:latin typeface="Calibri" pitchFamily="34" charset="0"/>
                <a:ea typeface="Calibri" pitchFamily="34" charset="-122"/>
                <a:cs typeface="Calibri" pitchFamily="34" charset="-120"/>
              </a:rPr>
              <a:t>(128 Logical)</a:t>
            </a:r>
            <a:endParaRPr lang="en-US" sz="1100" dirty="0"/>
          </a:p>
        </p:txBody>
      </p:sp>
      <p:sp>
        <p:nvSpPr>
          <p:cNvPr id="10" name="Shape 8"/>
          <p:cNvSpPr/>
          <p:nvPr/>
        </p:nvSpPr>
        <p:spPr>
          <a:xfrm>
            <a:off x="3374136" y="987552"/>
            <a:ext cx="2688336" cy="82296"/>
          </a:xfrm>
          <a:prstGeom prst="rect">
            <a:avLst/>
          </a:prstGeom>
          <a:solidFill>
            <a:srgbClr val="A78BFA"/>
          </a:solidFill>
          <a:ln w="12700">
            <a:solidFill>
              <a:srgbClr val="333333"/>
            </a:solidFill>
            <a:prstDash val="solid"/>
          </a:ln>
        </p:spPr>
      </p:sp>
      <p:sp>
        <p:nvSpPr>
          <p:cNvPr id="11" name="Shape 9"/>
          <p:cNvSpPr/>
          <p:nvPr/>
        </p:nvSpPr>
        <p:spPr>
          <a:xfrm>
            <a:off x="3374136" y="1069848"/>
            <a:ext cx="2688336" cy="932688"/>
          </a:xfrm>
          <a:prstGeom prst="rect">
            <a:avLst/>
          </a:prstGeom>
          <a:solidFill>
            <a:srgbClr val="142648"/>
          </a:solidFill>
          <a:ln w="12700">
            <a:solidFill>
              <a:srgbClr val="333333"/>
            </a:solidFill>
            <a:prstDash val="solid"/>
          </a:ln>
        </p:spPr>
      </p:sp>
      <p:sp>
        <p:nvSpPr>
          <p:cNvPr id="12" name="Text 10"/>
          <p:cNvSpPr/>
          <p:nvPr/>
        </p:nvSpPr>
        <p:spPr>
          <a:xfrm>
            <a:off x="3465576" y="1170432"/>
            <a:ext cx="2505456" cy="384048"/>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250 GB Host</a:t>
            </a:r>
            <a:endParaRPr lang="en-US" sz="1600" dirty="0"/>
          </a:p>
        </p:txBody>
      </p:sp>
      <p:sp>
        <p:nvSpPr>
          <p:cNvPr id="13" name="Text 11"/>
          <p:cNvSpPr/>
          <p:nvPr/>
        </p:nvSpPr>
        <p:spPr>
          <a:xfrm>
            <a:off x="3465576" y="1536192"/>
            <a:ext cx="2505456" cy="329184"/>
          </a:xfrm>
          <a:prstGeom prst="rect">
            <a:avLst/>
          </a:prstGeom>
          <a:noFill/>
          <a:ln/>
        </p:spPr>
        <p:txBody>
          <a:bodyPr wrap="square" lIns="0" tIns="0" rIns="0" bIns="0" rtlCol="0" anchor="ctr"/>
          <a:lstStyle/>
          <a:p>
            <a:pPr algn="ctr" indent="0" marL="0">
              <a:buNone/>
            </a:pPr>
            <a:r>
              <a:rPr lang="en-US" sz="1100" dirty="0">
                <a:solidFill>
                  <a:srgbClr val="C7D2E4"/>
                </a:solidFill>
                <a:latin typeface="Calibri" pitchFamily="34" charset="0"/>
                <a:ea typeface="Calibri" pitchFamily="34" charset="-122"/>
                <a:cs typeface="Calibri" pitchFamily="34" charset="-120"/>
              </a:rPr>
              <a:t>RAM</a:t>
            </a:r>
            <a:endParaRPr lang="en-US" sz="1100" dirty="0"/>
          </a:p>
        </p:txBody>
      </p:sp>
      <p:sp>
        <p:nvSpPr>
          <p:cNvPr id="14" name="Shape 12"/>
          <p:cNvSpPr/>
          <p:nvPr/>
        </p:nvSpPr>
        <p:spPr>
          <a:xfrm>
            <a:off x="6245352" y="987552"/>
            <a:ext cx="2688336" cy="82296"/>
          </a:xfrm>
          <a:prstGeom prst="rect">
            <a:avLst/>
          </a:prstGeom>
          <a:solidFill>
            <a:srgbClr val="2DD4BF"/>
          </a:solidFill>
          <a:ln w="12700">
            <a:solidFill>
              <a:srgbClr val="333333"/>
            </a:solidFill>
            <a:prstDash val="solid"/>
          </a:ln>
        </p:spPr>
      </p:sp>
      <p:sp>
        <p:nvSpPr>
          <p:cNvPr id="15" name="Shape 13"/>
          <p:cNvSpPr/>
          <p:nvPr/>
        </p:nvSpPr>
        <p:spPr>
          <a:xfrm>
            <a:off x="6245352" y="1069848"/>
            <a:ext cx="2688336" cy="932688"/>
          </a:xfrm>
          <a:prstGeom prst="rect">
            <a:avLst/>
          </a:prstGeom>
          <a:solidFill>
            <a:srgbClr val="142648"/>
          </a:solidFill>
          <a:ln w="12700">
            <a:solidFill>
              <a:srgbClr val="333333"/>
            </a:solidFill>
            <a:prstDash val="solid"/>
          </a:ln>
        </p:spPr>
      </p:sp>
      <p:sp>
        <p:nvSpPr>
          <p:cNvPr id="16" name="Text 14"/>
          <p:cNvSpPr/>
          <p:nvPr/>
        </p:nvSpPr>
        <p:spPr>
          <a:xfrm>
            <a:off x="6336792" y="1170432"/>
            <a:ext cx="2505456" cy="384048"/>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K3s v1.36.2</a:t>
            </a:r>
            <a:endParaRPr lang="en-US" sz="1600" dirty="0"/>
          </a:p>
        </p:txBody>
      </p:sp>
      <p:sp>
        <p:nvSpPr>
          <p:cNvPr id="17" name="Text 15"/>
          <p:cNvSpPr/>
          <p:nvPr/>
        </p:nvSpPr>
        <p:spPr>
          <a:xfrm>
            <a:off x="6336792" y="1536192"/>
            <a:ext cx="2505456" cy="329184"/>
          </a:xfrm>
          <a:prstGeom prst="rect">
            <a:avLst/>
          </a:prstGeom>
          <a:noFill/>
          <a:ln/>
        </p:spPr>
        <p:txBody>
          <a:bodyPr wrap="square" lIns="0" tIns="0" rIns="0" bIns="0" rtlCol="0" anchor="ctr"/>
          <a:lstStyle/>
          <a:p>
            <a:pPr algn="ctr" indent="0" marL="0">
              <a:buNone/>
            </a:pPr>
            <a:r>
              <a:rPr lang="en-US" sz="1100" dirty="0">
                <a:solidFill>
                  <a:srgbClr val="C7D2E4"/>
                </a:solidFill>
                <a:latin typeface="Calibri" pitchFamily="34" charset="0"/>
                <a:ea typeface="Calibri" pitchFamily="34" charset="-122"/>
                <a:cs typeface="Calibri" pitchFamily="34" charset="-120"/>
              </a:rPr>
              <a:t>Single Node Control Plane</a:t>
            </a:r>
            <a:endParaRPr lang="en-US" sz="1100" dirty="0"/>
          </a:p>
        </p:txBody>
      </p:sp>
      <p:sp>
        <p:nvSpPr>
          <p:cNvPr id="18" name="Shape 16"/>
          <p:cNvSpPr/>
          <p:nvPr/>
        </p:nvSpPr>
        <p:spPr>
          <a:xfrm>
            <a:off x="9116568" y="987552"/>
            <a:ext cx="2688336" cy="82296"/>
          </a:xfrm>
          <a:prstGeom prst="rect">
            <a:avLst/>
          </a:prstGeom>
          <a:solidFill>
            <a:srgbClr val="F59E0B"/>
          </a:solidFill>
          <a:ln w="12700">
            <a:solidFill>
              <a:srgbClr val="333333"/>
            </a:solidFill>
            <a:prstDash val="solid"/>
          </a:ln>
        </p:spPr>
      </p:sp>
      <p:sp>
        <p:nvSpPr>
          <p:cNvPr id="19" name="Shape 17"/>
          <p:cNvSpPr/>
          <p:nvPr/>
        </p:nvSpPr>
        <p:spPr>
          <a:xfrm>
            <a:off x="9116568" y="1069848"/>
            <a:ext cx="2688336" cy="932688"/>
          </a:xfrm>
          <a:prstGeom prst="rect">
            <a:avLst/>
          </a:prstGeom>
          <a:solidFill>
            <a:srgbClr val="142648"/>
          </a:solidFill>
          <a:ln w="12700">
            <a:solidFill>
              <a:srgbClr val="333333"/>
            </a:solidFill>
            <a:prstDash val="solid"/>
          </a:ln>
        </p:spPr>
      </p:sp>
      <p:sp>
        <p:nvSpPr>
          <p:cNvPr id="20" name="Text 18"/>
          <p:cNvSpPr/>
          <p:nvPr/>
        </p:nvSpPr>
        <p:spPr>
          <a:xfrm>
            <a:off x="9208008" y="1170432"/>
            <a:ext cx="2505456" cy="384048"/>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4 Regions</a:t>
            </a:r>
            <a:endParaRPr lang="en-US" sz="1600" dirty="0"/>
          </a:p>
        </p:txBody>
      </p:sp>
      <p:sp>
        <p:nvSpPr>
          <p:cNvPr id="21" name="Text 19"/>
          <p:cNvSpPr/>
          <p:nvPr/>
        </p:nvSpPr>
        <p:spPr>
          <a:xfrm>
            <a:off x="9208008" y="1536192"/>
            <a:ext cx="2505456" cy="329184"/>
          </a:xfrm>
          <a:prstGeom prst="rect">
            <a:avLst/>
          </a:prstGeom>
          <a:noFill/>
          <a:ln/>
        </p:spPr>
        <p:txBody>
          <a:bodyPr wrap="square" lIns="0" tIns="0" rIns="0" bIns="0" rtlCol="0" anchor="ctr"/>
          <a:lstStyle/>
          <a:p>
            <a:pPr algn="ctr" indent="0" marL="0">
              <a:buNone/>
            </a:pPr>
            <a:r>
              <a:rPr lang="en-US" sz="1100" dirty="0">
                <a:solidFill>
                  <a:srgbClr val="C7D2E4"/>
                </a:solidFill>
                <a:latin typeface="Calibri" pitchFamily="34" charset="0"/>
                <a:ea typeface="Calibri" pitchFamily="34" charset="-122"/>
                <a:cs typeface="Calibri" pitchFamily="34" charset="-120"/>
              </a:rPr>
              <a:t>One Node, 4 Namespaces</a:t>
            </a:r>
            <a:endParaRPr lang="en-US" sz="1100" dirty="0"/>
          </a:p>
        </p:txBody>
      </p:sp>
      <p:sp>
        <p:nvSpPr>
          <p:cNvPr id="22" name="Shape 20"/>
          <p:cNvSpPr/>
          <p:nvPr/>
        </p:nvSpPr>
        <p:spPr>
          <a:xfrm>
            <a:off x="868680" y="2212848"/>
            <a:ext cx="10454335" cy="512064"/>
          </a:xfrm>
          <a:prstGeom prst="roundRect">
            <a:avLst>
              <a:gd name="adj" fmla="val 50000"/>
            </a:avLst>
          </a:prstGeom>
          <a:solidFill>
            <a:srgbClr val="2F5C86"/>
          </a:solidFill>
          <a:ln w="12700">
            <a:solidFill>
              <a:srgbClr val="333333"/>
            </a:solidFill>
            <a:prstDash val="solid"/>
          </a:ln>
        </p:spPr>
      </p:sp>
      <p:sp>
        <p:nvSpPr>
          <p:cNvPr id="23" name="Text 21"/>
          <p:cNvSpPr/>
          <p:nvPr/>
        </p:nvSpPr>
        <p:spPr>
          <a:xfrm>
            <a:off x="960120" y="2212848"/>
            <a:ext cx="10271455" cy="512064"/>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AMD Ryzen Threadripper PRO 7985WX host with Ubuntu 24.04.4 LTS, containerd 2.3.2-k3s2</a:t>
            </a:r>
            <a:endParaRPr lang="en-US" sz="1250" dirty="0"/>
          </a:p>
        </p:txBody>
      </p:sp>
      <p:sp>
        <p:nvSpPr>
          <p:cNvPr id="24" name="Shape 22"/>
          <p:cNvSpPr/>
          <p:nvPr/>
        </p:nvSpPr>
        <p:spPr>
          <a:xfrm>
            <a:off x="1600200" y="2926080"/>
            <a:ext cx="3703320" cy="2286000"/>
          </a:xfrm>
          <a:prstGeom prst="roundRect">
            <a:avLst>
              <a:gd name="adj" fmla="val 2400"/>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25" name="Shape 23"/>
          <p:cNvSpPr/>
          <p:nvPr/>
        </p:nvSpPr>
        <p:spPr>
          <a:xfrm>
            <a:off x="1874520" y="3054096"/>
            <a:ext cx="713232" cy="713232"/>
          </a:xfrm>
          <a:prstGeom prst="ellipse">
            <a:avLst/>
          </a:prstGeom>
          <a:solidFill>
            <a:srgbClr val="CFE0F5"/>
          </a:solidFill>
          <a:ln w="12700">
            <a:solidFill>
              <a:srgbClr val="333333"/>
            </a:solidFill>
            <a:prstDash val="solid"/>
          </a:ln>
        </p:spPr>
      </p:sp>
      <p:sp>
        <p:nvSpPr>
          <p:cNvPr id="26" name="Text 24"/>
          <p:cNvSpPr/>
          <p:nvPr/>
        </p:nvSpPr>
        <p:spPr>
          <a:xfrm>
            <a:off x="1874520" y="3054096"/>
            <a:ext cx="713232" cy="713232"/>
          </a:xfrm>
          <a:prstGeom prst="rect">
            <a:avLst/>
          </a:prstGeom>
          <a:noFill/>
          <a:ln/>
        </p:spPr>
        <p:txBody>
          <a:bodyPr wrap="square" lIns="0" tIns="0" rIns="0" bIns="0" rtlCol="0" anchor="ctr"/>
          <a:lstStyle/>
          <a:p>
            <a:pPr algn="ctr" indent="0" marL="0">
              <a:buNone/>
            </a:pPr>
            <a:r>
              <a:rPr lang="en-US" sz="1050" dirty="0">
                <a:solidFill>
                  <a:srgbClr val="0F1B40"/>
                </a:solidFill>
                <a:latin typeface="Calibri" pitchFamily="34" charset="0"/>
                <a:ea typeface="Calibri" pitchFamily="34" charset="-122"/>
                <a:cs typeface="Calibri" pitchFamily="34" charset="-120"/>
              </a:rPr>
              <a:t>Region</a:t>
            </a:r>
            <a:endParaRPr lang="en-US" sz="1050" dirty="0"/>
          </a:p>
          <a:p>
            <a:pPr algn="ctr" indent="0" marL="0">
              <a:buNone/>
            </a:pPr>
            <a:r>
              <a:rPr lang="en-US" sz="1050" dirty="0">
                <a:solidFill>
                  <a:srgbClr val="0F1B40"/>
                </a:solidFill>
                <a:latin typeface="Calibri" pitchFamily="34" charset="0"/>
                <a:ea typeface="Calibri" pitchFamily="34" charset="-122"/>
                <a:cs typeface="Calibri" pitchFamily="34" charset="-120"/>
              </a:rPr>
              <a:t>1</a:t>
            </a:r>
            <a:endParaRPr lang="en-US" sz="1050" dirty="0"/>
          </a:p>
        </p:txBody>
      </p:sp>
      <p:sp>
        <p:nvSpPr>
          <p:cNvPr id="27" name="Shape 25"/>
          <p:cNvSpPr/>
          <p:nvPr/>
        </p:nvSpPr>
        <p:spPr>
          <a:xfrm>
            <a:off x="3566160" y="3054096"/>
            <a:ext cx="713232" cy="713232"/>
          </a:xfrm>
          <a:prstGeom prst="ellipse">
            <a:avLst/>
          </a:prstGeom>
          <a:solidFill>
            <a:srgbClr val="CFE0F5"/>
          </a:solidFill>
          <a:ln w="12700">
            <a:solidFill>
              <a:srgbClr val="333333"/>
            </a:solidFill>
            <a:prstDash val="solid"/>
          </a:ln>
        </p:spPr>
      </p:sp>
      <p:sp>
        <p:nvSpPr>
          <p:cNvPr id="28" name="Text 26"/>
          <p:cNvSpPr/>
          <p:nvPr/>
        </p:nvSpPr>
        <p:spPr>
          <a:xfrm>
            <a:off x="3566160" y="3054096"/>
            <a:ext cx="713232" cy="713232"/>
          </a:xfrm>
          <a:prstGeom prst="rect">
            <a:avLst/>
          </a:prstGeom>
          <a:noFill/>
          <a:ln/>
        </p:spPr>
        <p:txBody>
          <a:bodyPr wrap="square" lIns="0" tIns="0" rIns="0" bIns="0" rtlCol="0" anchor="ctr"/>
          <a:lstStyle/>
          <a:p>
            <a:pPr algn="ctr" indent="0" marL="0">
              <a:buNone/>
            </a:pPr>
            <a:r>
              <a:rPr lang="en-US" sz="1050" dirty="0">
                <a:solidFill>
                  <a:srgbClr val="0F1B40"/>
                </a:solidFill>
                <a:latin typeface="Calibri" pitchFamily="34" charset="0"/>
                <a:ea typeface="Calibri" pitchFamily="34" charset="-122"/>
                <a:cs typeface="Calibri" pitchFamily="34" charset="-120"/>
              </a:rPr>
              <a:t>Region</a:t>
            </a:r>
            <a:endParaRPr lang="en-US" sz="1050" dirty="0"/>
          </a:p>
          <a:p>
            <a:pPr algn="ctr" indent="0" marL="0">
              <a:buNone/>
            </a:pPr>
            <a:r>
              <a:rPr lang="en-US" sz="1050" dirty="0">
                <a:solidFill>
                  <a:srgbClr val="0F1B40"/>
                </a:solidFill>
                <a:latin typeface="Calibri" pitchFamily="34" charset="0"/>
                <a:ea typeface="Calibri" pitchFamily="34" charset="-122"/>
                <a:cs typeface="Calibri" pitchFamily="34" charset="-120"/>
              </a:rPr>
              <a:t>2</a:t>
            </a:r>
            <a:endParaRPr lang="en-US" sz="1050" dirty="0"/>
          </a:p>
        </p:txBody>
      </p:sp>
      <p:sp>
        <p:nvSpPr>
          <p:cNvPr id="29" name="Text 27"/>
          <p:cNvSpPr/>
          <p:nvPr/>
        </p:nvSpPr>
        <p:spPr>
          <a:xfrm>
            <a:off x="1965960" y="3931920"/>
            <a:ext cx="3017520" cy="118872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3B4557"/>
                </a:solidFill>
                <a:latin typeface="Calibri" pitchFamily="34" charset="0"/>
                <a:ea typeface="Calibri" pitchFamily="34" charset="-122"/>
                <a:cs typeface="Calibri" pitchFamily="34" charset="-120"/>
              </a:rPr>
              <a:t>2 gNB groups</a:t>
            </a:r>
            <a:endParaRPr lang="en-US" sz="1100" dirty="0"/>
          </a:p>
          <a:p>
            <a:pPr marL="342900" indent="-342900">
              <a:spcAft>
                <a:spcPts val="300"/>
              </a:spcAft>
              <a:buSzPct val="100000"/>
              <a:buChar char="•"/>
            </a:pPr>
            <a:r>
              <a:rPr lang="en-US" sz="1100" dirty="0">
                <a:solidFill>
                  <a:srgbClr val="3B4557"/>
                </a:solidFill>
                <a:latin typeface="Calibri" pitchFamily="34" charset="0"/>
                <a:ea typeface="Calibri" pitchFamily="34" charset="-122"/>
                <a:cs typeface="Calibri" pitchFamily="34" charset="-120"/>
              </a:rPr>
              <a:t>6 UEs</a:t>
            </a:r>
            <a:endParaRPr lang="en-US" sz="1100" dirty="0"/>
          </a:p>
          <a:p>
            <a:pPr marL="342900" indent="-342900">
              <a:spcAft>
                <a:spcPts val="300"/>
              </a:spcAft>
              <a:buSzPct val="100000"/>
              <a:buChar char="•"/>
            </a:pPr>
            <a:r>
              <a:rPr lang="en-US" sz="1100" dirty="0">
                <a:solidFill>
                  <a:srgbClr val="3B4557"/>
                </a:solidFill>
                <a:latin typeface="Calibri" pitchFamily="34" charset="0"/>
                <a:ea typeface="Calibri" pitchFamily="34" charset="-122"/>
                <a:cs typeface="Calibri" pitchFamily="34" charset="-120"/>
              </a:rPr>
              <a:t>O-RAN SC RIC</a:t>
            </a:r>
            <a:endParaRPr lang="en-US" sz="1100" dirty="0"/>
          </a:p>
          <a:p>
            <a:pPr marL="342900" indent="-342900">
              <a:spcAft>
                <a:spcPts val="300"/>
              </a:spcAft>
              <a:buSzPct val="100000"/>
              <a:buChar char="•"/>
            </a:pPr>
            <a:r>
              <a:rPr lang="en-US" sz="1100" dirty="0">
                <a:solidFill>
                  <a:srgbClr val="3B4557"/>
                </a:solidFill>
                <a:latin typeface="Calibri" pitchFamily="34" charset="0"/>
                <a:ea typeface="Calibri" pitchFamily="34" charset="-122"/>
                <a:cs typeface="Calibri" pitchFamily="34" charset="-120"/>
              </a:rPr>
              <a:t>xApps</a:t>
            </a:r>
            <a:endParaRPr lang="en-US" sz="1100" dirty="0"/>
          </a:p>
          <a:p>
            <a:pPr marL="342900" indent="-342900">
              <a:spcAft>
                <a:spcPts val="300"/>
              </a:spcAft>
              <a:buSzPct val="100000"/>
              <a:buChar char="•"/>
            </a:pPr>
            <a:r>
              <a:rPr lang="en-US" sz="1100" dirty="0">
                <a:solidFill>
                  <a:srgbClr val="3B4557"/>
                </a:solidFill>
                <a:latin typeface="Calibri" pitchFamily="34" charset="0"/>
                <a:ea typeface="Calibri" pitchFamily="34" charset="-122"/>
                <a:cs typeface="Calibri" pitchFamily="34" charset="-120"/>
              </a:rPr>
              <a:t>Mini RAG agent</a:t>
            </a:r>
            <a:endParaRPr lang="en-US" sz="1100" dirty="0"/>
          </a:p>
        </p:txBody>
      </p:sp>
      <p:sp>
        <p:nvSpPr>
          <p:cNvPr id="30" name="Shape 28"/>
          <p:cNvSpPr/>
          <p:nvPr/>
        </p:nvSpPr>
        <p:spPr>
          <a:xfrm>
            <a:off x="6903720" y="2926080"/>
            <a:ext cx="3703320" cy="2286000"/>
          </a:xfrm>
          <a:prstGeom prst="roundRect">
            <a:avLst>
              <a:gd name="adj" fmla="val 2400"/>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31" name="Shape 29"/>
          <p:cNvSpPr/>
          <p:nvPr/>
        </p:nvSpPr>
        <p:spPr>
          <a:xfrm>
            <a:off x="7178040" y="3054096"/>
            <a:ext cx="713232" cy="713232"/>
          </a:xfrm>
          <a:prstGeom prst="ellipse">
            <a:avLst/>
          </a:prstGeom>
          <a:solidFill>
            <a:srgbClr val="CFE0F5"/>
          </a:solidFill>
          <a:ln w="12700">
            <a:solidFill>
              <a:srgbClr val="333333"/>
            </a:solidFill>
            <a:prstDash val="solid"/>
          </a:ln>
        </p:spPr>
      </p:sp>
      <p:sp>
        <p:nvSpPr>
          <p:cNvPr id="32" name="Text 30"/>
          <p:cNvSpPr/>
          <p:nvPr/>
        </p:nvSpPr>
        <p:spPr>
          <a:xfrm>
            <a:off x="7178040" y="3054096"/>
            <a:ext cx="713232" cy="713232"/>
          </a:xfrm>
          <a:prstGeom prst="rect">
            <a:avLst/>
          </a:prstGeom>
          <a:noFill/>
          <a:ln/>
        </p:spPr>
        <p:txBody>
          <a:bodyPr wrap="square" lIns="0" tIns="0" rIns="0" bIns="0" rtlCol="0" anchor="ctr"/>
          <a:lstStyle/>
          <a:p>
            <a:pPr algn="ctr" indent="0" marL="0">
              <a:buNone/>
            </a:pPr>
            <a:r>
              <a:rPr lang="en-US" sz="1050" dirty="0">
                <a:solidFill>
                  <a:srgbClr val="0F1B40"/>
                </a:solidFill>
                <a:latin typeface="Calibri" pitchFamily="34" charset="0"/>
                <a:ea typeface="Calibri" pitchFamily="34" charset="-122"/>
                <a:cs typeface="Calibri" pitchFamily="34" charset="-120"/>
              </a:rPr>
              <a:t>Region</a:t>
            </a:r>
            <a:endParaRPr lang="en-US" sz="1050" dirty="0"/>
          </a:p>
          <a:p>
            <a:pPr algn="ctr" indent="0" marL="0">
              <a:buNone/>
            </a:pPr>
            <a:r>
              <a:rPr lang="en-US" sz="1050" dirty="0">
                <a:solidFill>
                  <a:srgbClr val="0F1B40"/>
                </a:solidFill>
                <a:latin typeface="Calibri" pitchFamily="34" charset="0"/>
                <a:ea typeface="Calibri" pitchFamily="34" charset="-122"/>
                <a:cs typeface="Calibri" pitchFamily="34" charset="-120"/>
              </a:rPr>
              <a:t>3</a:t>
            </a:r>
            <a:endParaRPr lang="en-US" sz="1050" dirty="0"/>
          </a:p>
        </p:txBody>
      </p:sp>
      <p:sp>
        <p:nvSpPr>
          <p:cNvPr id="33" name="Shape 31"/>
          <p:cNvSpPr/>
          <p:nvPr/>
        </p:nvSpPr>
        <p:spPr>
          <a:xfrm>
            <a:off x="8869680" y="3054096"/>
            <a:ext cx="713232" cy="713232"/>
          </a:xfrm>
          <a:prstGeom prst="ellipse">
            <a:avLst/>
          </a:prstGeom>
          <a:solidFill>
            <a:srgbClr val="CFE0F5"/>
          </a:solidFill>
          <a:ln w="12700">
            <a:solidFill>
              <a:srgbClr val="333333"/>
            </a:solidFill>
            <a:prstDash val="solid"/>
          </a:ln>
        </p:spPr>
      </p:sp>
      <p:sp>
        <p:nvSpPr>
          <p:cNvPr id="34" name="Text 32"/>
          <p:cNvSpPr/>
          <p:nvPr/>
        </p:nvSpPr>
        <p:spPr>
          <a:xfrm>
            <a:off x="8869680" y="3054096"/>
            <a:ext cx="713232" cy="713232"/>
          </a:xfrm>
          <a:prstGeom prst="rect">
            <a:avLst/>
          </a:prstGeom>
          <a:noFill/>
          <a:ln/>
        </p:spPr>
        <p:txBody>
          <a:bodyPr wrap="square" lIns="0" tIns="0" rIns="0" bIns="0" rtlCol="0" anchor="ctr"/>
          <a:lstStyle/>
          <a:p>
            <a:pPr algn="ctr" indent="0" marL="0">
              <a:buNone/>
            </a:pPr>
            <a:r>
              <a:rPr lang="en-US" sz="1050" dirty="0">
                <a:solidFill>
                  <a:srgbClr val="0F1B40"/>
                </a:solidFill>
                <a:latin typeface="Calibri" pitchFamily="34" charset="0"/>
                <a:ea typeface="Calibri" pitchFamily="34" charset="-122"/>
                <a:cs typeface="Calibri" pitchFamily="34" charset="-120"/>
              </a:rPr>
              <a:t>Region</a:t>
            </a:r>
            <a:endParaRPr lang="en-US" sz="1050" dirty="0"/>
          </a:p>
          <a:p>
            <a:pPr algn="ctr" indent="0" marL="0">
              <a:buNone/>
            </a:pPr>
            <a:r>
              <a:rPr lang="en-US" sz="1050" dirty="0">
                <a:solidFill>
                  <a:srgbClr val="0F1B40"/>
                </a:solidFill>
                <a:latin typeface="Calibri" pitchFamily="34" charset="0"/>
                <a:ea typeface="Calibri" pitchFamily="34" charset="-122"/>
                <a:cs typeface="Calibri" pitchFamily="34" charset="-120"/>
              </a:rPr>
              <a:t>4</a:t>
            </a:r>
            <a:endParaRPr lang="en-US" sz="1050" dirty="0"/>
          </a:p>
        </p:txBody>
      </p:sp>
      <p:sp>
        <p:nvSpPr>
          <p:cNvPr id="35" name="Text 33"/>
          <p:cNvSpPr/>
          <p:nvPr/>
        </p:nvSpPr>
        <p:spPr>
          <a:xfrm>
            <a:off x="7269480" y="3931920"/>
            <a:ext cx="3017520" cy="118872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3B4557"/>
                </a:solidFill>
                <a:latin typeface="Calibri" pitchFamily="34" charset="0"/>
                <a:ea typeface="Calibri" pitchFamily="34" charset="-122"/>
                <a:cs typeface="Calibri" pitchFamily="34" charset="-120"/>
              </a:rPr>
              <a:t>Sharing peers</a:t>
            </a:r>
            <a:endParaRPr lang="en-US" sz="1100" dirty="0"/>
          </a:p>
          <a:p>
            <a:pPr marL="342900" indent="-342900">
              <a:spcAft>
                <a:spcPts val="300"/>
              </a:spcAft>
              <a:buSzPct val="100000"/>
              <a:buChar char="•"/>
            </a:pPr>
            <a:r>
              <a:rPr lang="en-US" sz="1100" dirty="0">
                <a:solidFill>
                  <a:srgbClr val="3B4557"/>
                </a:solidFill>
                <a:latin typeface="Calibri" pitchFamily="34" charset="0"/>
                <a:ea typeface="Calibri" pitchFamily="34" charset="-122"/>
                <a:cs typeface="Calibri" pitchFamily="34" charset="-120"/>
              </a:rPr>
              <a:t>Receive distributed intel</a:t>
            </a:r>
            <a:endParaRPr lang="en-US" sz="1100" dirty="0"/>
          </a:p>
          <a:p>
            <a:pPr marL="342900" indent="-342900">
              <a:spcAft>
                <a:spcPts val="300"/>
              </a:spcAft>
              <a:buSzPct val="100000"/>
              <a:buChar char="•"/>
            </a:pPr>
            <a:r>
              <a:rPr lang="en-US" sz="1100" dirty="0">
                <a:solidFill>
                  <a:srgbClr val="3B4557"/>
                </a:solidFill>
                <a:latin typeface="Calibri" pitchFamily="34" charset="0"/>
                <a:ea typeface="Calibri" pitchFamily="34" charset="-122"/>
                <a:cs typeface="Calibri" pitchFamily="34" charset="-120"/>
              </a:rPr>
              <a:t>Pre-armed for cross-region response</a:t>
            </a:r>
            <a:endParaRPr lang="en-US" sz="1100" dirty="0"/>
          </a:p>
        </p:txBody>
      </p:sp>
      <p:sp>
        <p:nvSpPr>
          <p:cNvPr id="36" name="Text 34"/>
          <p:cNvSpPr/>
          <p:nvPr/>
        </p:nvSpPr>
        <p:spPr>
          <a:xfrm>
            <a:off x="502920" y="5394960"/>
            <a:ext cx="11185855" cy="274320"/>
          </a:xfrm>
          <a:prstGeom prst="rect">
            <a:avLst/>
          </a:prstGeom>
          <a:noFill/>
          <a:ln/>
        </p:spPr>
        <p:txBody>
          <a:bodyPr wrap="square" lIns="0" tIns="0" rIns="0" bIns="0" rtlCol="0" anchor="ctr"/>
          <a:lstStyle/>
          <a:p>
            <a:pPr algn="ctr" indent="0" marL="0">
              <a:buNone/>
            </a:pPr>
            <a:r>
              <a:rPr lang="en-US" sz="1250" b="1" dirty="0">
                <a:solidFill>
                  <a:srgbClr val="0F1B40"/>
                </a:solidFill>
                <a:latin typeface="Calibri" pitchFamily="34" charset="0"/>
                <a:ea typeface="Calibri" pitchFamily="34" charset="-122"/>
                <a:cs typeface="Calibri" pitchFamily="34" charset="-120"/>
              </a:rPr>
              <a:t>8-point readiness checklist run before every campaign</a:t>
            </a:r>
            <a:endParaRPr lang="en-US" sz="1250" dirty="0"/>
          </a:p>
        </p:txBody>
      </p:sp>
      <p:sp>
        <p:nvSpPr>
          <p:cNvPr id="37" name="Text 35"/>
          <p:cNvSpPr/>
          <p:nvPr/>
        </p:nvSpPr>
        <p:spPr>
          <a:xfrm>
            <a:off x="502920" y="5669280"/>
            <a:ext cx="11185855" cy="274320"/>
          </a:xfrm>
          <a:prstGeom prst="rect">
            <a:avLst/>
          </a:prstGeom>
          <a:noFill/>
          <a:ln/>
        </p:spPr>
        <p:txBody>
          <a:bodyPr wrap="square" lIns="0" tIns="0" rIns="0" bIns="0" rtlCol="0" anchor="t"/>
          <a:lstStyle/>
          <a:p>
            <a:pPr algn="ctr" indent="0" marL="0">
              <a:buNone/>
            </a:pPr>
            <a:r>
              <a:rPr lang="en-US" sz="1150" dirty="0">
                <a:solidFill>
                  <a:srgbClr val="3B4557"/>
                </a:solidFill>
                <a:latin typeface="Calibri" pitchFamily="34" charset="0"/>
                <a:ea typeface="Calibri" pitchFamily="34" charset="-122"/>
                <a:cs typeface="Calibri" pitchFamily="34" charset="-120"/>
              </a:rPr>
              <a:t>namespace health, correlator to Mini-RAG reachability, rApp2 routes, Gemini key fingerprinting, pre-campaign knowledge snapshot.</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1F1F6"/>
        </a:solidFill>
      </p:bgPr>
    </p:bg>
    <p:spTree>
      <p:nvGrpSpPr>
        <p:cNvPr id="1" name=""/>
        <p:cNvGrpSpPr/>
        <p:nvPr/>
      </p:nvGrpSpPr>
      <p:grpSpPr>
        <a:xfrm>
          <a:off x="0" y="0"/>
          <a:ext cx="0" cy="0"/>
          <a:chOff x="0" y="0"/>
          <a:chExt cx="0" cy="0"/>
        </a:xfrm>
      </p:grpSpPr>
      <p:sp>
        <p:nvSpPr>
          <p:cNvPr id="2" name="Shape 0"/>
          <p:cNvSpPr/>
          <p:nvPr/>
        </p:nvSpPr>
        <p:spPr>
          <a:xfrm>
            <a:off x="-1005840" y="-822960"/>
            <a:ext cx="3383280" cy="2834640"/>
          </a:xfrm>
          <a:prstGeom prst="roundRect">
            <a:avLst>
              <a:gd name="adj" fmla="val 9677"/>
            </a:avLst>
          </a:prstGeom>
          <a:solidFill>
            <a:srgbClr val="DBE2EB"/>
          </a:solidFill>
          <a:ln w="12700">
            <a:solidFill>
              <a:srgbClr val="DBE2EB"/>
            </a:solidFill>
            <a:prstDash val="solid"/>
          </a:ln>
        </p:spPr>
      </p:sp>
      <p:sp>
        <p:nvSpPr>
          <p:cNvPr id="3" name="Text 1"/>
          <p:cNvSpPr/>
          <p:nvPr/>
        </p:nvSpPr>
        <p:spPr>
          <a:xfrm>
            <a:off x="502920" y="219456"/>
            <a:ext cx="11185855" cy="658368"/>
          </a:xfrm>
          <a:prstGeom prst="rect">
            <a:avLst/>
          </a:prstGeom>
          <a:noFill/>
          <a:ln/>
        </p:spPr>
        <p:txBody>
          <a:bodyPr wrap="square" lIns="0" tIns="0" rIns="0" bIns="0" rtlCol="0" anchor="ctr"/>
          <a:lstStyle/>
          <a:p>
            <a:pPr indent="0" marL="0">
              <a:buNone/>
            </a:pPr>
            <a:r>
              <a:rPr lang="en-US" sz="2900" b="1" dirty="0">
                <a:solidFill>
                  <a:srgbClr val="0F1B40"/>
                </a:solidFill>
                <a:latin typeface="Arial" pitchFamily="34" charset="0"/>
                <a:ea typeface="Arial" pitchFamily="34" charset="-122"/>
                <a:cs typeface="Arial" pitchFamily="34" charset="-120"/>
              </a:rPr>
              <a:t>Evaluation Design</a:t>
            </a:r>
            <a:endParaRPr lang="en-US" sz="2900" dirty="0"/>
          </a:p>
        </p:txBody>
      </p:sp>
      <p:sp>
        <p:nvSpPr>
          <p:cNvPr id="4" name="Shape 2"/>
          <p:cNvSpPr/>
          <p:nvPr/>
        </p:nvSpPr>
        <p:spPr>
          <a:xfrm>
            <a:off x="11478463" y="6236208"/>
            <a:ext cx="384048" cy="384048"/>
          </a:xfrm>
          <a:prstGeom prst="ellipse">
            <a:avLst/>
          </a:prstGeom>
          <a:solidFill>
            <a:srgbClr val="8FA3C1"/>
          </a:solidFill>
          <a:ln w="12700">
            <a:solidFill>
              <a:srgbClr val="8FA3C1"/>
            </a:solidFill>
            <a:prstDash val="solid"/>
          </a:ln>
        </p:spPr>
      </p:sp>
      <p:sp>
        <p:nvSpPr>
          <p:cNvPr id="5" name="Text 3"/>
          <p:cNvSpPr/>
          <p:nvPr/>
        </p:nvSpPr>
        <p:spPr>
          <a:xfrm>
            <a:off x="11478463" y="6236208"/>
            <a:ext cx="384048" cy="384048"/>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16</a:t>
            </a:r>
            <a:endParaRPr lang="en-US" sz="1100" dirty="0"/>
          </a:p>
        </p:txBody>
      </p:sp>
      <p:sp>
        <p:nvSpPr>
          <p:cNvPr id="6" name="Shape 4"/>
          <p:cNvSpPr/>
          <p:nvPr/>
        </p:nvSpPr>
        <p:spPr>
          <a:xfrm>
            <a:off x="502920" y="1051560"/>
            <a:ext cx="5468112" cy="2011680"/>
          </a:xfrm>
          <a:prstGeom prst="roundRect">
            <a:avLst>
              <a:gd name="adj" fmla="val 2727"/>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7" name="Text 5"/>
          <p:cNvSpPr/>
          <p:nvPr/>
        </p:nvSpPr>
        <p:spPr>
          <a:xfrm>
            <a:off x="822960" y="1234440"/>
            <a:ext cx="4846320" cy="329184"/>
          </a:xfrm>
          <a:prstGeom prst="rect">
            <a:avLst/>
          </a:prstGeom>
          <a:noFill/>
          <a:ln/>
        </p:spPr>
        <p:txBody>
          <a:bodyPr wrap="square" lIns="0" tIns="0" rIns="0" bIns="0" rtlCol="0" anchor="ctr"/>
          <a:lstStyle/>
          <a:p>
            <a:pPr indent="0" marL="0">
              <a:buNone/>
            </a:pPr>
            <a:r>
              <a:rPr lang="en-US" sz="1600" b="1" dirty="0">
                <a:solidFill>
                  <a:srgbClr val="0F1B40"/>
                </a:solidFill>
                <a:latin typeface="Calibri" pitchFamily="34" charset="0"/>
                <a:ea typeface="Calibri" pitchFamily="34" charset="-122"/>
                <a:cs typeface="Calibri" pitchFamily="34" charset="-120"/>
              </a:rPr>
              <a:t>The 750-event campaign</a:t>
            </a:r>
            <a:endParaRPr lang="en-US" sz="1600" dirty="0"/>
          </a:p>
        </p:txBody>
      </p:sp>
      <p:sp>
        <p:nvSpPr>
          <p:cNvPr id="8" name="Text 6"/>
          <p:cNvSpPr/>
          <p:nvPr/>
        </p:nvSpPr>
        <p:spPr>
          <a:xfrm>
            <a:off x="822960" y="1627632"/>
            <a:ext cx="4864608" cy="1280160"/>
          </a:xfrm>
          <a:prstGeom prst="rect">
            <a:avLst/>
          </a:prstGeom>
          <a:noFill/>
          <a:ln/>
        </p:spPr>
        <p:txBody>
          <a:bodyPr wrap="square" lIns="0" tIns="0" rIns="0" bIns="0" rtlCol="0" anchor="t"/>
          <a:lstStyle/>
          <a:p>
            <a:pPr indent="0" marL="0">
              <a:lnSpc>
                <a:spcPts val="1600"/>
              </a:lnSpc>
              <a:buNone/>
            </a:pPr>
            <a:r>
              <a:rPr lang="en-US" sz="1200" dirty="0">
                <a:solidFill>
                  <a:srgbClr val="3B4557"/>
                </a:solidFill>
                <a:latin typeface="Calibri" pitchFamily="34" charset="0"/>
                <a:ea typeface="Calibri" pitchFamily="34" charset="-122"/>
                <a:cs typeface="Calibri" pitchFamily="34" charset="-120"/>
              </a:rPr>
              <a:t>A deterministic 150-slot schedule run over five days across two evaluated regions, spanning eight threat families: UE DoS and KPM anomalies, runtime shell, A1, F1 and E2 interface anomalies, xApp API abuse, pod shell and memory pressure.</a:t>
            </a:r>
            <a:endParaRPr lang="en-US" sz="1200" dirty="0"/>
          </a:p>
        </p:txBody>
      </p:sp>
      <p:sp>
        <p:nvSpPr>
          <p:cNvPr id="9" name="Shape 7"/>
          <p:cNvSpPr/>
          <p:nvPr/>
        </p:nvSpPr>
        <p:spPr>
          <a:xfrm>
            <a:off x="6208776" y="1051560"/>
            <a:ext cx="5468112" cy="2011680"/>
          </a:xfrm>
          <a:prstGeom prst="roundRect">
            <a:avLst>
              <a:gd name="adj" fmla="val 2727"/>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10" name="Text 8"/>
          <p:cNvSpPr/>
          <p:nvPr/>
        </p:nvSpPr>
        <p:spPr>
          <a:xfrm>
            <a:off x="6528816" y="1234440"/>
            <a:ext cx="4846320" cy="329184"/>
          </a:xfrm>
          <a:prstGeom prst="rect">
            <a:avLst/>
          </a:prstGeom>
          <a:noFill/>
          <a:ln/>
        </p:spPr>
        <p:txBody>
          <a:bodyPr wrap="square" lIns="0" tIns="0" rIns="0" bIns="0" rtlCol="0" anchor="ctr"/>
          <a:lstStyle/>
          <a:p>
            <a:pPr indent="0" marL="0">
              <a:buNone/>
            </a:pPr>
            <a:r>
              <a:rPr lang="en-US" sz="1600" b="1" dirty="0">
                <a:solidFill>
                  <a:srgbClr val="0F1B40"/>
                </a:solidFill>
                <a:latin typeface="Calibri" pitchFamily="34" charset="0"/>
                <a:ea typeface="Calibri" pitchFamily="34" charset="-122"/>
                <a:cs typeface="Calibri" pitchFamily="34" charset="-120"/>
              </a:rPr>
              <a:t>Frozen intelligence benchmark</a:t>
            </a:r>
            <a:endParaRPr lang="en-US" sz="1600" dirty="0"/>
          </a:p>
        </p:txBody>
      </p:sp>
      <p:sp>
        <p:nvSpPr>
          <p:cNvPr id="11" name="Text 9"/>
          <p:cNvSpPr/>
          <p:nvPr/>
        </p:nvSpPr>
        <p:spPr>
          <a:xfrm>
            <a:off x="6528816" y="1627632"/>
            <a:ext cx="4864608" cy="1280160"/>
          </a:xfrm>
          <a:prstGeom prst="rect">
            <a:avLst/>
          </a:prstGeom>
          <a:noFill/>
          <a:ln/>
        </p:spPr>
        <p:txBody>
          <a:bodyPr wrap="square" lIns="0" tIns="0" rIns="0" bIns="0" rtlCol="0" anchor="t"/>
          <a:lstStyle/>
          <a:p>
            <a:pPr indent="0" marL="0">
              <a:lnSpc>
                <a:spcPts val="1600"/>
              </a:lnSpc>
              <a:buNone/>
            </a:pPr>
            <a:r>
              <a:rPr lang="en-US" sz="1200" dirty="0">
                <a:solidFill>
                  <a:srgbClr val="3B4557"/>
                </a:solidFill>
                <a:latin typeface="Calibri" pitchFamily="34" charset="0"/>
                <a:ea typeface="Calibri" pitchFamily="34" charset="-122"/>
                <a:cs typeface="Calibri" pitchFamily="34" charset="-120"/>
              </a:rPr>
              <a:t>A fixed, checksummed ground-truth case set evaluated read-only, so scores are comparable across sessions. It measures grounded retrieval recall, ranking, local-versus-global routing, severity accuracy and generation reliability.</a:t>
            </a:r>
            <a:endParaRPr lang="en-US" sz="1200" dirty="0"/>
          </a:p>
        </p:txBody>
      </p:sp>
      <p:sp>
        <p:nvSpPr>
          <p:cNvPr id="12" name="Shape 10"/>
          <p:cNvSpPr/>
          <p:nvPr/>
        </p:nvSpPr>
        <p:spPr>
          <a:xfrm>
            <a:off x="502920" y="3310128"/>
            <a:ext cx="11185855" cy="2331720"/>
          </a:xfrm>
          <a:prstGeom prst="roundRect">
            <a:avLst>
              <a:gd name="adj" fmla="val 2353"/>
            </a:avLst>
          </a:prstGeom>
          <a:solidFill>
            <a:srgbClr val="E9EEF7"/>
          </a:solidFill>
          <a:ln w="12700">
            <a:solidFill>
              <a:srgbClr val="333333"/>
            </a:solidFill>
            <a:prstDash val="solid"/>
          </a:ln>
        </p:spPr>
      </p:sp>
      <p:sp>
        <p:nvSpPr>
          <p:cNvPr id="13" name="Text 11"/>
          <p:cNvSpPr/>
          <p:nvPr/>
        </p:nvSpPr>
        <p:spPr>
          <a:xfrm>
            <a:off x="822960" y="3520440"/>
            <a:ext cx="5486400" cy="365760"/>
          </a:xfrm>
          <a:prstGeom prst="rect">
            <a:avLst/>
          </a:prstGeom>
          <a:noFill/>
          <a:ln/>
        </p:spPr>
        <p:txBody>
          <a:bodyPr wrap="square" lIns="0" tIns="0" rIns="0" bIns="0" rtlCol="0" anchor="ctr"/>
          <a:lstStyle/>
          <a:p>
            <a:pPr indent="0" marL="0">
              <a:buNone/>
            </a:pPr>
            <a:r>
              <a:rPr lang="en-US" sz="1600" b="1" dirty="0">
                <a:solidFill>
                  <a:srgbClr val="0F1B40"/>
                </a:solidFill>
                <a:latin typeface="Calibri" pitchFamily="34" charset="0"/>
                <a:ea typeface="Calibri" pitchFamily="34" charset="-122"/>
                <a:cs typeface="Calibri" pitchFamily="34" charset="-120"/>
              </a:rPr>
              <a:t>The declared composite score</a:t>
            </a:r>
            <a:endParaRPr lang="en-US" sz="1600" dirty="0"/>
          </a:p>
        </p:txBody>
      </p:sp>
      <p:sp>
        <p:nvSpPr>
          <p:cNvPr id="14" name="Text 12"/>
          <p:cNvSpPr/>
          <p:nvPr/>
        </p:nvSpPr>
        <p:spPr>
          <a:xfrm>
            <a:off x="822960" y="4041648"/>
            <a:ext cx="1097280" cy="566928"/>
          </a:xfrm>
          <a:prstGeom prst="rect">
            <a:avLst/>
          </a:prstGeom>
          <a:noFill/>
          <a:ln/>
        </p:spPr>
        <p:txBody>
          <a:bodyPr wrap="square" lIns="0" tIns="0" rIns="0" bIns="0" rtlCol="0" anchor="ctr"/>
          <a:lstStyle/>
          <a:p>
            <a:pPr indent="0" marL="0">
              <a:buNone/>
            </a:pPr>
            <a:r>
              <a:rPr lang="en-US" sz="3000" b="1" dirty="0">
                <a:solidFill>
                  <a:srgbClr val="0E7490"/>
                </a:solidFill>
                <a:latin typeface="Arial" pitchFamily="34" charset="0"/>
                <a:ea typeface="Arial" pitchFamily="34" charset="-122"/>
                <a:cs typeface="Arial" pitchFamily="34" charset="-120"/>
              </a:rPr>
              <a:t>54%</a:t>
            </a:r>
            <a:endParaRPr lang="en-US" sz="3000" dirty="0"/>
          </a:p>
        </p:txBody>
      </p:sp>
      <p:sp>
        <p:nvSpPr>
          <p:cNvPr id="15" name="Text 13"/>
          <p:cNvSpPr/>
          <p:nvPr/>
        </p:nvSpPr>
        <p:spPr>
          <a:xfrm>
            <a:off x="1993392" y="4041648"/>
            <a:ext cx="2377440" cy="274320"/>
          </a:xfrm>
          <a:prstGeom prst="rect">
            <a:avLst/>
          </a:prstGeom>
          <a:noFill/>
          <a:ln/>
        </p:spPr>
        <p:txBody>
          <a:bodyPr wrap="square" lIns="0" tIns="0" rIns="0" bIns="0" rtlCol="0" anchor="ctr"/>
          <a:lstStyle/>
          <a:p>
            <a:pPr indent="0" marL="0">
              <a:buNone/>
            </a:pPr>
            <a:r>
              <a:rPr lang="en-US" sz="1300" b="1" dirty="0">
                <a:solidFill>
                  <a:srgbClr val="0F1B40"/>
                </a:solidFill>
                <a:latin typeface="Calibri" pitchFamily="34" charset="0"/>
                <a:ea typeface="Calibri" pitchFamily="34" charset="-122"/>
                <a:cs typeface="Calibri" pitchFamily="34" charset="-120"/>
              </a:rPr>
              <a:t>RAG intelligence</a:t>
            </a:r>
            <a:endParaRPr lang="en-US" sz="1300" dirty="0"/>
          </a:p>
        </p:txBody>
      </p:sp>
      <p:sp>
        <p:nvSpPr>
          <p:cNvPr id="16" name="Text 14"/>
          <p:cNvSpPr/>
          <p:nvPr/>
        </p:nvSpPr>
        <p:spPr>
          <a:xfrm>
            <a:off x="1993392" y="4334256"/>
            <a:ext cx="2377440" cy="548640"/>
          </a:xfrm>
          <a:prstGeom prst="rect">
            <a:avLst/>
          </a:prstGeom>
          <a:noFill/>
          <a:ln/>
        </p:spPr>
        <p:txBody>
          <a:bodyPr wrap="square" lIns="0" tIns="0" rIns="0" bIns="0" rtlCol="0" anchor="t"/>
          <a:lstStyle/>
          <a:p>
            <a:pPr indent="0" marL="0">
              <a:lnSpc>
                <a:spcPts val="1200"/>
              </a:lnSpc>
              <a:buNone/>
            </a:pPr>
            <a:r>
              <a:rPr lang="en-US" sz="1000" dirty="0">
                <a:solidFill>
                  <a:srgbClr val="3B4557"/>
                </a:solidFill>
                <a:latin typeface="Calibri" pitchFamily="34" charset="0"/>
                <a:ea typeface="Calibri" pitchFamily="34" charset="-122"/>
                <a:cs typeface="Calibri" pitchFamily="34" charset="-120"/>
              </a:rPr>
              <a:t>retrieval, ranking, routing, severity, generation</a:t>
            </a:r>
            <a:endParaRPr lang="en-US" sz="1000" dirty="0"/>
          </a:p>
        </p:txBody>
      </p:sp>
      <p:sp>
        <p:nvSpPr>
          <p:cNvPr id="17" name="Text 15"/>
          <p:cNvSpPr/>
          <p:nvPr/>
        </p:nvSpPr>
        <p:spPr>
          <a:xfrm>
            <a:off x="4526280" y="4041648"/>
            <a:ext cx="1097280" cy="566928"/>
          </a:xfrm>
          <a:prstGeom prst="rect">
            <a:avLst/>
          </a:prstGeom>
          <a:noFill/>
          <a:ln/>
        </p:spPr>
        <p:txBody>
          <a:bodyPr wrap="square" lIns="0" tIns="0" rIns="0" bIns="0" rtlCol="0" anchor="ctr"/>
          <a:lstStyle/>
          <a:p>
            <a:pPr indent="0" marL="0">
              <a:buNone/>
            </a:pPr>
            <a:r>
              <a:rPr lang="en-US" sz="3000" b="1" dirty="0">
                <a:solidFill>
                  <a:srgbClr val="8B5CF6"/>
                </a:solidFill>
                <a:latin typeface="Arial" pitchFamily="34" charset="0"/>
                <a:ea typeface="Arial" pitchFamily="34" charset="-122"/>
                <a:cs typeface="Arial" pitchFamily="34" charset="-120"/>
              </a:rPr>
              <a:t>36%</a:t>
            </a:r>
            <a:endParaRPr lang="en-US" sz="3000" dirty="0"/>
          </a:p>
        </p:txBody>
      </p:sp>
      <p:sp>
        <p:nvSpPr>
          <p:cNvPr id="18" name="Text 16"/>
          <p:cNvSpPr/>
          <p:nvPr/>
        </p:nvSpPr>
        <p:spPr>
          <a:xfrm>
            <a:off x="5696712" y="4041648"/>
            <a:ext cx="2377440" cy="274320"/>
          </a:xfrm>
          <a:prstGeom prst="rect">
            <a:avLst/>
          </a:prstGeom>
          <a:noFill/>
          <a:ln/>
        </p:spPr>
        <p:txBody>
          <a:bodyPr wrap="square" lIns="0" tIns="0" rIns="0" bIns="0" rtlCol="0" anchor="ctr"/>
          <a:lstStyle/>
          <a:p>
            <a:pPr indent="0" marL="0">
              <a:buNone/>
            </a:pPr>
            <a:r>
              <a:rPr lang="en-US" sz="1300" b="1" dirty="0">
                <a:solidFill>
                  <a:srgbClr val="0F1B40"/>
                </a:solidFill>
                <a:latin typeface="Calibri" pitchFamily="34" charset="0"/>
                <a:ea typeface="Calibri" pitchFamily="34" charset="-122"/>
                <a:cs typeface="Calibri" pitchFamily="34" charset="-120"/>
              </a:rPr>
              <a:t>End-to-end detection</a:t>
            </a:r>
            <a:endParaRPr lang="en-US" sz="1300" dirty="0"/>
          </a:p>
        </p:txBody>
      </p:sp>
      <p:sp>
        <p:nvSpPr>
          <p:cNvPr id="19" name="Text 17"/>
          <p:cNvSpPr/>
          <p:nvPr/>
        </p:nvSpPr>
        <p:spPr>
          <a:xfrm>
            <a:off x="5696712" y="4334256"/>
            <a:ext cx="2377440" cy="548640"/>
          </a:xfrm>
          <a:prstGeom prst="rect">
            <a:avLst/>
          </a:prstGeom>
          <a:noFill/>
          <a:ln/>
        </p:spPr>
        <p:txBody>
          <a:bodyPr wrap="square" lIns="0" tIns="0" rIns="0" bIns="0" rtlCol="0" anchor="t"/>
          <a:lstStyle/>
          <a:p>
            <a:pPr indent="0" marL="0">
              <a:lnSpc>
                <a:spcPts val="1200"/>
              </a:lnSpc>
              <a:buNone/>
            </a:pPr>
            <a:r>
              <a:rPr lang="en-US" sz="1000" dirty="0">
                <a:solidFill>
                  <a:srgbClr val="3B4557"/>
                </a:solidFill>
                <a:latin typeface="Calibri" pitchFamily="34" charset="0"/>
                <a:ea typeface="Calibri" pitchFamily="34" charset="-122"/>
                <a:cs typeface="Calibri" pitchFamily="34" charset="-120"/>
              </a:rPr>
              <a:t>persisted event capture and expected-rule accuracy</a:t>
            </a:r>
            <a:endParaRPr lang="en-US" sz="1000" dirty="0"/>
          </a:p>
        </p:txBody>
      </p:sp>
      <p:sp>
        <p:nvSpPr>
          <p:cNvPr id="20" name="Text 18"/>
          <p:cNvSpPr/>
          <p:nvPr/>
        </p:nvSpPr>
        <p:spPr>
          <a:xfrm>
            <a:off x="8229600" y="4041648"/>
            <a:ext cx="1097280" cy="566928"/>
          </a:xfrm>
          <a:prstGeom prst="rect">
            <a:avLst/>
          </a:prstGeom>
          <a:noFill/>
          <a:ln/>
        </p:spPr>
        <p:txBody>
          <a:bodyPr wrap="square" lIns="0" tIns="0" rIns="0" bIns="0" rtlCol="0" anchor="ctr"/>
          <a:lstStyle/>
          <a:p>
            <a:pPr indent="0" marL="0">
              <a:buNone/>
            </a:pPr>
            <a:r>
              <a:rPr lang="en-US" sz="3000" b="1" dirty="0">
                <a:solidFill>
                  <a:srgbClr val="16A34A"/>
                </a:solidFill>
                <a:latin typeface="Arial" pitchFamily="34" charset="0"/>
                <a:ea typeface="Arial" pitchFamily="34" charset="-122"/>
                <a:cs typeface="Arial" pitchFamily="34" charset="-120"/>
              </a:rPr>
              <a:t>10%</a:t>
            </a:r>
            <a:endParaRPr lang="en-US" sz="3000" dirty="0"/>
          </a:p>
        </p:txBody>
      </p:sp>
      <p:sp>
        <p:nvSpPr>
          <p:cNvPr id="21" name="Text 19"/>
          <p:cNvSpPr/>
          <p:nvPr/>
        </p:nvSpPr>
        <p:spPr>
          <a:xfrm>
            <a:off x="9400032" y="4041648"/>
            <a:ext cx="2377440" cy="274320"/>
          </a:xfrm>
          <a:prstGeom prst="rect">
            <a:avLst/>
          </a:prstGeom>
          <a:noFill/>
          <a:ln/>
        </p:spPr>
        <p:txBody>
          <a:bodyPr wrap="square" lIns="0" tIns="0" rIns="0" bIns="0" rtlCol="0" anchor="ctr"/>
          <a:lstStyle/>
          <a:p>
            <a:pPr indent="0" marL="0">
              <a:buNone/>
            </a:pPr>
            <a:r>
              <a:rPr lang="en-US" sz="1300" b="1" dirty="0">
                <a:solidFill>
                  <a:srgbClr val="0F1B40"/>
                </a:solidFill>
                <a:latin typeface="Calibri" pitchFamily="34" charset="0"/>
                <a:ea typeface="Calibri" pitchFamily="34" charset="-122"/>
                <a:cs typeface="Calibri" pitchFamily="34" charset="-120"/>
              </a:rPr>
              <a:t>Mitigation response</a:t>
            </a:r>
            <a:endParaRPr lang="en-US" sz="1300" dirty="0"/>
          </a:p>
        </p:txBody>
      </p:sp>
      <p:sp>
        <p:nvSpPr>
          <p:cNvPr id="22" name="Text 20"/>
          <p:cNvSpPr/>
          <p:nvPr/>
        </p:nvSpPr>
        <p:spPr>
          <a:xfrm>
            <a:off x="9400032" y="4334256"/>
            <a:ext cx="2377440" cy="548640"/>
          </a:xfrm>
          <a:prstGeom prst="rect">
            <a:avLst/>
          </a:prstGeom>
          <a:noFill/>
          <a:ln/>
        </p:spPr>
        <p:txBody>
          <a:bodyPr wrap="square" lIns="0" tIns="0" rIns="0" bIns="0" rtlCol="0" anchor="t"/>
          <a:lstStyle/>
          <a:p>
            <a:pPr indent="0" marL="0">
              <a:lnSpc>
                <a:spcPts val="1200"/>
              </a:lnSpc>
              <a:buNone/>
            </a:pPr>
            <a:r>
              <a:rPr lang="en-US" sz="1000" dirty="0">
                <a:solidFill>
                  <a:srgbClr val="3B4557"/>
                </a:solidFill>
                <a:latin typeface="Calibri" pitchFamily="34" charset="0"/>
                <a:ea typeface="Calibri" pitchFamily="34" charset="-122"/>
                <a:cs typeface="Calibri" pitchFamily="34" charset="-120"/>
              </a:rPr>
              <a:t>execution, verification, timeliness, cross-region gain</a:t>
            </a:r>
            <a:endParaRPr lang="en-US" sz="1000" dirty="0"/>
          </a:p>
        </p:txBody>
      </p:sp>
      <p:sp>
        <p:nvSpPr>
          <p:cNvPr id="23" name="Text 21"/>
          <p:cNvSpPr/>
          <p:nvPr/>
        </p:nvSpPr>
        <p:spPr>
          <a:xfrm>
            <a:off x="822960" y="5029200"/>
            <a:ext cx="10607040" cy="457200"/>
          </a:xfrm>
          <a:prstGeom prst="rect">
            <a:avLst/>
          </a:prstGeom>
          <a:noFill/>
          <a:ln/>
        </p:spPr>
        <p:txBody>
          <a:bodyPr wrap="square" lIns="0" tIns="0" rIns="0" bIns="0" rtlCol="0" anchor="t"/>
          <a:lstStyle/>
          <a:p>
            <a:pPr indent="0" marL="0">
              <a:buNone/>
            </a:pPr>
            <a:r>
              <a:rPr lang="en-US" sz="1150" i="1" dirty="0">
                <a:solidFill>
                  <a:srgbClr val="3B4557"/>
                </a:solidFill>
                <a:latin typeface="Calibri" pitchFamily="34" charset="0"/>
                <a:ea typeface="Calibri" pitchFamily="34" charset="-122"/>
                <a:cs typeface="Calibri" pitchFamily="34" charset="-120"/>
              </a:rPr>
              <a:t>Weights are pre-declared, never learned. A component that was not measured is omitted and the remainder renormalised, never scored as zero and never assumed successful.</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1F1F6"/>
        </a:solidFill>
      </p:bgPr>
    </p:bg>
    <p:spTree>
      <p:nvGrpSpPr>
        <p:cNvPr id="1" name=""/>
        <p:cNvGrpSpPr/>
        <p:nvPr/>
      </p:nvGrpSpPr>
      <p:grpSpPr>
        <a:xfrm>
          <a:off x="0" y="0"/>
          <a:ext cx="0" cy="0"/>
          <a:chOff x="0" y="0"/>
          <a:chExt cx="0" cy="0"/>
        </a:xfrm>
      </p:grpSpPr>
      <p:sp>
        <p:nvSpPr>
          <p:cNvPr id="2" name="Shape 0"/>
          <p:cNvSpPr/>
          <p:nvPr/>
        </p:nvSpPr>
        <p:spPr>
          <a:xfrm>
            <a:off x="-1005840" y="-822960"/>
            <a:ext cx="3383280" cy="2834640"/>
          </a:xfrm>
          <a:prstGeom prst="roundRect">
            <a:avLst>
              <a:gd name="adj" fmla="val 9677"/>
            </a:avLst>
          </a:prstGeom>
          <a:solidFill>
            <a:srgbClr val="DBE2EB"/>
          </a:solidFill>
          <a:ln w="12700">
            <a:solidFill>
              <a:srgbClr val="DBE2EB"/>
            </a:solidFill>
            <a:prstDash val="solid"/>
          </a:ln>
        </p:spPr>
      </p:sp>
      <p:sp>
        <p:nvSpPr>
          <p:cNvPr id="3" name="Text 1"/>
          <p:cNvSpPr/>
          <p:nvPr/>
        </p:nvSpPr>
        <p:spPr>
          <a:xfrm>
            <a:off x="502920" y="219456"/>
            <a:ext cx="11185855" cy="658368"/>
          </a:xfrm>
          <a:prstGeom prst="rect">
            <a:avLst/>
          </a:prstGeom>
          <a:noFill/>
          <a:ln/>
        </p:spPr>
        <p:txBody>
          <a:bodyPr wrap="square" lIns="0" tIns="0" rIns="0" bIns="0" rtlCol="0" anchor="ctr"/>
          <a:lstStyle/>
          <a:p>
            <a:pPr indent="0" marL="0">
              <a:buNone/>
            </a:pPr>
            <a:r>
              <a:rPr lang="en-US" sz="2900" b="1" dirty="0">
                <a:solidFill>
                  <a:srgbClr val="0F1B40"/>
                </a:solidFill>
                <a:latin typeface="Arial" pitchFamily="34" charset="0"/>
                <a:ea typeface="Arial" pitchFamily="34" charset="-122"/>
                <a:cs typeface="Arial" pitchFamily="34" charset="-120"/>
              </a:rPr>
              <a:t>Evaluation - 150-Event Anomaly Campaign</a:t>
            </a:r>
            <a:endParaRPr lang="en-US" sz="2900" dirty="0"/>
          </a:p>
        </p:txBody>
      </p:sp>
      <p:sp>
        <p:nvSpPr>
          <p:cNvPr id="4" name="Shape 2"/>
          <p:cNvSpPr/>
          <p:nvPr/>
        </p:nvSpPr>
        <p:spPr>
          <a:xfrm>
            <a:off x="11478463" y="6236208"/>
            <a:ext cx="384048" cy="384048"/>
          </a:xfrm>
          <a:prstGeom prst="ellipse">
            <a:avLst/>
          </a:prstGeom>
          <a:solidFill>
            <a:srgbClr val="8FA3C1"/>
          </a:solidFill>
          <a:ln w="12700">
            <a:solidFill>
              <a:srgbClr val="8FA3C1"/>
            </a:solidFill>
            <a:prstDash val="solid"/>
          </a:ln>
        </p:spPr>
      </p:sp>
      <p:sp>
        <p:nvSpPr>
          <p:cNvPr id="5" name="Text 3"/>
          <p:cNvSpPr/>
          <p:nvPr/>
        </p:nvSpPr>
        <p:spPr>
          <a:xfrm>
            <a:off x="11478463" y="6236208"/>
            <a:ext cx="384048" cy="384048"/>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17</a:t>
            </a:r>
            <a:endParaRPr lang="en-US" sz="1100" dirty="0"/>
          </a:p>
        </p:txBody>
      </p:sp>
      <p:sp>
        <p:nvSpPr>
          <p:cNvPr id="6" name="Text 4"/>
          <p:cNvSpPr/>
          <p:nvPr/>
        </p:nvSpPr>
        <p:spPr>
          <a:xfrm>
            <a:off x="502920" y="1097280"/>
            <a:ext cx="3200400" cy="640080"/>
          </a:xfrm>
          <a:prstGeom prst="rect">
            <a:avLst/>
          </a:prstGeom>
          <a:noFill/>
          <a:ln/>
        </p:spPr>
        <p:txBody>
          <a:bodyPr wrap="square" lIns="0" tIns="0" rIns="0" bIns="0" rtlCol="0" anchor="ctr"/>
          <a:lstStyle/>
          <a:p>
            <a:pPr algn="ctr" indent="0" marL="0">
              <a:buNone/>
            </a:pPr>
            <a:r>
              <a:rPr lang="en-US" sz="1350" b="1" dirty="0">
                <a:solidFill>
                  <a:srgbClr val="0F1B40"/>
                </a:solidFill>
                <a:latin typeface="Calibri" pitchFamily="34" charset="0"/>
                <a:ea typeface="Calibri" pitchFamily="34" charset="-122"/>
                <a:cs typeface="Calibri" pitchFamily="34" charset="-120"/>
              </a:rPr>
              <a:t>Declared 150-slot composition</a:t>
            </a:r>
            <a:endParaRPr lang="en-US" sz="1350" dirty="0"/>
          </a:p>
          <a:p>
            <a:pPr algn="ctr" indent="0" marL="0">
              <a:buNone/>
            </a:pPr>
            <a:r>
              <a:rPr lang="en-US" sz="1350" b="1" dirty="0">
                <a:solidFill>
                  <a:srgbClr val="0F1B40"/>
                </a:solidFill>
                <a:latin typeface="Calibri" pitchFamily="34" charset="0"/>
                <a:ea typeface="Calibri" pitchFamily="34" charset="-122"/>
                <a:cs typeface="Calibri" pitchFamily="34" charset="-120"/>
              </a:rPr>
              <a:t>(75 slots per region)</a:t>
            </a:r>
            <a:endParaRPr lang="en-US" sz="1350" dirty="0"/>
          </a:p>
        </p:txBody>
      </p:sp>
      <p:sp>
        <p:nvSpPr>
          <p:cNvPr id="7" name="Shape 5"/>
          <p:cNvSpPr/>
          <p:nvPr/>
        </p:nvSpPr>
        <p:spPr>
          <a:xfrm>
            <a:off x="502920" y="1874520"/>
            <a:ext cx="3200400" cy="420624"/>
          </a:xfrm>
          <a:prstGeom prst="rect">
            <a:avLst/>
          </a:prstGeom>
          <a:solidFill>
            <a:srgbClr val="F4FAF6"/>
          </a:solidFill>
          <a:ln w="12700">
            <a:solidFill>
              <a:srgbClr val="333333"/>
            </a:solidFill>
            <a:prstDash val="solid"/>
          </a:ln>
        </p:spPr>
      </p:sp>
      <p:sp>
        <p:nvSpPr>
          <p:cNvPr id="8" name="Text 6"/>
          <p:cNvSpPr/>
          <p:nvPr/>
        </p:nvSpPr>
        <p:spPr>
          <a:xfrm>
            <a:off x="612648" y="1874520"/>
            <a:ext cx="1737360" cy="420624"/>
          </a:xfrm>
          <a:prstGeom prst="rect">
            <a:avLst/>
          </a:prstGeom>
          <a:noFill/>
          <a:ln/>
        </p:spPr>
        <p:txBody>
          <a:bodyPr wrap="square" lIns="0" tIns="0" rIns="0" bIns="0" rtlCol="0" anchor="ctr"/>
          <a:lstStyle/>
          <a:p>
            <a:pPr indent="0" marL="0">
              <a:buNone/>
            </a:pPr>
            <a:r>
              <a:rPr lang="en-US" sz="1100" dirty="0">
                <a:solidFill>
                  <a:srgbClr val="0F1B40"/>
                </a:solidFill>
                <a:latin typeface="Calibri" pitchFamily="34" charset="0"/>
                <a:ea typeface="Calibri" pitchFamily="34" charset="-122"/>
                <a:cs typeface="Calibri" pitchFamily="34" charset="-120"/>
              </a:rPr>
              <a:t>UE DoS / KPM</a:t>
            </a:r>
            <a:endParaRPr lang="en-US" sz="1100" dirty="0"/>
          </a:p>
        </p:txBody>
      </p:sp>
      <p:sp>
        <p:nvSpPr>
          <p:cNvPr id="9" name="Text 7"/>
          <p:cNvSpPr/>
          <p:nvPr/>
        </p:nvSpPr>
        <p:spPr>
          <a:xfrm>
            <a:off x="2331720" y="1874520"/>
            <a:ext cx="548640" cy="420624"/>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36</a:t>
            </a:r>
            <a:endParaRPr lang="en-US" sz="1100" dirty="0"/>
          </a:p>
        </p:txBody>
      </p:sp>
      <p:sp>
        <p:nvSpPr>
          <p:cNvPr id="10" name="Text 8"/>
          <p:cNvSpPr/>
          <p:nvPr/>
        </p:nvSpPr>
        <p:spPr>
          <a:xfrm>
            <a:off x="2926080" y="1874520"/>
            <a:ext cx="640080" cy="420624"/>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24%</a:t>
            </a:r>
            <a:endParaRPr lang="en-US" sz="1100" dirty="0"/>
          </a:p>
        </p:txBody>
      </p:sp>
      <p:sp>
        <p:nvSpPr>
          <p:cNvPr id="11" name="Shape 9"/>
          <p:cNvSpPr/>
          <p:nvPr/>
        </p:nvSpPr>
        <p:spPr>
          <a:xfrm>
            <a:off x="502920" y="2295144"/>
            <a:ext cx="3200400" cy="420624"/>
          </a:xfrm>
          <a:prstGeom prst="rect">
            <a:avLst/>
          </a:prstGeom>
          <a:solidFill>
            <a:srgbClr val="EAF3EE"/>
          </a:solidFill>
          <a:ln w="12700">
            <a:solidFill>
              <a:srgbClr val="333333"/>
            </a:solidFill>
            <a:prstDash val="solid"/>
          </a:ln>
        </p:spPr>
      </p:sp>
      <p:sp>
        <p:nvSpPr>
          <p:cNvPr id="12" name="Text 10"/>
          <p:cNvSpPr/>
          <p:nvPr/>
        </p:nvSpPr>
        <p:spPr>
          <a:xfrm>
            <a:off x="612648" y="2295144"/>
            <a:ext cx="1737360" cy="420624"/>
          </a:xfrm>
          <a:prstGeom prst="rect">
            <a:avLst/>
          </a:prstGeom>
          <a:noFill/>
          <a:ln/>
        </p:spPr>
        <p:txBody>
          <a:bodyPr wrap="square" lIns="0" tIns="0" rIns="0" bIns="0" rtlCol="0" anchor="ctr"/>
          <a:lstStyle/>
          <a:p>
            <a:pPr indent="0" marL="0">
              <a:buNone/>
            </a:pPr>
            <a:r>
              <a:rPr lang="en-US" sz="1100" dirty="0">
                <a:solidFill>
                  <a:srgbClr val="0F1B40"/>
                </a:solidFill>
                <a:latin typeface="Calibri" pitchFamily="34" charset="0"/>
                <a:ea typeface="Calibri" pitchFamily="34" charset="-122"/>
                <a:cs typeface="Calibri" pitchFamily="34" charset="-120"/>
              </a:rPr>
              <a:t>UE runtime shell</a:t>
            </a:r>
            <a:endParaRPr lang="en-US" sz="1100" dirty="0"/>
          </a:p>
        </p:txBody>
      </p:sp>
      <p:sp>
        <p:nvSpPr>
          <p:cNvPr id="13" name="Text 11"/>
          <p:cNvSpPr/>
          <p:nvPr/>
        </p:nvSpPr>
        <p:spPr>
          <a:xfrm>
            <a:off x="2331720" y="2295144"/>
            <a:ext cx="548640" cy="420624"/>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36</a:t>
            </a:r>
            <a:endParaRPr lang="en-US" sz="1100" dirty="0"/>
          </a:p>
        </p:txBody>
      </p:sp>
      <p:sp>
        <p:nvSpPr>
          <p:cNvPr id="14" name="Text 12"/>
          <p:cNvSpPr/>
          <p:nvPr/>
        </p:nvSpPr>
        <p:spPr>
          <a:xfrm>
            <a:off x="2926080" y="2295144"/>
            <a:ext cx="640080" cy="420624"/>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24%</a:t>
            </a:r>
            <a:endParaRPr lang="en-US" sz="1100" dirty="0"/>
          </a:p>
        </p:txBody>
      </p:sp>
      <p:sp>
        <p:nvSpPr>
          <p:cNvPr id="15" name="Shape 13"/>
          <p:cNvSpPr/>
          <p:nvPr/>
        </p:nvSpPr>
        <p:spPr>
          <a:xfrm>
            <a:off x="502920" y="2715768"/>
            <a:ext cx="3200400" cy="420624"/>
          </a:xfrm>
          <a:prstGeom prst="rect">
            <a:avLst/>
          </a:prstGeom>
          <a:solidFill>
            <a:srgbClr val="F4FAF6"/>
          </a:solidFill>
          <a:ln w="12700">
            <a:solidFill>
              <a:srgbClr val="333333"/>
            </a:solidFill>
            <a:prstDash val="solid"/>
          </a:ln>
        </p:spPr>
      </p:sp>
      <p:sp>
        <p:nvSpPr>
          <p:cNvPr id="16" name="Text 14"/>
          <p:cNvSpPr/>
          <p:nvPr/>
        </p:nvSpPr>
        <p:spPr>
          <a:xfrm>
            <a:off x="612648" y="2715768"/>
            <a:ext cx="1737360" cy="420624"/>
          </a:xfrm>
          <a:prstGeom prst="rect">
            <a:avLst/>
          </a:prstGeom>
          <a:noFill/>
          <a:ln/>
        </p:spPr>
        <p:txBody>
          <a:bodyPr wrap="square" lIns="0" tIns="0" rIns="0" bIns="0" rtlCol="0" anchor="ctr"/>
          <a:lstStyle/>
          <a:p>
            <a:pPr indent="0" marL="0">
              <a:buNone/>
            </a:pPr>
            <a:r>
              <a:rPr lang="en-US" sz="1100" dirty="0">
                <a:solidFill>
                  <a:srgbClr val="0F1B40"/>
                </a:solidFill>
                <a:latin typeface="Calibri" pitchFamily="34" charset="0"/>
                <a:ea typeface="Calibri" pitchFamily="34" charset="-122"/>
                <a:cs typeface="Calibri" pitchFamily="34" charset="-120"/>
              </a:rPr>
              <a:t>A1 / F1 / E2 anomaly</a:t>
            </a:r>
            <a:endParaRPr lang="en-US" sz="1100" dirty="0"/>
          </a:p>
        </p:txBody>
      </p:sp>
      <p:sp>
        <p:nvSpPr>
          <p:cNvPr id="17" name="Text 15"/>
          <p:cNvSpPr/>
          <p:nvPr/>
        </p:nvSpPr>
        <p:spPr>
          <a:xfrm>
            <a:off x="2331720" y="2715768"/>
            <a:ext cx="548640" cy="420624"/>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54</a:t>
            </a:r>
            <a:endParaRPr lang="en-US" sz="1100" dirty="0"/>
          </a:p>
        </p:txBody>
      </p:sp>
      <p:sp>
        <p:nvSpPr>
          <p:cNvPr id="18" name="Text 16"/>
          <p:cNvSpPr/>
          <p:nvPr/>
        </p:nvSpPr>
        <p:spPr>
          <a:xfrm>
            <a:off x="2926080" y="2715768"/>
            <a:ext cx="640080" cy="420624"/>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36%</a:t>
            </a:r>
            <a:endParaRPr lang="en-US" sz="1100" dirty="0"/>
          </a:p>
        </p:txBody>
      </p:sp>
      <p:sp>
        <p:nvSpPr>
          <p:cNvPr id="19" name="Shape 17"/>
          <p:cNvSpPr/>
          <p:nvPr/>
        </p:nvSpPr>
        <p:spPr>
          <a:xfrm>
            <a:off x="502920" y="3136392"/>
            <a:ext cx="3200400" cy="420624"/>
          </a:xfrm>
          <a:prstGeom prst="rect">
            <a:avLst/>
          </a:prstGeom>
          <a:solidFill>
            <a:srgbClr val="EAF3EE"/>
          </a:solidFill>
          <a:ln w="12700">
            <a:solidFill>
              <a:srgbClr val="333333"/>
            </a:solidFill>
            <a:prstDash val="solid"/>
          </a:ln>
        </p:spPr>
      </p:sp>
      <p:sp>
        <p:nvSpPr>
          <p:cNvPr id="20" name="Text 18"/>
          <p:cNvSpPr/>
          <p:nvPr/>
        </p:nvSpPr>
        <p:spPr>
          <a:xfrm>
            <a:off x="612648" y="3136392"/>
            <a:ext cx="1737360" cy="420624"/>
          </a:xfrm>
          <a:prstGeom prst="rect">
            <a:avLst/>
          </a:prstGeom>
          <a:noFill/>
          <a:ln/>
        </p:spPr>
        <p:txBody>
          <a:bodyPr wrap="square" lIns="0" tIns="0" rIns="0" bIns="0" rtlCol="0" anchor="ctr"/>
          <a:lstStyle/>
          <a:p>
            <a:pPr indent="0" marL="0">
              <a:buNone/>
            </a:pPr>
            <a:r>
              <a:rPr lang="en-US" sz="1100" dirty="0">
                <a:solidFill>
                  <a:srgbClr val="0F1B40"/>
                </a:solidFill>
                <a:latin typeface="Calibri" pitchFamily="34" charset="0"/>
                <a:ea typeface="Calibri" pitchFamily="34" charset="-122"/>
                <a:cs typeface="Calibri" pitchFamily="34" charset="-120"/>
              </a:rPr>
              <a:t>xApp invalid API</a:t>
            </a:r>
            <a:endParaRPr lang="en-US" sz="1100" dirty="0"/>
          </a:p>
        </p:txBody>
      </p:sp>
      <p:sp>
        <p:nvSpPr>
          <p:cNvPr id="21" name="Text 19"/>
          <p:cNvSpPr/>
          <p:nvPr/>
        </p:nvSpPr>
        <p:spPr>
          <a:xfrm>
            <a:off x="2331720" y="3136392"/>
            <a:ext cx="548640" cy="420624"/>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12</a:t>
            </a:r>
            <a:endParaRPr lang="en-US" sz="1100" dirty="0"/>
          </a:p>
        </p:txBody>
      </p:sp>
      <p:sp>
        <p:nvSpPr>
          <p:cNvPr id="22" name="Text 20"/>
          <p:cNvSpPr/>
          <p:nvPr/>
        </p:nvSpPr>
        <p:spPr>
          <a:xfrm>
            <a:off x="2926080" y="3136392"/>
            <a:ext cx="640080" cy="420624"/>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8%</a:t>
            </a:r>
            <a:endParaRPr lang="en-US" sz="1100" dirty="0"/>
          </a:p>
        </p:txBody>
      </p:sp>
      <p:sp>
        <p:nvSpPr>
          <p:cNvPr id="23" name="Shape 21"/>
          <p:cNvSpPr/>
          <p:nvPr/>
        </p:nvSpPr>
        <p:spPr>
          <a:xfrm>
            <a:off x="502920" y="3557016"/>
            <a:ext cx="3200400" cy="420624"/>
          </a:xfrm>
          <a:prstGeom prst="rect">
            <a:avLst/>
          </a:prstGeom>
          <a:solidFill>
            <a:srgbClr val="F4FAF6"/>
          </a:solidFill>
          <a:ln w="12700">
            <a:solidFill>
              <a:srgbClr val="333333"/>
            </a:solidFill>
            <a:prstDash val="solid"/>
          </a:ln>
        </p:spPr>
      </p:sp>
      <p:sp>
        <p:nvSpPr>
          <p:cNvPr id="24" name="Text 22"/>
          <p:cNvSpPr/>
          <p:nvPr/>
        </p:nvSpPr>
        <p:spPr>
          <a:xfrm>
            <a:off x="612648" y="3557016"/>
            <a:ext cx="1737360" cy="420624"/>
          </a:xfrm>
          <a:prstGeom prst="rect">
            <a:avLst/>
          </a:prstGeom>
          <a:noFill/>
          <a:ln/>
        </p:spPr>
        <p:txBody>
          <a:bodyPr wrap="square" lIns="0" tIns="0" rIns="0" bIns="0" rtlCol="0" anchor="ctr"/>
          <a:lstStyle/>
          <a:p>
            <a:pPr indent="0" marL="0">
              <a:buNone/>
            </a:pPr>
            <a:r>
              <a:rPr lang="en-US" sz="1100" dirty="0">
                <a:solidFill>
                  <a:srgbClr val="0F1B40"/>
                </a:solidFill>
                <a:latin typeface="Calibri" pitchFamily="34" charset="0"/>
                <a:ea typeface="Calibri" pitchFamily="34" charset="-122"/>
                <a:cs typeface="Calibri" pitchFamily="34" charset="-120"/>
              </a:rPr>
              <a:t>Pod shell / memory</a:t>
            </a:r>
            <a:endParaRPr lang="en-US" sz="1100" dirty="0"/>
          </a:p>
        </p:txBody>
      </p:sp>
      <p:sp>
        <p:nvSpPr>
          <p:cNvPr id="25" name="Text 23"/>
          <p:cNvSpPr/>
          <p:nvPr/>
        </p:nvSpPr>
        <p:spPr>
          <a:xfrm>
            <a:off x="2331720" y="3557016"/>
            <a:ext cx="548640" cy="420624"/>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12</a:t>
            </a:r>
            <a:endParaRPr lang="en-US" sz="1100" dirty="0"/>
          </a:p>
        </p:txBody>
      </p:sp>
      <p:sp>
        <p:nvSpPr>
          <p:cNvPr id="26" name="Text 24"/>
          <p:cNvSpPr/>
          <p:nvPr/>
        </p:nvSpPr>
        <p:spPr>
          <a:xfrm>
            <a:off x="2926080" y="3557016"/>
            <a:ext cx="640080" cy="420624"/>
          </a:xfrm>
          <a:prstGeom prst="rect">
            <a:avLst/>
          </a:prstGeom>
          <a:noFill/>
          <a:ln/>
        </p:spPr>
        <p:txBody>
          <a:bodyPr wrap="square" lIns="0" tIns="0" rIns="0" bIns="0" rtlCol="0" anchor="ctr"/>
          <a:lstStyle/>
          <a:p>
            <a:pPr algn="ctr" indent="0" marL="0">
              <a:buNone/>
            </a:pPr>
            <a:r>
              <a:rPr lang="en-US" sz="1100" dirty="0">
                <a:solidFill>
                  <a:srgbClr val="0F1B40"/>
                </a:solidFill>
                <a:latin typeface="Calibri" pitchFamily="34" charset="0"/>
                <a:ea typeface="Calibri" pitchFamily="34" charset="-122"/>
                <a:cs typeface="Calibri" pitchFamily="34" charset="-120"/>
              </a:rPr>
              <a:t>8%</a:t>
            </a:r>
            <a:endParaRPr lang="en-US" sz="1100" dirty="0"/>
          </a:p>
        </p:txBody>
      </p:sp>
      <p:pic>
        <p:nvPicPr>
          <p:cNvPr id="27" name="Image 0" descr="C:\Users\Ravin\AppData\Local\Temp\claude\D--Projects-FYP-demo-site\7c41a152-688c-4cf7-a8dd-5ea6f53eb77e\scratchpad\eval\img\p15_0.png">    </p:cNvPr>
          <p:cNvPicPr>
            <a:picLocks noChangeAspect="1"/>
          </p:cNvPicPr>
          <p:nvPr/>
        </p:nvPicPr>
        <p:blipFill>
          <a:blip r:embed="rId1"/>
          <a:stretch>
            <a:fillRect/>
          </a:stretch>
        </p:blipFill>
        <p:spPr>
          <a:xfrm>
            <a:off x="3977640" y="1023892"/>
            <a:ext cx="7680960" cy="3758655"/>
          </a:xfrm>
          <a:prstGeom prst="rect">
            <a:avLst/>
          </a:prstGeom>
        </p:spPr>
      </p:pic>
      <p:sp>
        <p:nvSpPr>
          <p:cNvPr id="28" name="Text 25"/>
          <p:cNvSpPr/>
          <p:nvPr/>
        </p:nvSpPr>
        <p:spPr>
          <a:xfrm>
            <a:off x="4206240" y="4983480"/>
            <a:ext cx="7315200" cy="1097280"/>
          </a:xfrm>
          <a:prstGeom prst="rect">
            <a:avLst/>
          </a:prstGeom>
          <a:noFill/>
          <a:ln/>
        </p:spPr>
        <p:txBody>
          <a:bodyPr wrap="square" lIns="0" tIns="0" rIns="0" bIns="0" rtlCol="0" anchor="t"/>
          <a:lstStyle/>
          <a:p>
            <a:pPr marL="342900" indent="-342900">
              <a:spcAft>
                <a:spcPts val="600"/>
              </a:spcAft>
              <a:buSzPct val="100000"/>
              <a:buChar char="•"/>
            </a:pPr>
            <a:r>
              <a:rPr lang="en-US" sz="1250" b="1" dirty="0">
                <a:solidFill>
                  <a:srgbClr val="0F1B40"/>
                </a:solidFill>
                <a:latin typeface="Calibri" pitchFamily="34" charset="0"/>
                <a:ea typeface="Calibri" pitchFamily="34" charset="-122"/>
                <a:cs typeface="Calibri" pitchFamily="34" charset="-120"/>
              </a:rPr>
              <a:t>Run for 5 days -&gt; 750 events; a new campaign ID and knowledge snapshot per day.</a:t>
            </a:r>
            <a:endParaRPr lang="en-US" sz="1250" dirty="0"/>
          </a:p>
          <a:p>
            <a:pPr marL="342900" indent="-342900">
              <a:spcAft>
                <a:spcPts val="600"/>
              </a:spcAft>
              <a:buSzPct val="100000"/>
              <a:buChar char="•"/>
            </a:pPr>
            <a:r>
              <a:rPr lang="en-US" sz="1250" b="1" dirty="0">
                <a:solidFill>
                  <a:srgbClr val="0F1B40"/>
                </a:solidFill>
                <a:latin typeface="Calibri" pitchFamily="34" charset="0"/>
                <a:ea typeface="Calibri" pitchFamily="34" charset="-122"/>
                <a:cs typeface="Calibri" pitchFamily="34" charset="-120"/>
              </a:rPr>
              <a:t>Minimum 80 s safety buffer between slot start times.</a:t>
            </a:r>
            <a:endParaRPr lang="en-US" sz="1250" dirty="0"/>
          </a:p>
          <a:p>
            <a:pPr marL="342900" indent="-342900">
              <a:spcAft>
                <a:spcPts val="600"/>
              </a:spcAft>
              <a:buSzPct val="100000"/>
              <a:buChar char="•"/>
            </a:pPr>
            <a:r>
              <a:rPr lang="en-US" sz="1250" b="1" dirty="0">
                <a:solidFill>
                  <a:srgbClr val="0F1B40"/>
                </a:solidFill>
                <a:latin typeface="Calibri" pitchFamily="34" charset="0"/>
                <a:ea typeface="Calibri" pitchFamily="34" charset="-122"/>
                <a:cs typeface="Calibri" pitchFamily="34" charset="-120"/>
              </a:rPr>
              <a:t>Checkpoints at baseline, 50, 100 and 150 successful persisted events.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1F1F6"/>
        </a:solidFill>
      </p:bgPr>
    </p:bg>
    <p:spTree>
      <p:nvGrpSpPr>
        <p:cNvPr id="1" name=""/>
        <p:cNvGrpSpPr/>
        <p:nvPr/>
      </p:nvGrpSpPr>
      <p:grpSpPr>
        <a:xfrm>
          <a:off x="0" y="0"/>
          <a:ext cx="0" cy="0"/>
          <a:chOff x="0" y="0"/>
          <a:chExt cx="0" cy="0"/>
        </a:xfrm>
      </p:grpSpPr>
      <p:sp>
        <p:nvSpPr>
          <p:cNvPr id="2" name="Shape 0"/>
          <p:cNvSpPr/>
          <p:nvPr/>
        </p:nvSpPr>
        <p:spPr>
          <a:xfrm>
            <a:off x="-1005840" y="-822960"/>
            <a:ext cx="3383280" cy="2834640"/>
          </a:xfrm>
          <a:prstGeom prst="roundRect">
            <a:avLst>
              <a:gd name="adj" fmla="val 9677"/>
            </a:avLst>
          </a:prstGeom>
          <a:solidFill>
            <a:srgbClr val="DBE2EB"/>
          </a:solidFill>
          <a:ln w="12700">
            <a:solidFill>
              <a:srgbClr val="DBE2EB"/>
            </a:solidFill>
            <a:prstDash val="solid"/>
          </a:ln>
        </p:spPr>
      </p:sp>
      <p:sp>
        <p:nvSpPr>
          <p:cNvPr id="3" name="Text 1"/>
          <p:cNvSpPr/>
          <p:nvPr/>
        </p:nvSpPr>
        <p:spPr>
          <a:xfrm>
            <a:off x="502920" y="219456"/>
            <a:ext cx="11185855" cy="658368"/>
          </a:xfrm>
          <a:prstGeom prst="rect">
            <a:avLst/>
          </a:prstGeom>
          <a:noFill/>
          <a:ln/>
        </p:spPr>
        <p:txBody>
          <a:bodyPr wrap="square" lIns="0" tIns="0" rIns="0" bIns="0" rtlCol="0" anchor="ctr"/>
          <a:lstStyle/>
          <a:p>
            <a:pPr indent="0" marL="0">
              <a:buNone/>
            </a:pPr>
            <a:r>
              <a:rPr lang="en-US" sz="2900" b="1" dirty="0">
                <a:solidFill>
                  <a:srgbClr val="0F1B40"/>
                </a:solidFill>
                <a:latin typeface="Arial" pitchFamily="34" charset="0"/>
                <a:ea typeface="Arial" pitchFamily="34" charset="-122"/>
                <a:cs typeface="Arial" pitchFamily="34" charset="-120"/>
              </a:rPr>
              <a:t>Measured Intelligence Growth</a:t>
            </a:r>
            <a:endParaRPr lang="en-US" sz="2900" dirty="0"/>
          </a:p>
        </p:txBody>
      </p:sp>
      <p:sp>
        <p:nvSpPr>
          <p:cNvPr id="4" name="Shape 2"/>
          <p:cNvSpPr/>
          <p:nvPr/>
        </p:nvSpPr>
        <p:spPr>
          <a:xfrm>
            <a:off x="11478463" y="6236208"/>
            <a:ext cx="384048" cy="384048"/>
          </a:xfrm>
          <a:prstGeom prst="ellipse">
            <a:avLst/>
          </a:prstGeom>
          <a:solidFill>
            <a:srgbClr val="8FA3C1"/>
          </a:solidFill>
          <a:ln w="12700">
            <a:solidFill>
              <a:srgbClr val="8FA3C1"/>
            </a:solidFill>
            <a:prstDash val="solid"/>
          </a:ln>
        </p:spPr>
      </p:sp>
      <p:sp>
        <p:nvSpPr>
          <p:cNvPr id="5" name="Text 3"/>
          <p:cNvSpPr/>
          <p:nvPr/>
        </p:nvSpPr>
        <p:spPr>
          <a:xfrm>
            <a:off x="11478463" y="6236208"/>
            <a:ext cx="384048" cy="384048"/>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18</a:t>
            </a:r>
            <a:endParaRPr lang="en-US" sz="1100" dirty="0"/>
          </a:p>
        </p:txBody>
      </p:sp>
      <p:graphicFrame>
        <p:nvGraphicFramePr>
          <p:cNvPr id="6" name="Chart 0" descr=""/>
          <p:cNvGraphicFramePr/>
          <p:nvPr/>
        </p:nvGraphicFramePr>
        <p:xfrm>
          <a:off x="502920" y="1005840"/>
          <a:ext cx="7223760" cy="43434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502920" y="5413248"/>
            <a:ext cx="7223760" cy="274320"/>
          </a:xfrm>
          <a:prstGeom prst="rect">
            <a:avLst/>
          </a:prstGeom>
          <a:noFill/>
          <a:ln/>
        </p:spPr>
        <p:txBody>
          <a:bodyPr wrap="square" lIns="0" tIns="0" rIns="0" bIns="0" rtlCol="0" anchor="t"/>
          <a:lstStyle/>
          <a:p>
            <a:pPr algn="ctr" indent="0" marL="0">
              <a:buNone/>
            </a:pPr>
            <a:r>
              <a:rPr lang="en-US" sz="1100" i="1" dirty="0">
                <a:solidFill>
                  <a:srgbClr val="6B7688"/>
                </a:solidFill>
                <a:latin typeface="Calibri" pitchFamily="34" charset="0"/>
                <a:ea typeface="Calibri" pitchFamily="34" charset="-122"/>
                <a:cs typeface="Calibri" pitchFamily="34" charset="-120"/>
              </a:rPr>
              <a:t>Nine complete measurement sessions, Region 1 (S1 = earliest)</a:t>
            </a:r>
            <a:endParaRPr lang="en-US" sz="1100" dirty="0"/>
          </a:p>
        </p:txBody>
      </p:sp>
      <p:sp>
        <p:nvSpPr>
          <p:cNvPr id="8" name="Shape 5"/>
          <p:cNvSpPr/>
          <p:nvPr/>
        </p:nvSpPr>
        <p:spPr>
          <a:xfrm>
            <a:off x="7955280" y="1005840"/>
            <a:ext cx="3730752" cy="1207008"/>
          </a:xfrm>
          <a:prstGeom prst="rect">
            <a:avLst/>
          </a:prstGeom>
          <a:solidFill>
            <a:srgbClr val="0E7490"/>
          </a:solidFill>
          <a:ln w="12700">
            <a:solidFill>
              <a:srgbClr val="333333"/>
            </a:solidFill>
            <a:prstDash val="solid"/>
          </a:ln>
        </p:spPr>
      </p:sp>
      <p:sp>
        <p:nvSpPr>
          <p:cNvPr id="9" name="Text 6"/>
          <p:cNvSpPr/>
          <p:nvPr/>
        </p:nvSpPr>
        <p:spPr>
          <a:xfrm>
            <a:off x="8138160" y="1170432"/>
            <a:ext cx="338328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30.6%  -&gt;  75.6%</a:t>
            </a:r>
            <a:endParaRPr lang="en-US" sz="2600" dirty="0"/>
          </a:p>
        </p:txBody>
      </p:sp>
      <p:sp>
        <p:nvSpPr>
          <p:cNvPr id="10" name="Text 7"/>
          <p:cNvSpPr/>
          <p:nvPr/>
        </p:nvSpPr>
        <p:spPr>
          <a:xfrm>
            <a:off x="8138160" y="1700784"/>
            <a:ext cx="3383280" cy="365760"/>
          </a:xfrm>
          <a:prstGeom prst="rect">
            <a:avLst/>
          </a:prstGeom>
          <a:noFill/>
          <a:ln/>
        </p:spPr>
        <p:txBody>
          <a:bodyPr wrap="square" lIns="0" tIns="0" rIns="0" bIns="0" rtlCol="0" anchor="ctr"/>
          <a:lstStyle/>
          <a:p>
            <a:pPr indent="0" marL="0">
              <a:buNone/>
            </a:pPr>
            <a:r>
              <a:rPr lang="en-US" sz="1150" dirty="0">
                <a:solidFill>
                  <a:srgbClr val="D2EAF2"/>
                </a:solidFill>
                <a:latin typeface="Calibri" pitchFamily="34" charset="0"/>
                <a:ea typeface="Calibri" pitchFamily="34" charset="-122"/>
                <a:cs typeface="Calibri" pitchFamily="34" charset="-120"/>
              </a:rPr>
              <a:t>overall closed-loop intelligence score</a:t>
            </a:r>
            <a:endParaRPr lang="en-US" sz="1150" dirty="0"/>
          </a:p>
        </p:txBody>
      </p:sp>
      <p:sp>
        <p:nvSpPr>
          <p:cNvPr id="11" name="Shape 8"/>
          <p:cNvSpPr/>
          <p:nvPr/>
        </p:nvSpPr>
        <p:spPr>
          <a:xfrm>
            <a:off x="7955280" y="2359152"/>
            <a:ext cx="3730752" cy="576072"/>
          </a:xfrm>
          <a:prstGeom prst="roundRect">
            <a:avLst>
              <a:gd name="adj" fmla="val 9524"/>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12" name="Text 9"/>
          <p:cNvSpPr/>
          <p:nvPr/>
        </p:nvSpPr>
        <p:spPr>
          <a:xfrm>
            <a:off x="8138160" y="2359152"/>
            <a:ext cx="960120" cy="576072"/>
          </a:xfrm>
          <a:prstGeom prst="rect">
            <a:avLst/>
          </a:prstGeom>
          <a:noFill/>
          <a:ln/>
        </p:spPr>
        <p:txBody>
          <a:bodyPr wrap="square" lIns="0" tIns="0" rIns="0" bIns="0" rtlCol="0" anchor="ctr"/>
          <a:lstStyle/>
          <a:p>
            <a:pPr indent="0" marL="0">
              <a:buNone/>
            </a:pPr>
            <a:r>
              <a:rPr lang="en-US" sz="1600" b="1" dirty="0">
                <a:solidFill>
                  <a:srgbClr val="16A34A"/>
                </a:solidFill>
                <a:latin typeface="Arial" pitchFamily="34" charset="0"/>
                <a:ea typeface="Arial" pitchFamily="34" charset="-122"/>
                <a:cs typeface="Arial" pitchFamily="34" charset="-120"/>
              </a:rPr>
              <a:t>100%</a:t>
            </a:r>
            <a:endParaRPr lang="en-US" sz="1600" dirty="0"/>
          </a:p>
        </p:txBody>
      </p:sp>
      <p:sp>
        <p:nvSpPr>
          <p:cNvPr id="13" name="Text 10"/>
          <p:cNvSpPr/>
          <p:nvPr/>
        </p:nvSpPr>
        <p:spPr>
          <a:xfrm>
            <a:off x="9144000" y="2359152"/>
            <a:ext cx="2423160" cy="576072"/>
          </a:xfrm>
          <a:prstGeom prst="rect">
            <a:avLst/>
          </a:prstGeom>
          <a:noFill/>
          <a:ln/>
        </p:spPr>
        <p:txBody>
          <a:bodyPr wrap="square" lIns="0" tIns="0" rIns="0" bIns="0" rtlCol="0" anchor="ctr"/>
          <a:lstStyle/>
          <a:p>
            <a:pPr indent="0" marL="0">
              <a:buNone/>
            </a:pPr>
            <a:r>
              <a:rPr lang="en-US" sz="1100" dirty="0">
                <a:solidFill>
                  <a:srgbClr val="3B4557"/>
                </a:solidFill>
                <a:latin typeface="Calibri" pitchFamily="34" charset="0"/>
                <a:ea typeface="Calibri" pitchFamily="34" charset="-122"/>
                <a:cs typeface="Calibri" pitchFamily="34" charset="-120"/>
              </a:rPr>
              <a:t>LLM generation reliability</a:t>
            </a:r>
            <a:endParaRPr lang="en-US" sz="1100" dirty="0"/>
          </a:p>
        </p:txBody>
      </p:sp>
      <p:sp>
        <p:nvSpPr>
          <p:cNvPr id="14" name="Shape 11"/>
          <p:cNvSpPr/>
          <p:nvPr/>
        </p:nvSpPr>
        <p:spPr>
          <a:xfrm>
            <a:off x="7955280" y="3044952"/>
            <a:ext cx="3730752" cy="576072"/>
          </a:xfrm>
          <a:prstGeom prst="roundRect">
            <a:avLst>
              <a:gd name="adj" fmla="val 9524"/>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15" name="Text 12"/>
          <p:cNvSpPr/>
          <p:nvPr/>
        </p:nvSpPr>
        <p:spPr>
          <a:xfrm>
            <a:off x="8138160" y="3044952"/>
            <a:ext cx="960120" cy="576072"/>
          </a:xfrm>
          <a:prstGeom prst="rect">
            <a:avLst/>
          </a:prstGeom>
          <a:noFill/>
          <a:ln/>
        </p:spPr>
        <p:txBody>
          <a:bodyPr wrap="square" lIns="0" tIns="0" rIns="0" bIns="0" rtlCol="0" anchor="ctr"/>
          <a:lstStyle/>
          <a:p>
            <a:pPr indent="0" marL="0">
              <a:buNone/>
            </a:pPr>
            <a:r>
              <a:rPr lang="en-US" sz="1600" b="1" dirty="0">
                <a:solidFill>
                  <a:srgbClr val="16A34A"/>
                </a:solidFill>
                <a:latin typeface="Arial" pitchFamily="34" charset="0"/>
                <a:ea typeface="Arial" pitchFamily="34" charset="-122"/>
                <a:cs typeface="Arial" pitchFamily="34" charset="-120"/>
              </a:rPr>
              <a:t>100%</a:t>
            </a:r>
            <a:endParaRPr lang="en-US" sz="1600" dirty="0"/>
          </a:p>
        </p:txBody>
      </p:sp>
      <p:sp>
        <p:nvSpPr>
          <p:cNvPr id="16" name="Text 13"/>
          <p:cNvSpPr/>
          <p:nvPr/>
        </p:nvSpPr>
        <p:spPr>
          <a:xfrm>
            <a:off x="9144000" y="3044952"/>
            <a:ext cx="2423160" cy="576072"/>
          </a:xfrm>
          <a:prstGeom prst="rect">
            <a:avLst/>
          </a:prstGeom>
          <a:noFill/>
          <a:ln/>
        </p:spPr>
        <p:txBody>
          <a:bodyPr wrap="square" lIns="0" tIns="0" rIns="0" bIns="0" rtlCol="0" anchor="ctr"/>
          <a:lstStyle/>
          <a:p>
            <a:pPr indent="0" marL="0">
              <a:buNone/>
            </a:pPr>
            <a:r>
              <a:rPr lang="en-US" sz="1100" dirty="0">
                <a:solidFill>
                  <a:srgbClr val="3B4557"/>
                </a:solidFill>
                <a:latin typeface="Calibri" pitchFamily="34" charset="0"/>
                <a:ea typeface="Calibri" pitchFamily="34" charset="-122"/>
                <a:cs typeface="Calibri" pitchFamily="34" charset="-120"/>
              </a:rPr>
              <a:t>End-to-end detector capture</a:t>
            </a:r>
            <a:endParaRPr lang="en-US" sz="1100" dirty="0"/>
          </a:p>
        </p:txBody>
      </p:sp>
      <p:sp>
        <p:nvSpPr>
          <p:cNvPr id="17" name="Shape 14"/>
          <p:cNvSpPr/>
          <p:nvPr/>
        </p:nvSpPr>
        <p:spPr>
          <a:xfrm>
            <a:off x="7955280" y="3730752"/>
            <a:ext cx="3730752" cy="576072"/>
          </a:xfrm>
          <a:prstGeom prst="roundRect">
            <a:avLst>
              <a:gd name="adj" fmla="val 9524"/>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18" name="Text 15"/>
          <p:cNvSpPr/>
          <p:nvPr/>
        </p:nvSpPr>
        <p:spPr>
          <a:xfrm>
            <a:off x="8138160" y="3730752"/>
            <a:ext cx="960120" cy="576072"/>
          </a:xfrm>
          <a:prstGeom prst="rect">
            <a:avLst/>
          </a:prstGeom>
          <a:noFill/>
          <a:ln/>
        </p:spPr>
        <p:txBody>
          <a:bodyPr wrap="square" lIns="0" tIns="0" rIns="0" bIns="0" rtlCol="0" anchor="ctr"/>
          <a:lstStyle/>
          <a:p>
            <a:pPr indent="0" marL="0">
              <a:buNone/>
            </a:pPr>
            <a:r>
              <a:rPr lang="en-US" sz="1600" b="1" dirty="0">
                <a:solidFill>
                  <a:srgbClr val="D97706"/>
                </a:solidFill>
                <a:latin typeface="Arial" pitchFamily="34" charset="0"/>
                <a:ea typeface="Arial" pitchFamily="34" charset="-122"/>
                <a:cs typeface="Arial" pitchFamily="34" charset="-120"/>
              </a:rPr>
              <a:t>71.4%</a:t>
            </a:r>
            <a:endParaRPr lang="en-US" sz="1600" dirty="0"/>
          </a:p>
        </p:txBody>
      </p:sp>
      <p:sp>
        <p:nvSpPr>
          <p:cNvPr id="19" name="Text 16"/>
          <p:cNvSpPr/>
          <p:nvPr/>
        </p:nvSpPr>
        <p:spPr>
          <a:xfrm>
            <a:off x="9144000" y="3730752"/>
            <a:ext cx="2423160" cy="576072"/>
          </a:xfrm>
          <a:prstGeom prst="rect">
            <a:avLst/>
          </a:prstGeom>
          <a:noFill/>
          <a:ln/>
        </p:spPr>
        <p:txBody>
          <a:bodyPr wrap="square" lIns="0" tIns="0" rIns="0" bIns="0" rtlCol="0" anchor="ctr"/>
          <a:lstStyle/>
          <a:p>
            <a:pPr indent="0" marL="0">
              <a:buNone/>
            </a:pPr>
            <a:r>
              <a:rPr lang="en-US" sz="1100" dirty="0">
                <a:solidFill>
                  <a:srgbClr val="3B4557"/>
                </a:solidFill>
                <a:latin typeface="Calibri" pitchFamily="34" charset="0"/>
                <a:ea typeface="Calibri" pitchFamily="34" charset="-122"/>
                <a:cs typeface="Calibri" pitchFamily="34" charset="-120"/>
              </a:rPr>
              <a:t>Severity accuracy</a:t>
            </a:r>
            <a:endParaRPr lang="en-US" sz="1100" dirty="0"/>
          </a:p>
        </p:txBody>
      </p:sp>
      <p:sp>
        <p:nvSpPr>
          <p:cNvPr id="20" name="Shape 17"/>
          <p:cNvSpPr/>
          <p:nvPr/>
        </p:nvSpPr>
        <p:spPr>
          <a:xfrm>
            <a:off x="7955280" y="4416552"/>
            <a:ext cx="3730752" cy="576072"/>
          </a:xfrm>
          <a:prstGeom prst="roundRect">
            <a:avLst>
              <a:gd name="adj" fmla="val 9524"/>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21" name="Text 18"/>
          <p:cNvSpPr/>
          <p:nvPr/>
        </p:nvSpPr>
        <p:spPr>
          <a:xfrm>
            <a:off x="8138160" y="4416552"/>
            <a:ext cx="960120" cy="576072"/>
          </a:xfrm>
          <a:prstGeom prst="rect">
            <a:avLst/>
          </a:prstGeom>
          <a:noFill/>
          <a:ln/>
        </p:spPr>
        <p:txBody>
          <a:bodyPr wrap="square" lIns="0" tIns="0" rIns="0" bIns="0" rtlCol="0" anchor="ctr"/>
          <a:lstStyle/>
          <a:p>
            <a:pPr indent="0" marL="0">
              <a:buNone/>
            </a:pPr>
            <a:r>
              <a:rPr lang="en-US" sz="1600" b="1" dirty="0">
                <a:solidFill>
                  <a:srgbClr val="7C3AED"/>
                </a:solidFill>
                <a:latin typeface="Arial" pitchFamily="34" charset="0"/>
                <a:ea typeface="Arial" pitchFamily="34" charset="-122"/>
                <a:cs typeface="Arial" pitchFamily="34" charset="-120"/>
              </a:rPr>
              <a:t>54.2%</a:t>
            </a:r>
            <a:endParaRPr lang="en-US" sz="1600" dirty="0"/>
          </a:p>
        </p:txBody>
      </p:sp>
      <p:sp>
        <p:nvSpPr>
          <p:cNvPr id="22" name="Text 19"/>
          <p:cNvSpPr/>
          <p:nvPr/>
        </p:nvSpPr>
        <p:spPr>
          <a:xfrm>
            <a:off x="9144000" y="4416552"/>
            <a:ext cx="2423160" cy="576072"/>
          </a:xfrm>
          <a:prstGeom prst="rect">
            <a:avLst/>
          </a:prstGeom>
          <a:noFill/>
          <a:ln/>
        </p:spPr>
        <p:txBody>
          <a:bodyPr wrap="square" lIns="0" tIns="0" rIns="0" bIns="0" rtlCol="0" anchor="ctr"/>
          <a:lstStyle/>
          <a:p>
            <a:pPr indent="0" marL="0">
              <a:buNone/>
            </a:pPr>
            <a:r>
              <a:rPr lang="en-US" sz="1100" dirty="0">
                <a:solidFill>
                  <a:srgbClr val="3B4557"/>
                </a:solidFill>
                <a:latin typeface="Calibri" pitchFamily="34" charset="0"/>
                <a:ea typeface="Calibri" pitchFamily="34" charset="-122"/>
                <a:cs typeface="Calibri" pitchFamily="34" charset="-120"/>
              </a:rPr>
              <a:t>Grounded Recall@3</a:t>
            </a:r>
            <a:endParaRPr lang="en-US" sz="1100" dirty="0"/>
          </a:p>
        </p:txBody>
      </p:sp>
      <p:sp>
        <p:nvSpPr>
          <p:cNvPr id="23" name="Shape 20"/>
          <p:cNvSpPr/>
          <p:nvPr/>
        </p:nvSpPr>
        <p:spPr>
          <a:xfrm>
            <a:off x="7955280" y="5138928"/>
            <a:ext cx="3730752" cy="841248"/>
          </a:xfrm>
          <a:prstGeom prst="rect">
            <a:avLst/>
          </a:prstGeom>
          <a:solidFill>
            <a:srgbClr val="E9EEF7"/>
          </a:solidFill>
          <a:ln w="12700">
            <a:solidFill>
              <a:srgbClr val="333333"/>
            </a:solidFill>
            <a:prstDash val="solid"/>
          </a:ln>
        </p:spPr>
      </p:sp>
      <p:sp>
        <p:nvSpPr>
          <p:cNvPr id="24" name="Text 21"/>
          <p:cNvSpPr/>
          <p:nvPr/>
        </p:nvSpPr>
        <p:spPr>
          <a:xfrm>
            <a:off x="8101584" y="5230368"/>
            <a:ext cx="3474720" cy="274320"/>
          </a:xfrm>
          <a:prstGeom prst="rect">
            <a:avLst/>
          </a:prstGeom>
          <a:noFill/>
          <a:ln/>
        </p:spPr>
        <p:txBody>
          <a:bodyPr wrap="square" lIns="0" tIns="0" rIns="0" bIns="0" rtlCol="0" anchor="ctr"/>
          <a:lstStyle/>
          <a:p>
            <a:pPr indent="0" marL="0">
              <a:buNone/>
            </a:pPr>
            <a:r>
              <a:rPr lang="en-US" sz="1100" b="1" dirty="0">
                <a:solidFill>
                  <a:srgbClr val="0F1B40"/>
                </a:solidFill>
                <a:latin typeface="Calibri" pitchFamily="34" charset="0"/>
                <a:ea typeface="Calibri" pitchFamily="34" charset="-122"/>
                <a:cs typeface="Calibri" pitchFamily="34" charset="-120"/>
              </a:rPr>
              <a:t>Mean 64.4%  ·  SD 12.6 pp  ·  n = 9</a:t>
            </a:r>
            <a:endParaRPr lang="en-US" sz="1100" dirty="0"/>
          </a:p>
        </p:txBody>
      </p:sp>
      <p:sp>
        <p:nvSpPr>
          <p:cNvPr id="25" name="Text 22"/>
          <p:cNvSpPr/>
          <p:nvPr/>
        </p:nvSpPr>
        <p:spPr>
          <a:xfrm>
            <a:off x="8101584" y="5504688"/>
            <a:ext cx="3474720" cy="402336"/>
          </a:xfrm>
          <a:prstGeom prst="rect">
            <a:avLst/>
          </a:prstGeom>
          <a:noFill/>
          <a:ln/>
        </p:spPr>
        <p:txBody>
          <a:bodyPr wrap="square" lIns="0" tIns="0" rIns="0" bIns="0" rtlCol="0" anchor="t"/>
          <a:lstStyle/>
          <a:p>
            <a:pPr indent="0" marL="0">
              <a:lnSpc>
                <a:spcPts val="1200"/>
              </a:lnSpc>
              <a:buNone/>
            </a:pPr>
            <a:r>
              <a:rPr lang="en-US" sz="1000" dirty="0">
                <a:solidFill>
                  <a:srgbClr val="3B4557"/>
                </a:solidFill>
                <a:latin typeface="Calibri" pitchFamily="34" charset="0"/>
                <a:ea typeface="Calibri" pitchFamily="34" charset="-122"/>
                <a:cs typeface="Calibri" pitchFamily="34" charset="-120"/>
              </a:rPr>
              <a:t>Retrieval grounding and routing remain the main improvement areas.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1F1F6"/>
        </a:solidFill>
      </p:bgPr>
    </p:bg>
    <p:spTree>
      <p:nvGrpSpPr>
        <p:cNvPr id="1" name=""/>
        <p:cNvGrpSpPr/>
        <p:nvPr/>
      </p:nvGrpSpPr>
      <p:grpSpPr>
        <a:xfrm>
          <a:off x="0" y="0"/>
          <a:ext cx="0" cy="0"/>
          <a:chOff x="0" y="0"/>
          <a:chExt cx="0" cy="0"/>
        </a:xfrm>
      </p:grpSpPr>
      <p:sp>
        <p:nvSpPr>
          <p:cNvPr id="2" name="Shape 0"/>
          <p:cNvSpPr/>
          <p:nvPr/>
        </p:nvSpPr>
        <p:spPr>
          <a:xfrm>
            <a:off x="-1005840" y="-822960"/>
            <a:ext cx="3383280" cy="2834640"/>
          </a:xfrm>
          <a:prstGeom prst="roundRect">
            <a:avLst>
              <a:gd name="adj" fmla="val 9677"/>
            </a:avLst>
          </a:prstGeom>
          <a:solidFill>
            <a:srgbClr val="DBE2EB"/>
          </a:solidFill>
          <a:ln w="12700">
            <a:solidFill>
              <a:srgbClr val="DBE2EB"/>
            </a:solidFill>
            <a:prstDash val="solid"/>
          </a:ln>
        </p:spPr>
      </p:sp>
      <p:sp>
        <p:nvSpPr>
          <p:cNvPr id="3" name="Text 1"/>
          <p:cNvSpPr/>
          <p:nvPr/>
        </p:nvSpPr>
        <p:spPr>
          <a:xfrm>
            <a:off x="502920" y="219456"/>
            <a:ext cx="11185855" cy="658368"/>
          </a:xfrm>
          <a:prstGeom prst="rect">
            <a:avLst/>
          </a:prstGeom>
          <a:noFill/>
          <a:ln/>
        </p:spPr>
        <p:txBody>
          <a:bodyPr wrap="square" lIns="0" tIns="0" rIns="0" bIns="0" rtlCol="0" anchor="ctr"/>
          <a:lstStyle/>
          <a:p>
            <a:pPr indent="0" marL="0">
              <a:buNone/>
            </a:pPr>
            <a:r>
              <a:rPr lang="en-US" sz="2900" b="1" dirty="0">
                <a:solidFill>
                  <a:srgbClr val="0F1B40"/>
                </a:solidFill>
                <a:latin typeface="Arial" pitchFamily="34" charset="0"/>
                <a:ea typeface="Arial" pitchFamily="34" charset="-122"/>
                <a:cs typeface="Arial" pitchFamily="34" charset="-120"/>
              </a:rPr>
              <a:t>Automated Mitigation Results</a:t>
            </a:r>
            <a:endParaRPr lang="en-US" sz="2900" dirty="0"/>
          </a:p>
        </p:txBody>
      </p:sp>
      <p:sp>
        <p:nvSpPr>
          <p:cNvPr id="4" name="Shape 2"/>
          <p:cNvSpPr/>
          <p:nvPr/>
        </p:nvSpPr>
        <p:spPr>
          <a:xfrm>
            <a:off x="11478463" y="6236208"/>
            <a:ext cx="384048" cy="384048"/>
          </a:xfrm>
          <a:prstGeom prst="ellipse">
            <a:avLst/>
          </a:prstGeom>
          <a:solidFill>
            <a:srgbClr val="8FA3C1"/>
          </a:solidFill>
          <a:ln w="12700">
            <a:solidFill>
              <a:srgbClr val="8FA3C1"/>
            </a:solidFill>
            <a:prstDash val="solid"/>
          </a:ln>
        </p:spPr>
      </p:sp>
      <p:sp>
        <p:nvSpPr>
          <p:cNvPr id="5" name="Text 3"/>
          <p:cNvSpPr/>
          <p:nvPr/>
        </p:nvSpPr>
        <p:spPr>
          <a:xfrm>
            <a:off x="11478463" y="6236208"/>
            <a:ext cx="384048" cy="384048"/>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19</a:t>
            </a:r>
            <a:endParaRPr lang="en-US" sz="1100" dirty="0"/>
          </a:p>
        </p:txBody>
      </p:sp>
      <p:sp>
        <p:nvSpPr>
          <p:cNvPr id="6" name="Shape 4"/>
          <p:cNvSpPr/>
          <p:nvPr/>
        </p:nvSpPr>
        <p:spPr>
          <a:xfrm>
            <a:off x="502920" y="1005840"/>
            <a:ext cx="5074920" cy="2788920"/>
          </a:xfrm>
          <a:prstGeom prst="roundRect">
            <a:avLst>
              <a:gd name="adj" fmla="val 1967"/>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pic>
        <p:nvPicPr>
          <p:cNvPr id="7" name="Image 0" descr="C:\Users\Ravin\AppData\Local\Temp\claude\D--Projects-FYP-demo-site\7c41a152-688c-4cf7-a8dd-5ea6f53eb77e\scratchpad\eval\img\ev_mttm.png">    </p:cNvPr>
          <p:cNvPicPr>
            <a:picLocks noChangeAspect="1"/>
          </p:cNvPicPr>
          <p:nvPr/>
        </p:nvPicPr>
        <p:blipFill>
          <a:blip r:embed="rId1"/>
          <a:stretch>
            <a:fillRect/>
          </a:stretch>
        </p:blipFill>
        <p:spPr>
          <a:xfrm>
            <a:off x="946213" y="1115568"/>
            <a:ext cx="4188334" cy="2423160"/>
          </a:xfrm>
          <a:prstGeom prst="rect">
            <a:avLst/>
          </a:prstGeom>
        </p:spPr>
      </p:pic>
      <p:sp>
        <p:nvSpPr>
          <p:cNvPr id="8" name="Text 5"/>
          <p:cNvSpPr/>
          <p:nvPr/>
        </p:nvSpPr>
        <p:spPr>
          <a:xfrm>
            <a:off x="502920" y="3584448"/>
            <a:ext cx="5074920" cy="237744"/>
          </a:xfrm>
          <a:prstGeom prst="rect">
            <a:avLst/>
          </a:prstGeom>
          <a:noFill/>
          <a:ln/>
        </p:spPr>
        <p:txBody>
          <a:bodyPr wrap="square" lIns="0" tIns="0" rIns="0" bIns="0" rtlCol="0" anchor="t"/>
          <a:lstStyle/>
          <a:p>
            <a:pPr algn="ctr" indent="0" marL="0">
              <a:buNone/>
            </a:pPr>
            <a:r>
              <a:rPr lang="en-US" sz="950" i="1" dirty="0">
                <a:solidFill>
                  <a:srgbClr val="6B7688"/>
                </a:solidFill>
                <a:latin typeface="Calibri" pitchFamily="34" charset="0"/>
                <a:ea typeface="Calibri" pitchFamily="34" charset="-122"/>
                <a:cs typeface="Calibri" pitchFamily="34" charset="-120"/>
              </a:rPr>
              <a:t>Mean time-to-mitigate over N = 10 bounded quarantine runs</a:t>
            </a:r>
            <a:endParaRPr lang="en-US" sz="950" dirty="0"/>
          </a:p>
        </p:txBody>
      </p:sp>
      <p:sp>
        <p:nvSpPr>
          <p:cNvPr id="9" name="Shape 6"/>
          <p:cNvSpPr/>
          <p:nvPr/>
        </p:nvSpPr>
        <p:spPr>
          <a:xfrm>
            <a:off x="502920" y="3950208"/>
            <a:ext cx="5074920" cy="2377440"/>
          </a:xfrm>
          <a:prstGeom prst="roundRect">
            <a:avLst>
              <a:gd name="adj" fmla="val 2308"/>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pic>
        <p:nvPicPr>
          <p:cNvPr id="10" name="Image 1" descr="C:\Users\Ravin\AppData\Local\Temp\claude\D--Projects-FYP-demo-site\7c41a152-688c-4cf7-a8dd-5ea6f53eb77e\scratchpad\eval\img\ev_mitigation_lifecycle.png">    </p:cNvPr>
          <p:cNvPicPr>
            <a:picLocks noChangeAspect="1"/>
          </p:cNvPicPr>
          <p:nvPr/>
        </p:nvPicPr>
        <p:blipFill>
          <a:blip r:embed="rId2"/>
          <a:stretch>
            <a:fillRect/>
          </a:stretch>
        </p:blipFill>
        <p:spPr>
          <a:xfrm>
            <a:off x="1194480" y="4059936"/>
            <a:ext cx="3691800" cy="1920240"/>
          </a:xfrm>
          <a:prstGeom prst="rect">
            <a:avLst/>
          </a:prstGeom>
        </p:spPr>
      </p:pic>
      <p:sp>
        <p:nvSpPr>
          <p:cNvPr id="11" name="Text 7"/>
          <p:cNvSpPr/>
          <p:nvPr/>
        </p:nvSpPr>
        <p:spPr>
          <a:xfrm>
            <a:off x="502920" y="6053328"/>
            <a:ext cx="5074920" cy="219456"/>
          </a:xfrm>
          <a:prstGeom prst="rect">
            <a:avLst/>
          </a:prstGeom>
          <a:noFill/>
          <a:ln/>
        </p:spPr>
        <p:txBody>
          <a:bodyPr wrap="square" lIns="0" tIns="0" rIns="0" bIns="0" rtlCol="0" anchor="t"/>
          <a:lstStyle/>
          <a:p>
            <a:pPr algn="ctr" indent="0" marL="0">
              <a:buNone/>
            </a:pPr>
            <a:r>
              <a:rPr lang="en-US" sz="950" i="1" dirty="0">
                <a:solidFill>
                  <a:srgbClr val="6B7688"/>
                </a:solidFill>
                <a:latin typeface="Calibri" pitchFamily="34" charset="0"/>
                <a:ea typeface="Calibri" pitchFamily="34" charset="-122"/>
                <a:cs typeface="Calibri" pitchFamily="34" charset="-120"/>
              </a:rPr>
              <a:t>Persisted candidate lifecycle in the operator view</a:t>
            </a:r>
            <a:endParaRPr lang="en-US" sz="950" dirty="0"/>
          </a:p>
        </p:txBody>
      </p:sp>
      <p:sp>
        <p:nvSpPr>
          <p:cNvPr id="12" name="Shape 8"/>
          <p:cNvSpPr/>
          <p:nvPr/>
        </p:nvSpPr>
        <p:spPr>
          <a:xfrm>
            <a:off x="5852160" y="1005840"/>
            <a:ext cx="5833872" cy="1152144"/>
          </a:xfrm>
          <a:prstGeom prst="roundRect">
            <a:avLst>
              <a:gd name="adj" fmla="val 4762"/>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13" name="Shape 9"/>
          <p:cNvSpPr/>
          <p:nvPr/>
        </p:nvSpPr>
        <p:spPr>
          <a:xfrm>
            <a:off x="5852160" y="1005840"/>
            <a:ext cx="82296" cy="1152144"/>
          </a:xfrm>
          <a:prstGeom prst="rect">
            <a:avLst/>
          </a:prstGeom>
          <a:solidFill>
            <a:srgbClr val="2E8358"/>
          </a:solidFill>
          <a:ln w="12700">
            <a:solidFill>
              <a:srgbClr val="333333"/>
            </a:solidFill>
            <a:prstDash val="solid"/>
          </a:ln>
        </p:spPr>
      </p:sp>
      <p:sp>
        <p:nvSpPr>
          <p:cNvPr id="14" name="Text 10"/>
          <p:cNvSpPr/>
          <p:nvPr/>
        </p:nvSpPr>
        <p:spPr>
          <a:xfrm>
            <a:off x="6053328" y="1078992"/>
            <a:ext cx="1691640" cy="365760"/>
          </a:xfrm>
          <a:prstGeom prst="rect">
            <a:avLst/>
          </a:prstGeom>
          <a:noFill/>
          <a:ln/>
        </p:spPr>
        <p:txBody>
          <a:bodyPr wrap="square" lIns="0" tIns="0" rIns="0" bIns="0" rtlCol="0" anchor="ctr"/>
          <a:lstStyle/>
          <a:p>
            <a:pPr indent="0" marL="0">
              <a:buNone/>
            </a:pPr>
            <a:r>
              <a:rPr lang="en-US" sz="1800" b="1" dirty="0">
                <a:solidFill>
                  <a:srgbClr val="2E8358"/>
                </a:solidFill>
                <a:latin typeface="Arial" pitchFamily="34" charset="0"/>
                <a:ea typeface="Arial" pitchFamily="34" charset="-122"/>
                <a:cs typeface="Arial" pitchFamily="34" charset="-120"/>
              </a:rPr>
              <a:t>92.42%</a:t>
            </a:r>
            <a:endParaRPr lang="en-US" sz="1800" dirty="0"/>
          </a:p>
        </p:txBody>
      </p:sp>
      <p:sp>
        <p:nvSpPr>
          <p:cNvPr id="15" name="Text 11"/>
          <p:cNvSpPr/>
          <p:nvPr/>
        </p:nvSpPr>
        <p:spPr>
          <a:xfrm>
            <a:off x="7772400" y="1078992"/>
            <a:ext cx="3794760" cy="365760"/>
          </a:xfrm>
          <a:prstGeom prst="rect">
            <a:avLst/>
          </a:prstGeom>
          <a:noFill/>
          <a:ln/>
        </p:spPr>
        <p:txBody>
          <a:bodyPr wrap="square" lIns="0" tIns="0" rIns="0" bIns="0" rtlCol="0" anchor="ctr"/>
          <a:lstStyle/>
          <a:p>
            <a:pPr indent="0" marL="0">
              <a:buNone/>
            </a:pPr>
            <a:r>
              <a:rPr lang="en-US" sz="1150" b="1" dirty="0">
                <a:solidFill>
                  <a:srgbClr val="0F1B40"/>
                </a:solidFill>
                <a:latin typeface="Calibri" pitchFamily="34" charset="0"/>
                <a:ea typeface="Calibri" pitchFamily="34" charset="-122"/>
                <a:cs typeface="Calibri" pitchFamily="34" charset="-120"/>
              </a:rPr>
              <a:t>faster on a pre-armed peer</a:t>
            </a:r>
            <a:endParaRPr lang="en-US" sz="1150" dirty="0"/>
          </a:p>
        </p:txBody>
      </p:sp>
      <p:sp>
        <p:nvSpPr>
          <p:cNvPr id="16" name="Text 12"/>
          <p:cNvSpPr/>
          <p:nvPr/>
        </p:nvSpPr>
        <p:spPr>
          <a:xfrm>
            <a:off x="6053328" y="1499616"/>
            <a:ext cx="5486400" cy="566928"/>
          </a:xfrm>
          <a:prstGeom prst="rect">
            <a:avLst/>
          </a:prstGeom>
          <a:noFill/>
          <a:ln/>
        </p:spPr>
        <p:txBody>
          <a:bodyPr wrap="square" lIns="0" tIns="0" rIns="0" bIns="0" rtlCol="0" anchor="t"/>
          <a:lstStyle/>
          <a:p>
            <a:pPr indent="0" marL="0">
              <a:lnSpc>
                <a:spcPts val="1250"/>
              </a:lnSpc>
              <a:buNone/>
            </a:pPr>
            <a:r>
              <a:rPr lang="en-US" sz="1000" dirty="0">
                <a:solidFill>
                  <a:srgbClr val="3B4557"/>
                </a:solidFill>
                <a:latin typeface="Calibri" pitchFamily="34" charset="0"/>
                <a:ea typeface="Calibri" pitchFamily="34" charset="-122"/>
                <a:cs typeface="Calibri" pitchFamily="34" charset="-120"/>
              </a:rPr>
              <a:t>6.6 ms full regional loop vs 0.5 ms when the peer already holds the intelligence.</a:t>
            </a:r>
            <a:endParaRPr lang="en-US" sz="1000" dirty="0"/>
          </a:p>
        </p:txBody>
      </p:sp>
      <p:sp>
        <p:nvSpPr>
          <p:cNvPr id="17" name="Shape 13"/>
          <p:cNvSpPr/>
          <p:nvPr/>
        </p:nvSpPr>
        <p:spPr>
          <a:xfrm>
            <a:off x="5852160" y="2286000"/>
            <a:ext cx="5833872" cy="1152144"/>
          </a:xfrm>
          <a:prstGeom prst="roundRect">
            <a:avLst>
              <a:gd name="adj" fmla="val 4762"/>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18" name="Shape 14"/>
          <p:cNvSpPr/>
          <p:nvPr/>
        </p:nvSpPr>
        <p:spPr>
          <a:xfrm>
            <a:off x="5852160" y="2286000"/>
            <a:ext cx="82296" cy="1152144"/>
          </a:xfrm>
          <a:prstGeom prst="rect">
            <a:avLst/>
          </a:prstGeom>
          <a:solidFill>
            <a:srgbClr val="0E7490"/>
          </a:solidFill>
          <a:ln w="12700">
            <a:solidFill>
              <a:srgbClr val="333333"/>
            </a:solidFill>
            <a:prstDash val="solid"/>
          </a:ln>
        </p:spPr>
      </p:sp>
      <p:sp>
        <p:nvSpPr>
          <p:cNvPr id="19" name="Text 15"/>
          <p:cNvSpPr/>
          <p:nvPr/>
        </p:nvSpPr>
        <p:spPr>
          <a:xfrm>
            <a:off x="6053328" y="2359152"/>
            <a:ext cx="1691640" cy="365760"/>
          </a:xfrm>
          <a:prstGeom prst="rect">
            <a:avLst/>
          </a:prstGeom>
          <a:noFill/>
          <a:ln/>
        </p:spPr>
        <p:txBody>
          <a:bodyPr wrap="square" lIns="0" tIns="0" rIns="0" bIns="0" rtlCol="0" anchor="ctr"/>
          <a:lstStyle/>
          <a:p>
            <a:pPr indent="0" marL="0">
              <a:buNone/>
            </a:pPr>
            <a:r>
              <a:rPr lang="en-US" sz="1800" b="1" dirty="0">
                <a:solidFill>
                  <a:srgbClr val="0E7490"/>
                </a:solidFill>
                <a:latin typeface="Arial" pitchFamily="34" charset="0"/>
                <a:ea typeface="Arial" pitchFamily="34" charset="-122"/>
                <a:cs typeface="Arial" pitchFamily="34" charset="-120"/>
              </a:rPr>
              <a:t>5</a:t>
            </a:r>
            <a:endParaRPr lang="en-US" sz="1800" dirty="0"/>
          </a:p>
        </p:txBody>
      </p:sp>
      <p:sp>
        <p:nvSpPr>
          <p:cNvPr id="20" name="Text 16"/>
          <p:cNvSpPr/>
          <p:nvPr/>
        </p:nvSpPr>
        <p:spPr>
          <a:xfrm>
            <a:off x="7772400" y="2359152"/>
            <a:ext cx="3794760" cy="365760"/>
          </a:xfrm>
          <a:prstGeom prst="rect">
            <a:avLst/>
          </a:prstGeom>
          <a:noFill/>
          <a:ln/>
        </p:spPr>
        <p:txBody>
          <a:bodyPr wrap="square" lIns="0" tIns="0" rIns="0" bIns="0" rtlCol="0" anchor="ctr"/>
          <a:lstStyle/>
          <a:p>
            <a:pPr indent="0" marL="0">
              <a:buNone/>
            </a:pPr>
            <a:r>
              <a:rPr lang="en-US" sz="1150" b="1" dirty="0">
                <a:solidFill>
                  <a:srgbClr val="0F1B40"/>
                </a:solidFill>
                <a:latin typeface="Calibri" pitchFamily="34" charset="0"/>
                <a:ea typeface="Calibri" pitchFamily="34" charset="-122"/>
                <a:cs typeface="Calibri" pitchFamily="34" charset="-120"/>
              </a:rPr>
              <a:t>allow-listed actuators</a:t>
            </a:r>
            <a:endParaRPr lang="en-US" sz="1150" dirty="0"/>
          </a:p>
        </p:txBody>
      </p:sp>
      <p:sp>
        <p:nvSpPr>
          <p:cNvPr id="21" name="Text 17"/>
          <p:cNvSpPr/>
          <p:nvPr/>
        </p:nvSpPr>
        <p:spPr>
          <a:xfrm>
            <a:off x="6053328" y="2779776"/>
            <a:ext cx="5486400" cy="566928"/>
          </a:xfrm>
          <a:prstGeom prst="rect">
            <a:avLst/>
          </a:prstGeom>
          <a:noFill/>
          <a:ln/>
        </p:spPr>
        <p:txBody>
          <a:bodyPr wrap="square" lIns="0" tIns="0" rIns="0" bIns="0" rtlCol="0" anchor="t"/>
          <a:lstStyle/>
          <a:p>
            <a:pPr indent="0" marL="0">
              <a:lnSpc>
                <a:spcPts val="1250"/>
              </a:lnSpc>
              <a:buNone/>
            </a:pPr>
            <a:r>
              <a:rPr lang="en-US" sz="1000" dirty="0">
                <a:solidFill>
                  <a:srgbClr val="3B4557"/>
                </a:solidFill>
                <a:latin typeface="Calibri" pitchFamily="34" charset="0"/>
                <a:ea typeface="Calibri" pitchFamily="34" charset="-122"/>
                <a:cs typeface="Calibri" pitchFamily="34" charset="-120"/>
              </a:rPr>
              <a:t>E2SM-RC throttle, UE access revocation, pod quarantine, credential rotation and A1 policy.</a:t>
            </a:r>
            <a:endParaRPr lang="en-US" sz="1000" dirty="0"/>
          </a:p>
        </p:txBody>
      </p:sp>
      <p:sp>
        <p:nvSpPr>
          <p:cNvPr id="22" name="Shape 18"/>
          <p:cNvSpPr/>
          <p:nvPr/>
        </p:nvSpPr>
        <p:spPr>
          <a:xfrm>
            <a:off x="5852160" y="3566160"/>
            <a:ext cx="5833872" cy="1152144"/>
          </a:xfrm>
          <a:prstGeom prst="roundRect">
            <a:avLst>
              <a:gd name="adj" fmla="val 4762"/>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23" name="Shape 19"/>
          <p:cNvSpPr/>
          <p:nvPr/>
        </p:nvSpPr>
        <p:spPr>
          <a:xfrm>
            <a:off x="5852160" y="3566160"/>
            <a:ext cx="82296" cy="1152144"/>
          </a:xfrm>
          <a:prstGeom prst="rect">
            <a:avLst/>
          </a:prstGeom>
          <a:solidFill>
            <a:srgbClr val="7C3AED"/>
          </a:solidFill>
          <a:ln w="12700">
            <a:solidFill>
              <a:srgbClr val="333333"/>
            </a:solidFill>
            <a:prstDash val="solid"/>
          </a:ln>
        </p:spPr>
      </p:sp>
      <p:sp>
        <p:nvSpPr>
          <p:cNvPr id="24" name="Text 20"/>
          <p:cNvSpPr/>
          <p:nvPr/>
        </p:nvSpPr>
        <p:spPr>
          <a:xfrm>
            <a:off x="6053328" y="3639312"/>
            <a:ext cx="1691640" cy="365760"/>
          </a:xfrm>
          <a:prstGeom prst="rect">
            <a:avLst/>
          </a:prstGeom>
          <a:noFill/>
          <a:ln/>
        </p:spPr>
        <p:txBody>
          <a:bodyPr wrap="square" lIns="0" tIns="0" rIns="0" bIns="0" rtlCol="0" anchor="ctr"/>
          <a:lstStyle/>
          <a:p>
            <a:pPr indent="0" marL="0">
              <a:buNone/>
            </a:pPr>
            <a:r>
              <a:rPr lang="en-US" sz="1800" b="1" dirty="0">
                <a:solidFill>
                  <a:srgbClr val="7C3AED"/>
                </a:solidFill>
                <a:latin typeface="Arial" pitchFamily="34" charset="0"/>
                <a:ea typeface="Arial" pitchFamily="34" charset="-122"/>
                <a:cs typeface="Arial" pitchFamily="34" charset="-120"/>
              </a:rPr>
              <a:t>0.85</a:t>
            </a:r>
            <a:endParaRPr lang="en-US" sz="1800" dirty="0"/>
          </a:p>
        </p:txBody>
      </p:sp>
      <p:sp>
        <p:nvSpPr>
          <p:cNvPr id="25" name="Text 21"/>
          <p:cNvSpPr/>
          <p:nvPr/>
        </p:nvSpPr>
        <p:spPr>
          <a:xfrm>
            <a:off x="7772400" y="3639312"/>
            <a:ext cx="3794760" cy="365760"/>
          </a:xfrm>
          <a:prstGeom prst="rect">
            <a:avLst/>
          </a:prstGeom>
          <a:noFill/>
          <a:ln/>
        </p:spPr>
        <p:txBody>
          <a:bodyPr wrap="square" lIns="0" tIns="0" rIns="0" bIns="0" rtlCol="0" anchor="ctr"/>
          <a:lstStyle/>
          <a:p>
            <a:pPr indent="0" marL="0">
              <a:buNone/>
            </a:pPr>
            <a:r>
              <a:rPr lang="en-US" sz="1150" b="1" dirty="0">
                <a:solidFill>
                  <a:srgbClr val="0F1B40"/>
                </a:solidFill>
                <a:latin typeface="Calibri" pitchFamily="34" charset="0"/>
                <a:ea typeface="Calibri" pitchFamily="34" charset="-122"/>
                <a:cs typeface="Calibri" pitchFamily="34" charset="-120"/>
              </a:rPr>
              <a:t>minimum confidence gate</a:t>
            </a:r>
            <a:endParaRPr lang="en-US" sz="1150" dirty="0"/>
          </a:p>
        </p:txBody>
      </p:sp>
      <p:sp>
        <p:nvSpPr>
          <p:cNvPr id="26" name="Text 22"/>
          <p:cNvSpPr/>
          <p:nvPr/>
        </p:nvSpPr>
        <p:spPr>
          <a:xfrm>
            <a:off x="6053328" y="4059936"/>
            <a:ext cx="5486400" cy="566928"/>
          </a:xfrm>
          <a:prstGeom prst="rect">
            <a:avLst/>
          </a:prstGeom>
          <a:noFill/>
          <a:ln/>
        </p:spPr>
        <p:txBody>
          <a:bodyPr wrap="square" lIns="0" tIns="0" rIns="0" bIns="0" rtlCol="0" anchor="t"/>
          <a:lstStyle/>
          <a:p>
            <a:pPr indent="0" marL="0">
              <a:lnSpc>
                <a:spcPts val="1250"/>
              </a:lnSpc>
              <a:buNone/>
            </a:pPr>
            <a:r>
              <a:rPr lang="en-US" sz="1000" dirty="0">
                <a:solidFill>
                  <a:srgbClr val="3B4557"/>
                </a:solidFill>
                <a:latin typeface="Calibri" pitchFamily="34" charset="0"/>
                <a:ea typeface="Calibri" pitchFamily="34" charset="-122"/>
                <a:cs typeface="Calibri" pitchFamily="34" charset="-120"/>
              </a:rPr>
              <a:t>Below it, or on a protected target, the candidate becomes an operator recommendation only.</a:t>
            </a:r>
            <a:endParaRPr lang="en-US" sz="1000" dirty="0"/>
          </a:p>
        </p:txBody>
      </p:sp>
      <p:sp>
        <p:nvSpPr>
          <p:cNvPr id="27" name="Shape 23"/>
          <p:cNvSpPr/>
          <p:nvPr/>
        </p:nvSpPr>
        <p:spPr>
          <a:xfrm>
            <a:off x="5852160" y="4846320"/>
            <a:ext cx="5833872" cy="1152144"/>
          </a:xfrm>
          <a:prstGeom prst="roundRect">
            <a:avLst>
              <a:gd name="adj" fmla="val 4762"/>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28" name="Shape 24"/>
          <p:cNvSpPr/>
          <p:nvPr/>
        </p:nvSpPr>
        <p:spPr>
          <a:xfrm>
            <a:off x="5852160" y="4846320"/>
            <a:ext cx="82296" cy="1152144"/>
          </a:xfrm>
          <a:prstGeom prst="rect">
            <a:avLst/>
          </a:prstGeom>
          <a:solidFill>
            <a:srgbClr val="E11D48"/>
          </a:solidFill>
          <a:ln w="12700">
            <a:solidFill>
              <a:srgbClr val="333333"/>
            </a:solidFill>
            <a:prstDash val="solid"/>
          </a:ln>
        </p:spPr>
      </p:sp>
      <p:sp>
        <p:nvSpPr>
          <p:cNvPr id="29" name="Text 25"/>
          <p:cNvSpPr/>
          <p:nvPr/>
        </p:nvSpPr>
        <p:spPr>
          <a:xfrm>
            <a:off x="6053328" y="4919472"/>
            <a:ext cx="1691640" cy="365760"/>
          </a:xfrm>
          <a:prstGeom prst="rect">
            <a:avLst/>
          </a:prstGeom>
          <a:noFill/>
          <a:ln/>
        </p:spPr>
        <p:txBody>
          <a:bodyPr wrap="square" lIns="0" tIns="0" rIns="0" bIns="0" rtlCol="0" anchor="ctr"/>
          <a:lstStyle/>
          <a:p>
            <a:pPr indent="0" marL="0">
              <a:buNone/>
            </a:pPr>
            <a:r>
              <a:rPr lang="en-US" sz="1800" b="1" dirty="0">
                <a:solidFill>
                  <a:srgbClr val="E11D48"/>
                </a:solidFill>
                <a:latin typeface="Arial" pitchFamily="34" charset="0"/>
                <a:ea typeface="Arial" pitchFamily="34" charset="-122"/>
                <a:cs typeface="Arial" pitchFamily="34" charset="-120"/>
              </a:rPr>
              <a:t>Rollback</a:t>
            </a:r>
            <a:endParaRPr lang="en-US" sz="1800" dirty="0"/>
          </a:p>
        </p:txBody>
      </p:sp>
      <p:sp>
        <p:nvSpPr>
          <p:cNvPr id="30" name="Text 26"/>
          <p:cNvSpPr/>
          <p:nvPr/>
        </p:nvSpPr>
        <p:spPr>
          <a:xfrm>
            <a:off x="7772400" y="4919472"/>
            <a:ext cx="3794760" cy="365760"/>
          </a:xfrm>
          <a:prstGeom prst="rect">
            <a:avLst/>
          </a:prstGeom>
          <a:noFill/>
          <a:ln/>
        </p:spPr>
        <p:txBody>
          <a:bodyPr wrap="square" lIns="0" tIns="0" rIns="0" bIns="0" rtlCol="0" anchor="ctr"/>
          <a:lstStyle/>
          <a:p>
            <a:pPr indent="0" marL="0">
              <a:buNone/>
            </a:pPr>
            <a:r>
              <a:rPr lang="en-US" sz="1150" b="1" dirty="0">
                <a:solidFill>
                  <a:srgbClr val="0F1B40"/>
                </a:solidFill>
                <a:latin typeface="Calibri" pitchFamily="34" charset="0"/>
                <a:ea typeface="Calibri" pitchFamily="34" charset="-122"/>
                <a:cs typeface="Calibri" pitchFamily="34" charset="-120"/>
              </a:rPr>
              <a:t>on verification failure</a:t>
            </a:r>
            <a:endParaRPr lang="en-US" sz="1150" dirty="0"/>
          </a:p>
        </p:txBody>
      </p:sp>
      <p:sp>
        <p:nvSpPr>
          <p:cNvPr id="31" name="Text 27"/>
          <p:cNvSpPr/>
          <p:nvPr/>
        </p:nvSpPr>
        <p:spPr>
          <a:xfrm>
            <a:off x="6053328" y="5340096"/>
            <a:ext cx="5486400" cy="566928"/>
          </a:xfrm>
          <a:prstGeom prst="rect">
            <a:avLst/>
          </a:prstGeom>
          <a:noFill/>
          <a:ln/>
        </p:spPr>
        <p:txBody>
          <a:bodyPr wrap="square" lIns="0" tIns="0" rIns="0" bIns="0" rtlCol="0" anchor="t"/>
          <a:lstStyle/>
          <a:p>
            <a:pPr indent="0" marL="0">
              <a:lnSpc>
                <a:spcPts val="1250"/>
              </a:lnSpc>
              <a:buNone/>
            </a:pPr>
            <a:r>
              <a:rPr lang="en-US" sz="1000" dirty="0">
                <a:solidFill>
                  <a:srgbClr val="3B4557"/>
                </a:solidFill>
                <a:latin typeface="Calibri" pitchFamily="34" charset="0"/>
                <a:ea typeface="Calibri" pitchFamily="34" charset="-122"/>
                <a:cs typeface="Calibri" pitchFamily="34" charset="-120"/>
              </a:rPr>
              <a:t>executed_unverified is recorded distinctly and never counts towards mitigation success.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1F1F6"/>
        </a:solidFill>
      </p:bgPr>
    </p:bg>
    <p:spTree>
      <p:nvGrpSpPr>
        <p:cNvPr id="1" name=""/>
        <p:cNvGrpSpPr/>
        <p:nvPr/>
      </p:nvGrpSpPr>
      <p:grpSpPr>
        <a:xfrm>
          <a:off x="0" y="0"/>
          <a:ext cx="0" cy="0"/>
          <a:chOff x="0" y="0"/>
          <a:chExt cx="0" cy="0"/>
        </a:xfrm>
      </p:grpSpPr>
      <p:sp>
        <p:nvSpPr>
          <p:cNvPr id="2" name="Shape 0"/>
          <p:cNvSpPr/>
          <p:nvPr/>
        </p:nvSpPr>
        <p:spPr>
          <a:xfrm>
            <a:off x="-1005840" y="-822960"/>
            <a:ext cx="3383280" cy="2834640"/>
          </a:xfrm>
          <a:prstGeom prst="roundRect">
            <a:avLst>
              <a:gd name="adj" fmla="val 9677"/>
            </a:avLst>
          </a:prstGeom>
          <a:solidFill>
            <a:srgbClr val="DBE2EB"/>
          </a:solidFill>
          <a:ln w="12700">
            <a:solidFill>
              <a:srgbClr val="DBE2EB"/>
            </a:solidFill>
            <a:prstDash val="solid"/>
          </a:ln>
        </p:spPr>
      </p:sp>
      <p:sp>
        <p:nvSpPr>
          <p:cNvPr id="3" name="Text 1"/>
          <p:cNvSpPr/>
          <p:nvPr/>
        </p:nvSpPr>
        <p:spPr>
          <a:xfrm>
            <a:off x="502920" y="219456"/>
            <a:ext cx="11185855" cy="658368"/>
          </a:xfrm>
          <a:prstGeom prst="rect">
            <a:avLst/>
          </a:prstGeom>
          <a:noFill/>
          <a:ln/>
        </p:spPr>
        <p:txBody>
          <a:bodyPr wrap="square" lIns="0" tIns="0" rIns="0" bIns="0" rtlCol="0" anchor="ctr"/>
          <a:lstStyle/>
          <a:p>
            <a:pPr indent="0" marL="0">
              <a:buNone/>
            </a:pPr>
            <a:r>
              <a:rPr lang="en-US" sz="2900" b="1" dirty="0">
                <a:solidFill>
                  <a:srgbClr val="0F1B40"/>
                </a:solidFill>
                <a:latin typeface="Arial" pitchFamily="34" charset="0"/>
                <a:ea typeface="Arial" pitchFamily="34" charset="-122"/>
                <a:cs typeface="Arial" pitchFamily="34" charset="-120"/>
              </a:rPr>
              <a:t>Inter-Platform Sharing Results</a:t>
            </a:r>
            <a:endParaRPr lang="en-US" sz="2900" dirty="0"/>
          </a:p>
        </p:txBody>
      </p:sp>
      <p:sp>
        <p:nvSpPr>
          <p:cNvPr id="4" name="Shape 2"/>
          <p:cNvSpPr/>
          <p:nvPr/>
        </p:nvSpPr>
        <p:spPr>
          <a:xfrm>
            <a:off x="11478463" y="6236208"/>
            <a:ext cx="384048" cy="384048"/>
          </a:xfrm>
          <a:prstGeom prst="ellipse">
            <a:avLst/>
          </a:prstGeom>
          <a:solidFill>
            <a:srgbClr val="8FA3C1"/>
          </a:solidFill>
          <a:ln w="12700">
            <a:solidFill>
              <a:srgbClr val="8FA3C1"/>
            </a:solidFill>
            <a:prstDash val="solid"/>
          </a:ln>
        </p:spPr>
      </p:sp>
      <p:sp>
        <p:nvSpPr>
          <p:cNvPr id="5" name="Text 3"/>
          <p:cNvSpPr/>
          <p:nvPr/>
        </p:nvSpPr>
        <p:spPr>
          <a:xfrm>
            <a:off x="11478463" y="6236208"/>
            <a:ext cx="384048" cy="384048"/>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20</a:t>
            </a:r>
            <a:endParaRPr lang="en-US" sz="1100" dirty="0"/>
          </a:p>
        </p:txBody>
      </p:sp>
      <p:sp>
        <p:nvSpPr>
          <p:cNvPr id="6" name="Shape 4"/>
          <p:cNvSpPr/>
          <p:nvPr/>
        </p:nvSpPr>
        <p:spPr>
          <a:xfrm>
            <a:off x="502920" y="1005840"/>
            <a:ext cx="5120640" cy="4937760"/>
          </a:xfrm>
          <a:prstGeom prst="roundRect">
            <a:avLst>
              <a:gd name="adj" fmla="val 1111"/>
            </a:avLst>
          </a:prstGeom>
          <a:solidFill>
            <a:srgbClr val="FFFFFF"/>
          </a:solidFill>
          <a:ln w="9525">
            <a:solidFill>
              <a:srgbClr val="D5DBE4"/>
            </a:solidFill>
            <a:prstDash val="solid"/>
          </a:ln>
          <a:effectLst>
            <a:outerShdw sx="100000" sy="100000" kx="0" ky="0" algn="bl" rotWithShape="0" blurRad="127000" dist="25400" dir="5400000">
              <a:srgbClr val="A9B4C6">
                <a:alpha val="20000"/>
              </a:srgbClr>
            </a:outerShdw>
          </a:effectLst>
        </p:spPr>
      </p:sp>
      <p:pic>
        <p:nvPicPr>
          <p:cNvPr id="7" name="Image 0" descr="C:\Users\Ravin\AppData\Local\Temp\claude\D--Projects-FYP-demo-site\7c41a152-688c-4cf7-a8dd-5ea6f53eb77e\scratchpad\eval\img\ev_ipa_shared.png">    </p:cNvPr>
          <p:cNvPicPr>
            <a:picLocks noChangeAspect="1"/>
          </p:cNvPicPr>
          <p:nvPr/>
        </p:nvPicPr>
        <p:blipFill>
          <a:blip r:embed="rId1"/>
          <a:stretch>
            <a:fillRect/>
          </a:stretch>
        </p:blipFill>
        <p:spPr>
          <a:xfrm>
            <a:off x="640080" y="1397035"/>
            <a:ext cx="4846320" cy="4063929"/>
          </a:xfrm>
          <a:prstGeom prst="rect">
            <a:avLst/>
          </a:prstGeom>
        </p:spPr>
      </p:pic>
      <p:sp>
        <p:nvSpPr>
          <p:cNvPr id="8" name="Text 5"/>
          <p:cNvSpPr/>
          <p:nvPr/>
        </p:nvSpPr>
        <p:spPr>
          <a:xfrm>
            <a:off x="502920" y="5760720"/>
            <a:ext cx="5120640" cy="365760"/>
          </a:xfrm>
          <a:prstGeom prst="rect">
            <a:avLst/>
          </a:prstGeom>
          <a:noFill/>
          <a:ln/>
        </p:spPr>
        <p:txBody>
          <a:bodyPr wrap="square" lIns="0" tIns="0" rIns="0" bIns="0" rtlCol="0" anchor="t"/>
          <a:lstStyle/>
          <a:p>
            <a:pPr algn="ctr" indent="0" marL="0">
              <a:buNone/>
            </a:pPr>
            <a:r>
              <a:rPr lang="en-US" sz="950" i="1" dirty="0">
                <a:solidFill>
                  <a:srgbClr val="6B7688"/>
                </a:solidFill>
                <a:latin typeface="Calibri" pitchFamily="34" charset="0"/>
                <a:ea typeface="Calibri" pitchFamily="34" charset="-122"/>
                <a:cs typeface="Calibri" pitchFamily="34" charset="-120"/>
              </a:rPr>
              <a:t>Threat intelligence received through the Inter-Platform Agent, marked external with its source region</a:t>
            </a:r>
            <a:endParaRPr lang="en-US" sz="950" dirty="0"/>
          </a:p>
        </p:txBody>
      </p:sp>
      <p:sp>
        <p:nvSpPr>
          <p:cNvPr id="9" name="Shape 6"/>
          <p:cNvSpPr/>
          <p:nvPr/>
        </p:nvSpPr>
        <p:spPr>
          <a:xfrm>
            <a:off x="5943600" y="1051560"/>
            <a:ext cx="237744" cy="237744"/>
          </a:xfrm>
          <a:prstGeom prst="ellipse">
            <a:avLst/>
          </a:prstGeom>
          <a:solidFill>
            <a:srgbClr val="0E7490"/>
          </a:solidFill>
          <a:ln w="12700">
            <a:solidFill>
              <a:srgbClr val="333333"/>
            </a:solidFill>
            <a:prstDash val="solid"/>
          </a:ln>
        </p:spPr>
      </p:sp>
      <p:sp>
        <p:nvSpPr>
          <p:cNvPr id="10" name="Text 7"/>
          <p:cNvSpPr/>
          <p:nvPr/>
        </p:nvSpPr>
        <p:spPr>
          <a:xfrm>
            <a:off x="6309360" y="1005840"/>
            <a:ext cx="5394960" cy="310896"/>
          </a:xfrm>
          <a:prstGeom prst="rect">
            <a:avLst/>
          </a:prstGeom>
          <a:noFill/>
          <a:ln/>
        </p:spPr>
        <p:txBody>
          <a:bodyPr wrap="square" lIns="0" tIns="0" rIns="0" bIns="0" rtlCol="0" anchor="ctr"/>
          <a:lstStyle/>
          <a:p>
            <a:pPr indent="0" marL="0">
              <a:buNone/>
            </a:pPr>
            <a:r>
              <a:rPr lang="en-US" sz="1250" b="1" dirty="0">
                <a:solidFill>
                  <a:srgbClr val="0F1B40"/>
                </a:solidFill>
                <a:latin typeface="Calibri" pitchFamily="34" charset="0"/>
                <a:ea typeface="Calibri" pitchFamily="34" charset="-122"/>
                <a:cs typeface="Calibri" pitchFamily="34" charset="-120"/>
              </a:rPr>
              <a:t>Source exclusion verified</a:t>
            </a:r>
            <a:endParaRPr lang="en-US" sz="1250" dirty="0"/>
          </a:p>
        </p:txBody>
      </p:sp>
      <p:sp>
        <p:nvSpPr>
          <p:cNvPr id="11" name="Text 8"/>
          <p:cNvSpPr/>
          <p:nvPr/>
        </p:nvSpPr>
        <p:spPr>
          <a:xfrm>
            <a:off x="6309360" y="1353312"/>
            <a:ext cx="5349240" cy="603504"/>
          </a:xfrm>
          <a:prstGeom prst="rect">
            <a:avLst/>
          </a:prstGeom>
          <a:noFill/>
          <a:ln/>
        </p:spPr>
        <p:txBody>
          <a:bodyPr wrap="square" lIns="0" tIns="0" rIns="0" bIns="0" rtlCol="0" anchor="t"/>
          <a:lstStyle/>
          <a:p>
            <a:pPr indent="0" marL="0">
              <a:lnSpc>
                <a:spcPts val="1300"/>
              </a:lnSpc>
              <a:buNone/>
            </a:pPr>
            <a:r>
              <a:rPr lang="en-US" sz="1050" dirty="0">
                <a:solidFill>
                  <a:srgbClr val="3B4557"/>
                </a:solidFill>
                <a:latin typeface="Calibri" pitchFamily="34" charset="0"/>
                <a:ea typeface="Calibri" pitchFamily="34" charset="-122"/>
                <a:cs typeface="Calibri" pitchFamily="34" charset="-120"/>
              </a:rPr>
              <a:t>The originating region is absent from every distribution target set, so intelligence is never reflected back to its author.</a:t>
            </a:r>
            <a:endParaRPr lang="en-US" sz="1050" dirty="0"/>
          </a:p>
        </p:txBody>
      </p:sp>
      <p:sp>
        <p:nvSpPr>
          <p:cNvPr id="12" name="Shape 9"/>
          <p:cNvSpPr/>
          <p:nvPr/>
        </p:nvSpPr>
        <p:spPr>
          <a:xfrm>
            <a:off x="5943600" y="2075688"/>
            <a:ext cx="237744" cy="237744"/>
          </a:xfrm>
          <a:prstGeom prst="ellipse">
            <a:avLst/>
          </a:prstGeom>
          <a:solidFill>
            <a:srgbClr val="2E8358"/>
          </a:solidFill>
          <a:ln w="12700">
            <a:solidFill>
              <a:srgbClr val="333333"/>
            </a:solidFill>
            <a:prstDash val="solid"/>
          </a:ln>
        </p:spPr>
      </p:sp>
      <p:sp>
        <p:nvSpPr>
          <p:cNvPr id="13" name="Text 10"/>
          <p:cNvSpPr/>
          <p:nvPr/>
        </p:nvSpPr>
        <p:spPr>
          <a:xfrm>
            <a:off x="6309360" y="2029968"/>
            <a:ext cx="5394960" cy="310896"/>
          </a:xfrm>
          <a:prstGeom prst="rect">
            <a:avLst/>
          </a:prstGeom>
          <a:noFill/>
          <a:ln/>
        </p:spPr>
        <p:txBody>
          <a:bodyPr wrap="square" lIns="0" tIns="0" rIns="0" bIns="0" rtlCol="0" anchor="ctr"/>
          <a:lstStyle/>
          <a:p>
            <a:pPr indent="0" marL="0">
              <a:buNone/>
            </a:pPr>
            <a:r>
              <a:rPr lang="en-US" sz="1250" b="1" dirty="0">
                <a:solidFill>
                  <a:srgbClr val="0F1B40"/>
                </a:solidFill>
                <a:latin typeface="Calibri" pitchFamily="34" charset="0"/>
                <a:ea typeface="Calibri" pitchFamily="34" charset="-122"/>
                <a:cs typeface="Calibri" pitchFamily="34" charset="-120"/>
              </a:rPr>
              <a:t>Peers correctly deduplicated</a:t>
            </a:r>
            <a:endParaRPr lang="en-US" sz="1250" dirty="0"/>
          </a:p>
        </p:txBody>
      </p:sp>
      <p:sp>
        <p:nvSpPr>
          <p:cNvPr id="14" name="Text 11"/>
          <p:cNvSpPr/>
          <p:nvPr/>
        </p:nvSpPr>
        <p:spPr>
          <a:xfrm>
            <a:off x="6309360" y="2377440"/>
            <a:ext cx="5349240" cy="603504"/>
          </a:xfrm>
          <a:prstGeom prst="rect">
            <a:avLst/>
          </a:prstGeom>
          <a:noFill/>
          <a:ln/>
        </p:spPr>
        <p:txBody>
          <a:bodyPr wrap="square" lIns="0" tIns="0" rIns="0" bIns="0" rtlCol="0" anchor="t"/>
          <a:lstStyle/>
          <a:p>
            <a:pPr indent="0" marL="0">
              <a:lnSpc>
                <a:spcPts val="1300"/>
              </a:lnSpc>
              <a:buNone/>
            </a:pPr>
            <a:r>
              <a:rPr lang="en-US" sz="1050" dirty="0">
                <a:solidFill>
                  <a:srgbClr val="3B4557"/>
                </a:solidFill>
                <a:latin typeface="Calibri" pitchFamily="34" charset="0"/>
                <a:ea typeface="Calibri" pitchFamily="34" charset="-122"/>
                <a:cs typeface="Calibri" pitchFamily="34" charset="-120"/>
              </a:rPr>
              <a:t>Peers that already held an equivalent record returned already_present with a similarity score and were skipped rather than re-ingested.</a:t>
            </a:r>
            <a:endParaRPr lang="en-US" sz="1050" dirty="0"/>
          </a:p>
        </p:txBody>
      </p:sp>
      <p:sp>
        <p:nvSpPr>
          <p:cNvPr id="15" name="Shape 12"/>
          <p:cNvSpPr/>
          <p:nvPr/>
        </p:nvSpPr>
        <p:spPr>
          <a:xfrm>
            <a:off x="5943600" y="3099816"/>
            <a:ext cx="237744" cy="237744"/>
          </a:xfrm>
          <a:prstGeom prst="ellipse">
            <a:avLst/>
          </a:prstGeom>
          <a:solidFill>
            <a:srgbClr val="7C3AED"/>
          </a:solidFill>
          <a:ln w="12700">
            <a:solidFill>
              <a:srgbClr val="333333"/>
            </a:solidFill>
            <a:prstDash val="solid"/>
          </a:ln>
        </p:spPr>
      </p:sp>
      <p:sp>
        <p:nvSpPr>
          <p:cNvPr id="16" name="Text 13"/>
          <p:cNvSpPr/>
          <p:nvPr/>
        </p:nvSpPr>
        <p:spPr>
          <a:xfrm>
            <a:off x="6309360" y="3054096"/>
            <a:ext cx="5394960" cy="310896"/>
          </a:xfrm>
          <a:prstGeom prst="rect">
            <a:avLst/>
          </a:prstGeom>
          <a:noFill/>
          <a:ln/>
        </p:spPr>
        <p:txBody>
          <a:bodyPr wrap="square" lIns="0" tIns="0" rIns="0" bIns="0" rtlCol="0" anchor="ctr"/>
          <a:lstStyle/>
          <a:p>
            <a:pPr indent="0" marL="0">
              <a:buNone/>
            </a:pPr>
            <a:r>
              <a:rPr lang="en-US" sz="1250" b="1" dirty="0">
                <a:solidFill>
                  <a:srgbClr val="0F1B40"/>
                </a:solidFill>
                <a:latin typeface="Calibri" pitchFamily="34" charset="0"/>
                <a:ea typeface="Calibri" pitchFamily="34" charset="-122"/>
                <a:cs typeface="Calibri" pitchFamily="34" charset="-120"/>
              </a:rPr>
              <a:t>Provenance preserved</a:t>
            </a:r>
            <a:endParaRPr lang="en-US" sz="1250" dirty="0"/>
          </a:p>
        </p:txBody>
      </p:sp>
      <p:sp>
        <p:nvSpPr>
          <p:cNvPr id="17" name="Text 14"/>
          <p:cNvSpPr/>
          <p:nvPr/>
        </p:nvSpPr>
        <p:spPr>
          <a:xfrm>
            <a:off x="6309360" y="3401568"/>
            <a:ext cx="5349240" cy="603504"/>
          </a:xfrm>
          <a:prstGeom prst="rect">
            <a:avLst/>
          </a:prstGeom>
          <a:noFill/>
          <a:ln/>
        </p:spPr>
        <p:txBody>
          <a:bodyPr wrap="square" lIns="0" tIns="0" rIns="0" bIns="0" rtlCol="0" anchor="t"/>
          <a:lstStyle/>
          <a:p>
            <a:pPr indent="0" marL="0">
              <a:lnSpc>
                <a:spcPts val="1300"/>
              </a:lnSpc>
              <a:buNone/>
            </a:pPr>
            <a:r>
              <a:rPr lang="en-US" sz="1050" dirty="0">
                <a:solidFill>
                  <a:srgbClr val="3B4557"/>
                </a:solidFill>
                <a:latin typeface="Calibri" pitchFamily="34" charset="0"/>
                <a:ea typeface="Calibri" pitchFamily="34" charset="-122"/>
                <a:cs typeface="Calibri" pitchFamily="34" charset="-120"/>
              </a:rPr>
              <a:t>Destination records carry external and source-region metadata, so an operator can always distinguish shared intel from a local detection.</a:t>
            </a:r>
            <a:endParaRPr lang="en-US" sz="1050" dirty="0"/>
          </a:p>
        </p:txBody>
      </p:sp>
      <p:sp>
        <p:nvSpPr>
          <p:cNvPr id="18" name="Shape 15"/>
          <p:cNvSpPr/>
          <p:nvPr/>
        </p:nvSpPr>
        <p:spPr>
          <a:xfrm>
            <a:off x="5943600" y="4123944"/>
            <a:ext cx="237744" cy="237744"/>
          </a:xfrm>
          <a:prstGeom prst="ellipse">
            <a:avLst/>
          </a:prstGeom>
          <a:solidFill>
            <a:srgbClr val="D97706"/>
          </a:solidFill>
          <a:ln w="12700">
            <a:solidFill>
              <a:srgbClr val="333333"/>
            </a:solidFill>
            <a:prstDash val="solid"/>
          </a:ln>
        </p:spPr>
      </p:sp>
      <p:sp>
        <p:nvSpPr>
          <p:cNvPr id="19" name="Text 16"/>
          <p:cNvSpPr/>
          <p:nvPr/>
        </p:nvSpPr>
        <p:spPr>
          <a:xfrm>
            <a:off x="6309360" y="4078224"/>
            <a:ext cx="5394960" cy="310896"/>
          </a:xfrm>
          <a:prstGeom prst="rect">
            <a:avLst/>
          </a:prstGeom>
          <a:noFill/>
          <a:ln/>
        </p:spPr>
        <p:txBody>
          <a:bodyPr wrap="square" lIns="0" tIns="0" rIns="0" bIns="0" rtlCol="0" anchor="ctr"/>
          <a:lstStyle/>
          <a:p>
            <a:pPr indent="0" marL="0">
              <a:buNone/>
            </a:pPr>
            <a:r>
              <a:rPr lang="en-US" sz="1250" b="1" dirty="0">
                <a:solidFill>
                  <a:srgbClr val="0F1B40"/>
                </a:solidFill>
                <a:latin typeface="Calibri" pitchFamily="34" charset="0"/>
                <a:ea typeface="Calibri" pitchFamily="34" charset="-122"/>
                <a:cs typeface="Calibri" pitchFamily="34" charset="-120"/>
              </a:rPr>
              <a:t>Failure isolated, not fatal</a:t>
            </a:r>
            <a:endParaRPr lang="en-US" sz="1250" dirty="0"/>
          </a:p>
        </p:txBody>
      </p:sp>
      <p:sp>
        <p:nvSpPr>
          <p:cNvPr id="20" name="Text 17"/>
          <p:cNvSpPr/>
          <p:nvPr/>
        </p:nvSpPr>
        <p:spPr>
          <a:xfrm>
            <a:off x="6309360" y="4425696"/>
            <a:ext cx="5349240" cy="603504"/>
          </a:xfrm>
          <a:prstGeom prst="rect">
            <a:avLst/>
          </a:prstGeom>
          <a:noFill/>
          <a:ln/>
        </p:spPr>
        <p:txBody>
          <a:bodyPr wrap="square" lIns="0" tIns="0" rIns="0" bIns="0" rtlCol="0" anchor="t"/>
          <a:lstStyle/>
          <a:p>
            <a:pPr indent="0" marL="0">
              <a:lnSpc>
                <a:spcPts val="1300"/>
              </a:lnSpc>
              <a:buNone/>
            </a:pPr>
            <a:r>
              <a:rPr lang="en-US" sz="1050" dirty="0">
                <a:solidFill>
                  <a:srgbClr val="3B4557"/>
                </a:solidFill>
                <a:latin typeface="Calibri" pitchFamily="34" charset="0"/>
                <a:ea typeface="Calibri" pitchFamily="34" charset="-122"/>
                <a:cs typeface="Calibri" pitchFamily="34" charset="-120"/>
              </a:rPr>
              <a:t>An unreachable peer is skipped and logged; the remaining regions still receive the intelligence.</a:t>
            </a:r>
            <a:endParaRPr lang="en-US" sz="1050" dirty="0"/>
          </a:p>
        </p:txBody>
      </p:sp>
      <p:sp>
        <p:nvSpPr>
          <p:cNvPr id="21" name="Shape 18"/>
          <p:cNvSpPr/>
          <p:nvPr/>
        </p:nvSpPr>
        <p:spPr>
          <a:xfrm>
            <a:off x="5943600" y="5148072"/>
            <a:ext cx="237744" cy="237744"/>
          </a:xfrm>
          <a:prstGeom prst="ellipse">
            <a:avLst/>
          </a:prstGeom>
          <a:solidFill>
            <a:srgbClr val="E11D48"/>
          </a:solidFill>
          <a:ln w="12700">
            <a:solidFill>
              <a:srgbClr val="333333"/>
            </a:solidFill>
            <a:prstDash val="solid"/>
          </a:ln>
        </p:spPr>
      </p:sp>
      <p:sp>
        <p:nvSpPr>
          <p:cNvPr id="22" name="Text 19"/>
          <p:cNvSpPr/>
          <p:nvPr/>
        </p:nvSpPr>
        <p:spPr>
          <a:xfrm>
            <a:off x="6309360" y="5102352"/>
            <a:ext cx="5394960" cy="310896"/>
          </a:xfrm>
          <a:prstGeom prst="rect">
            <a:avLst/>
          </a:prstGeom>
          <a:noFill/>
          <a:ln/>
        </p:spPr>
        <p:txBody>
          <a:bodyPr wrap="square" lIns="0" tIns="0" rIns="0" bIns="0" rtlCol="0" anchor="ctr"/>
          <a:lstStyle/>
          <a:p>
            <a:pPr indent="0" marL="0">
              <a:buNone/>
            </a:pPr>
            <a:r>
              <a:rPr lang="en-US" sz="1250" b="1" dirty="0">
                <a:solidFill>
                  <a:srgbClr val="0F1B40"/>
                </a:solidFill>
                <a:latin typeface="Calibri" pitchFamily="34" charset="0"/>
                <a:ea typeface="Calibri" pitchFamily="34" charset="-122"/>
                <a:cs typeface="Calibri" pitchFamily="34" charset="-120"/>
              </a:rPr>
              <a:t>Threshold is a trade-off</a:t>
            </a:r>
            <a:endParaRPr lang="en-US" sz="1250" dirty="0"/>
          </a:p>
        </p:txBody>
      </p:sp>
      <p:sp>
        <p:nvSpPr>
          <p:cNvPr id="23" name="Text 20"/>
          <p:cNvSpPr/>
          <p:nvPr/>
        </p:nvSpPr>
        <p:spPr>
          <a:xfrm>
            <a:off x="6309360" y="5449824"/>
            <a:ext cx="5349240" cy="603504"/>
          </a:xfrm>
          <a:prstGeom prst="rect">
            <a:avLst/>
          </a:prstGeom>
          <a:noFill/>
          <a:ln/>
        </p:spPr>
        <p:txBody>
          <a:bodyPr wrap="square" lIns="0" tIns="0" rIns="0" bIns="0" rtlCol="0" anchor="t"/>
          <a:lstStyle/>
          <a:p>
            <a:pPr indent="0" marL="0">
              <a:lnSpc>
                <a:spcPts val="1300"/>
              </a:lnSpc>
              <a:buNone/>
            </a:pPr>
            <a:r>
              <a:rPr lang="en-US" sz="1050" dirty="0">
                <a:solidFill>
                  <a:srgbClr val="3B4557"/>
                </a:solidFill>
                <a:latin typeface="Calibri" pitchFamily="34" charset="0"/>
                <a:ea typeface="Calibri" pitchFamily="34" charset="-122"/>
                <a:cs typeface="Calibri" pitchFamily="34" charset="-120"/>
              </a:rPr>
              <a:t>Too low suppresses useful contextual variants, too high admits duplicates, so every decision retains its similarity score and reasoning for audit.</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1F1F6"/>
        </a:solidFill>
      </p:bgPr>
    </p:bg>
    <p:spTree>
      <p:nvGrpSpPr>
        <p:cNvPr id="1" name=""/>
        <p:cNvGrpSpPr/>
        <p:nvPr/>
      </p:nvGrpSpPr>
      <p:grpSpPr>
        <a:xfrm>
          <a:off x="0" y="0"/>
          <a:ext cx="0" cy="0"/>
          <a:chOff x="0" y="0"/>
          <a:chExt cx="0" cy="0"/>
        </a:xfrm>
      </p:grpSpPr>
      <p:sp>
        <p:nvSpPr>
          <p:cNvPr id="2" name="Shape 0"/>
          <p:cNvSpPr/>
          <p:nvPr/>
        </p:nvSpPr>
        <p:spPr>
          <a:xfrm>
            <a:off x="-1005840" y="-822960"/>
            <a:ext cx="3383280" cy="2834640"/>
          </a:xfrm>
          <a:prstGeom prst="roundRect">
            <a:avLst>
              <a:gd name="adj" fmla="val 9677"/>
            </a:avLst>
          </a:prstGeom>
          <a:solidFill>
            <a:srgbClr val="DBE2EB"/>
          </a:solidFill>
          <a:ln w="12700">
            <a:solidFill>
              <a:srgbClr val="DBE2EB"/>
            </a:solidFill>
            <a:prstDash val="solid"/>
          </a:ln>
        </p:spPr>
      </p:sp>
      <p:sp>
        <p:nvSpPr>
          <p:cNvPr id="3" name="Text 1"/>
          <p:cNvSpPr/>
          <p:nvPr/>
        </p:nvSpPr>
        <p:spPr>
          <a:xfrm>
            <a:off x="502920" y="219456"/>
            <a:ext cx="11185855" cy="658368"/>
          </a:xfrm>
          <a:prstGeom prst="rect">
            <a:avLst/>
          </a:prstGeom>
          <a:noFill/>
          <a:ln/>
        </p:spPr>
        <p:txBody>
          <a:bodyPr wrap="square" lIns="0" tIns="0" rIns="0" bIns="0" rtlCol="0" anchor="ctr"/>
          <a:lstStyle/>
          <a:p>
            <a:pPr indent="0" marL="0">
              <a:buNone/>
            </a:pPr>
            <a:r>
              <a:rPr lang="en-US" sz="2900" b="1" dirty="0">
                <a:solidFill>
                  <a:srgbClr val="0F1B40"/>
                </a:solidFill>
                <a:latin typeface="Arial" pitchFamily="34" charset="0"/>
                <a:ea typeface="Arial" pitchFamily="34" charset="-122"/>
                <a:cs typeface="Arial" pitchFamily="34" charset="-120"/>
              </a:rPr>
              <a:t>Benchmark Comparison</a:t>
            </a:r>
            <a:endParaRPr lang="en-US" sz="2900" dirty="0"/>
          </a:p>
        </p:txBody>
      </p:sp>
      <p:sp>
        <p:nvSpPr>
          <p:cNvPr id="4" name="Shape 2"/>
          <p:cNvSpPr/>
          <p:nvPr/>
        </p:nvSpPr>
        <p:spPr>
          <a:xfrm>
            <a:off x="11478463" y="6236208"/>
            <a:ext cx="384048" cy="384048"/>
          </a:xfrm>
          <a:prstGeom prst="ellipse">
            <a:avLst/>
          </a:prstGeom>
          <a:solidFill>
            <a:srgbClr val="8FA3C1"/>
          </a:solidFill>
          <a:ln w="12700">
            <a:solidFill>
              <a:srgbClr val="8FA3C1"/>
            </a:solidFill>
            <a:prstDash val="solid"/>
          </a:ln>
        </p:spPr>
      </p:sp>
      <p:sp>
        <p:nvSpPr>
          <p:cNvPr id="5" name="Text 3"/>
          <p:cNvSpPr/>
          <p:nvPr/>
        </p:nvSpPr>
        <p:spPr>
          <a:xfrm>
            <a:off x="11478463" y="6236208"/>
            <a:ext cx="384048" cy="384048"/>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21</a:t>
            </a:r>
            <a:endParaRPr lang="en-US" sz="1100" dirty="0"/>
          </a:p>
        </p:txBody>
      </p:sp>
      <p:sp>
        <p:nvSpPr>
          <p:cNvPr id="6" name="Text 4"/>
          <p:cNvSpPr/>
          <p:nvPr/>
        </p:nvSpPr>
        <p:spPr>
          <a:xfrm>
            <a:off x="502920" y="914400"/>
            <a:ext cx="11185855" cy="457200"/>
          </a:xfrm>
          <a:prstGeom prst="rect">
            <a:avLst/>
          </a:prstGeom>
          <a:noFill/>
          <a:ln/>
        </p:spPr>
        <p:txBody>
          <a:bodyPr wrap="square" lIns="0" tIns="0" rIns="0" bIns="0" rtlCol="0" anchor="t"/>
          <a:lstStyle/>
          <a:p>
            <a:pPr indent="0" marL="0">
              <a:lnSpc>
                <a:spcPts val="1600"/>
              </a:lnSpc>
              <a:buNone/>
            </a:pPr>
            <a:r>
              <a:rPr lang="en-US" sz="1250" dirty="0">
                <a:solidFill>
                  <a:srgbClr val="0F1B40"/>
                </a:solidFill>
                <a:latin typeface="Calibri" pitchFamily="34" charset="0"/>
                <a:ea typeface="Calibri" pitchFamily="34" charset="-122"/>
                <a:cs typeface="Calibri" pitchFamily="34" charset="-120"/>
              </a:rPr>
              <a:t>Six ground-truth 5G security scenarios executed concurrently against our Global-RAG platform and an isolated OpenCTI baseline, the leading open-source enterprise CTI platform.</a:t>
            </a:r>
            <a:endParaRPr lang="en-US" sz="1250" dirty="0"/>
          </a:p>
        </p:txBody>
      </p:sp>
      <p:sp>
        <p:nvSpPr>
          <p:cNvPr id="7" name="Shape 5"/>
          <p:cNvSpPr/>
          <p:nvPr/>
        </p:nvSpPr>
        <p:spPr>
          <a:xfrm>
            <a:off x="502920" y="1481328"/>
            <a:ext cx="11185855" cy="493776"/>
          </a:xfrm>
          <a:prstGeom prst="rect">
            <a:avLst/>
          </a:prstGeom>
          <a:solidFill>
            <a:srgbClr val="24365F"/>
          </a:solidFill>
          <a:ln w="12700">
            <a:solidFill>
              <a:srgbClr val="333333"/>
            </a:solidFill>
            <a:prstDash val="solid"/>
          </a:ln>
        </p:spPr>
      </p:sp>
      <p:sp>
        <p:nvSpPr>
          <p:cNvPr id="8" name="Text 6"/>
          <p:cNvSpPr/>
          <p:nvPr/>
        </p:nvSpPr>
        <p:spPr>
          <a:xfrm>
            <a:off x="685800" y="1481328"/>
            <a:ext cx="4572000" cy="493776"/>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Evaluation metric</a:t>
            </a:r>
            <a:endParaRPr lang="en-US" sz="1200" dirty="0"/>
          </a:p>
        </p:txBody>
      </p:sp>
      <p:sp>
        <p:nvSpPr>
          <p:cNvPr id="9" name="Text 7"/>
          <p:cNvSpPr/>
          <p:nvPr/>
        </p:nvSpPr>
        <p:spPr>
          <a:xfrm>
            <a:off x="4846320" y="1481328"/>
            <a:ext cx="1737360" cy="493776"/>
          </a:xfrm>
          <a:prstGeom prst="rect">
            <a:avLst/>
          </a:prstGeom>
          <a:noFill/>
          <a:ln/>
        </p:spPr>
        <p:txBody>
          <a:bodyPr wrap="square" lIns="0" tIns="0" rIns="0" bIns="0" rtlCol="0" anchor="ctr"/>
          <a:lstStyle/>
          <a:p>
            <a:pPr algn="ctr" indent="0" marL="0">
              <a:buNone/>
            </a:pPr>
            <a:r>
              <a:rPr lang="en-US" sz="1200" b="1" dirty="0">
                <a:solidFill>
                  <a:srgbClr val="18D9E3"/>
                </a:solidFill>
                <a:latin typeface="Calibri" pitchFamily="34" charset="0"/>
                <a:ea typeface="Calibri" pitchFamily="34" charset="-122"/>
                <a:cs typeface="Calibri" pitchFamily="34" charset="-120"/>
              </a:rPr>
              <a:t>Our platform</a:t>
            </a:r>
            <a:endParaRPr lang="en-US" sz="1200" dirty="0"/>
          </a:p>
        </p:txBody>
      </p:sp>
      <p:sp>
        <p:nvSpPr>
          <p:cNvPr id="10" name="Text 8"/>
          <p:cNvSpPr/>
          <p:nvPr/>
        </p:nvSpPr>
        <p:spPr>
          <a:xfrm>
            <a:off x="6675120" y="1481328"/>
            <a:ext cx="1737360" cy="493776"/>
          </a:xfrm>
          <a:prstGeom prst="rect">
            <a:avLst/>
          </a:prstGeom>
          <a:noFill/>
          <a:ln/>
        </p:spPr>
        <p:txBody>
          <a:bodyPr wrap="square" lIns="0" tIns="0" rIns="0" bIns="0" rtlCol="0" anchor="ctr"/>
          <a:lstStyle/>
          <a:p>
            <a:pPr algn="ctr" indent="0" marL="0">
              <a:buNone/>
            </a:pPr>
            <a:r>
              <a:rPr lang="en-US" sz="1200" b="1" dirty="0">
                <a:solidFill>
                  <a:srgbClr val="A9BCDA"/>
                </a:solidFill>
                <a:latin typeface="Calibri" pitchFamily="34" charset="0"/>
                <a:ea typeface="Calibri" pitchFamily="34" charset="-122"/>
                <a:cs typeface="Calibri" pitchFamily="34" charset="-120"/>
              </a:rPr>
              <a:t>OpenCTI 6.0+</a:t>
            </a:r>
            <a:endParaRPr lang="en-US" sz="1200" dirty="0"/>
          </a:p>
        </p:txBody>
      </p:sp>
      <p:sp>
        <p:nvSpPr>
          <p:cNvPr id="11" name="Text 9"/>
          <p:cNvSpPr/>
          <p:nvPr/>
        </p:nvSpPr>
        <p:spPr>
          <a:xfrm>
            <a:off x="8412480" y="1481328"/>
            <a:ext cx="3108960" cy="493776"/>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Observation</a:t>
            </a:r>
            <a:endParaRPr lang="en-US" sz="1200" dirty="0"/>
          </a:p>
        </p:txBody>
      </p:sp>
      <p:sp>
        <p:nvSpPr>
          <p:cNvPr id="12" name="Shape 10"/>
          <p:cNvSpPr/>
          <p:nvPr/>
        </p:nvSpPr>
        <p:spPr>
          <a:xfrm>
            <a:off x="502920" y="1975104"/>
            <a:ext cx="11185855" cy="457200"/>
          </a:xfrm>
          <a:prstGeom prst="rect">
            <a:avLst/>
          </a:prstGeom>
          <a:solidFill>
            <a:srgbClr val="1B2A50"/>
          </a:solidFill>
          <a:ln w="12700">
            <a:solidFill>
              <a:srgbClr val="333333"/>
            </a:solidFill>
            <a:prstDash val="solid"/>
          </a:ln>
        </p:spPr>
      </p:sp>
      <p:sp>
        <p:nvSpPr>
          <p:cNvPr id="13" name="Text 11"/>
          <p:cNvSpPr/>
          <p:nvPr/>
        </p:nvSpPr>
        <p:spPr>
          <a:xfrm>
            <a:off x="685800" y="1975104"/>
            <a:ext cx="4572000" cy="457200"/>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STIX precision (Recall@3)</a:t>
            </a:r>
            <a:endParaRPr lang="en-US" sz="1150" dirty="0"/>
          </a:p>
        </p:txBody>
      </p:sp>
      <p:sp>
        <p:nvSpPr>
          <p:cNvPr id="14" name="Text 12"/>
          <p:cNvSpPr/>
          <p:nvPr/>
        </p:nvSpPr>
        <p:spPr>
          <a:xfrm>
            <a:off x="4846320" y="1975104"/>
            <a:ext cx="1737360" cy="457200"/>
          </a:xfrm>
          <a:prstGeom prst="rect">
            <a:avLst/>
          </a:prstGeom>
          <a:noFill/>
          <a:ln/>
        </p:spPr>
        <p:txBody>
          <a:bodyPr wrap="square" lIns="0" tIns="0" rIns="0" bIns="0" rtlCol="0" anchor="ctr"/>
          <a:lstStyle/>
          <a:p>
            <a:pPr algn="ctr" indent="0" marL="0">
              <a:buNone/>
            </a:pPr>
            <a:r>
              <a:rPr lang="en-US" sz="1150" b="1" dirty="0">
                <a:solidFill>
                  <a:srgbClr val="4ADE80"/>
                </a:solidFill>
                <a:latin typeface="Calibri" pitchFamily="34" charset="0"/>
                <a:ea typeface="Calibri" pitchFamily="34" charset="-122"/>
                <a:cs typeface="Calibri" pitchFamily="34" charset="-120"/>
              </a:rPr>
              <a:t>100.0%</a:t>
            </a:r>
            <a:endParaRPr lang="en-US" sz="1150" dirty="0"/>
          </a:p>
        </p:txBody>
      </p:sp>
      <p:sp>
        <p:nvSpPr>
          <p:cNvPr id="15" name="Text 13"/>
          <p:cNvSpPr/>
          <p:nvPr/>
        </p:nvSpPr>
        <p:spPr>
          <a:xfrm>
            <a:off x="6675120" y="1975104"/>
            <a:ext cx="1737360" cy="457200"/>
          </a:xfrm>
          <a:prstGeom prst="rect">
            <a:avLst/>
          </a:prstGeom>
          <a:noFill/>
          <a:ln/>
        </p:spPr>
        <p:txBody>
          <a:bodyPr wrap="square" lIns="0" tIns="0" rIns="0" bIns="0" rtlCol="0" anchor="ctr"/>
          <a:lstStyle/>
          <a:p>
            <a:pPr algn="ctr" indent="0" marL="0">
              <a:buNone/>
            </a:pPr>
            <a:r>
              <a:rPr lang="en-US" sz="1150" b="1" dirty="0">
                <a:solidFill>
                  <a:srgbClr val="FB7185"/>
                </a:solidFill>
                <a:latin typeface="Calibri" pitchFamily="34" charset="0"/>
                <a:ea typeface="Calibri" pitchFamily="34" charset="-122"/>
                <a:cs typeface="Calibri" pitchFamily="34" charset="-120"/>
              </a:rPr>
              <a:t>0.0%</a:t>
            </a:r>
            <a:endParaRPr lang="en-US" sz="1150" dirty="0"/>
          </a:p>
        </p:txBody>
      </p:sp>
      <p:sp>
        <p:nvSpPr>
          <p:cNvPr id="16" name="Text 14"/>
          <p:cNvSpPr/>
          <p:nvPr/>
        </p:nvSpPr>
        <p:spPr>
          <a:xfrm>
            <a:off x="8412480" y="1975104"/>
            <a:ext cx="3108960" cy="457200"/>
          </a:xfrm>
          <a:prstGeom prst="rect">
            <a:avLst/>
          </a:prstGeom>
          <a:noFill/>
          <a:ln/>
        </p:spPr>
        <p:txBody>
          <a:bodyPr wrap="square" lIns="0" tIns="0" rIns="0" bIns="0" rtlCol="0" anchor="ctr"/>
          <a:lstStyle/>
          <a:p>
            <a:pPr algn="l" indent="0" marL="0">
              <a:buNone/>
            </a:pPr>
            <a:r>
              <a:rPr lang="en-US" sz="1150" dirty="0">
                <a:solidFill>
                  <a:srgbClr val="A9BCDA"/>
                </a:solidFill>
                <a:latin typeface="Calibri" pitchFamily="34" charset="0"/>
                <a:ea typeface="Calibri" pitchFamily="34" charset="-122"/>
                <a:cs typeface="Calibri" pitchFamily="34" charset="-120"/>
              </a:rPr>
              <a:t>Complete 5G retrieval superiority</a:t>
            </a:r>
            <a:endParaRPr lang="en-US" sz="1150" dirty="0"/>
          </a:p>
        </p:txBody>
      </p:sp>
      <p:sp>
        <p:nvSpPr>
          <p:cNvPr id="17" name="Shape 15"/>
          <p:cNvSpPr/>
          <p:nvPr/>
        </p:nvSpPr>
        <p:spPr>
          <a:xfrm>
            <a:off x="502920" y="2432304"/>
            <a:ext cx="11185855" cy="457200"/>
          </a:xfrm>
          <a:prstGeom prst="rect">
            <a:avLst/>
          </a:prstGeom>
          <a:solidFill>
            <a:srgbClr val="16244A"/>
          </a:solidFill>
          <a:ln w="12700">
            <a:solidFill>
              <a:srgbClr val="333333"/>
            </a:solidFill>
            <a:prstDash val="solid"/>
          </a:ln>
        </p:spPr>
      </p:sp>
      <p:sp>
        <p:nvSpPr>
          <p:cNvPr id="18" name="Text 16"/>
          <p:cNvSpPr/>
          <p:nvPr/>
        </p:nvSpPr>
        <p:spPr>
          <a:xfrm>
            <a:off x="685800" y="2432304"/>
            <a:ext cx="4572000" cy="457200"/>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STIX taxonomy alignment</a:t>
            </a:r>
            <a:endParaRPr lang="en-US" sz="1150" dirty="0"/>
          </a:p>
        </p:txBody>
      </p:sp>
      <p:sp>
        <p:nvSpPr>
          <p:cNvPr id="19" name="Text 17"/>
          <p:cNvSpPr/>
          <p:nvPr/>
        </p:nvSpPr>
        <p:spPr>
          <a:xfrm>
            <a:off x="4846320" y="2432304"/>
            <a:ext cx="1737360" cy="457200"/>
          </a:xfrm>
          <a:prstGeom prst="rect">
            <a:avLst/>
          </a:prstGeom>
          <a:noFill/>
          <a:ln/>
        </p:spPr>
        <p:txBody>
          <a:bodyPr wrap="square" lIns="0" tIns="0" rIns="0" bIns="0" rtlCol="0" anchor="ctr"/>
          <a:lstStyle/>
          <a:p>
            <a:pPr algn="ctr" indent="0" marL="0">
              <a:buNone/>
            </a:pPr>
            <a:r>
              <a:rPr lang="en-US" sz="1150" b="1" dirty="0">
                <a:solidFill>
                  <a:srgbClr val="4ADE80"/>
                </a:solidFill>
                <a:latin typeface="Calibri" pitchFamily="34" charset="0"/>
                <a:ea typeface="Calibri" pitchFamily="34" charset="-122"/>
                <a:cs typeface="Calibri" pitchFamily="34" charset="-120"/>
              </a:rPr>
              <a:t>100.0%</a:t>
            </a:r>
            <a:endParaRPr lang="en-US" sz="1150" dirty="0"/>
          </a:p>
        </p:txBody>
      </p:sp>
      <p:sp>
        <p:nvSpPr>
          <p:cNvPr id="20" name="Text 18"/>
          <p:cNvSpPr/>
          <p:nvPr/>
        </p:nvSpPr>
        <p:spPr>
          <a:xfrm>
            <a:off x="6675120" y="2432304"/>
            <a:ext cx="1737360" cy="457200"/>
          </a:xfrm>
          <a:prstGeom prst="rect">
            <a:avLst/>
          </a:prstGeom>
          <a:noFill/>
          <a:ln/>
        </p:spPr>
        <p:txBody>
          <a:bodyPr wrap="square" lIns="0" tIns="0" rIns="0" bIns="0" rtlCol="0" anchor="ctr"/>
          <a:lstStyle/>
          <a:p>
            <a:pPr algn="ctr" indent="0" marL="0">
              <a:buNone/>
            </a:pPr>
            <a:r>
              <a:rPr lang="en-US" sz="1150" b="1" dirty="0">
                <a:solidFill>
                  <a:srgbClr val="FB7185"/>
                </a:solidFill>
                <a:latin typeface="Calibri" pitchFamily="34" charset="0"/>
                <a:ea typeface="Calibri" pitchFamily="34" charset="-122"/>
                <a:cs typeface="Calibri" pitchFamily="34" charset="-120"/>
              </a:rPr>
              <a:t>33.3%</a:t>
            </a:r>
            <a:endParaRPr lang="en-US" sz="1150" dirty="0"/>
          </a:p>
        </p:txBody>
      </p:sp>
      <p:sp>
        <p:nvSpPr>
          <p:cNvPr id="21" name="Text 19"/>
          <p:cNvSpPr/>
          <p:nvPr/>
        </p:nvSpPr>
        <p:spPr>
          <a:xfrm>
            <a:off x="8412480" y="2432304"/>
            <a:ext cx="3108960" cy="457200"/>
          </a:xfrm>
          <a:prstGeom prst="rect">
            <a:avLst/>
          </a:prstGeom>
          <a:noFill/>
          <a:ln/>
        </p:spPr>
        <p:txBody>
          <a:bodyPr wrap="square" lIns="0" tIns="0" rIns="0" bIns="0" rtlCol="0" anchor="ctr"/>
          <a:lstStyle/>
          <a:p>
            <a:pPr algn="l" indent="0" marL="0">
              <a:buNone/>
            </a:pPr>
            <a:r>
              <a:rPr lang="en-US" sz="1150" dirty="0">
                <a:solidFill>
                  <a:srgbClr val="A9BCDA"/>
                </a:solidFill>
                <a:latin typeface="Calibri" pitchFamily="34" charset="0"/>
                <a:ea typeface="Calibri" pitchFamily="34" charset="-122"/>
                <a:cs typeface="Calibri" pitchFamily="34" charset="-120"/>
              </a:rPr>
              <a:t>Native MITRE FiGHT 5G encoding</a:t>
            </a:r>
            <a:endParaRPr lang="en-US" sz="1150" dirty="0"/>
          </a:p>
        </p:txBody>
      </p:sp>
      <p:sp>
        <p:nvSpPr>
          <p:cNvPr id="22" name="Shape 20"/>
          <p:cNvSpPr/>
          <p:nvPr/>
        </p:nvSpPr>
        <p:spPr>
          <a:xfrm>
            <a:off x="502920" y="2889504"/>
            <a:ext cx="11185855" cy="457200"/>
          </a:xfrm>
          <a:prstGeom prst="rect">
            <a:avLst/>
          </a:prstGeom>
          <a:solidFill>
            <a:srgbClr val="1B2A50"/>
          </a:solidFill>
          <a:ln w="12700">
            <a:solidFill>
              <a:srgbClr val="333333"/>
            </a:solidFill>
            <a:prstDash val="solid"/>
          </a:ln>
        </p:spPr>
      </p:sp>
      <p:sp>
        <p:nvSpPr>
          <p:cNvPr id="23" name="Text 21"/>
          <p:cNvSpPr/>
          <p:nvPr/>
        </p:nvSpPr>
        <p:spPr>
          <a:xfrm>
            <a:off x="685800" y="2889504"/>
            <a:ext cx="4572000" cy="457200"/>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End-to-end detection</a:t>
            </a:r>
            <a:endParaRPr lang="en-US" sz="1150" dirty="0"/>
          </a:p>
        </p:txBody>
      </p:sp>
      <p:sp>
        <p:nvSpPr>
          <p:cNvPr id="24" name="Text 22"/>
          <p:cNvSpPr/>
          <p:nvPr/>
        </p:nvSpPr>
        <p:spPr>
          <a:xfrm>
            <a:off x="4846320" y="2889504"/>
            <a:ext cx="1737360" cy="45720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100.0%</a:t>
            </a:r>
            <a:endParaRPr lang="en-US" sz="1150" dirty="0"/>
          </a:p>
        </p:txBody>
      </p:sp>
      <p:sp>
        <p:nvSpPr>
          <p:cNvPr id="25" name="Text 23"/>
          <p:cNvSpPr/>
          <p:nvPr/>
        </p:nvSpPr>
        <p:spPr>
          <a:xfrm>
            <a:off x="6675120" y="2889504"/>
            <a:ext cx="1737360" cy="457200"/>
          </a:xfrm>
          <a:prstGeom prst="rect">
            <a:avLst/>
          </a:prstGeom>
          <a:noFill/>
          <a:ln/>
        </p:spPr>
        <p:txBody>
          <a:bodyPr wrap="square" lIns="0" tIns="0" rIns="0" bIns="0" rtlCol="0" anchor="ctr"/>
          <a:lstStyle/>
          <a:p>
            <a:pPr algn="ctr" indent="0" marL="0">
              <a:buNone/>
            </a:pPr>
            <a:r>
              <a:rPr lang="en-US" sz="1150" dirty="0">
                <a:solidFill>
                  <a:srgbClr val="A9BCDA"/>
                </a:solidFill>
                <a:latin typeface="Calibri" pitchFamily="34" charset="0"/>
                <a:ea typeface="Calibri" pitchFamily="34" charset="-122"/>
                <a:cs typeface="Calibri" pitchFamily="34" charset="-120"/>
              </a:rPr>
              <a:t>100.0%</a:t>
            </a:r>
            <a:endParaRPr lang="en-US" sz="1150" dirty="0"/>
          </a:p>
        </p:txBody>
      </p:sp>
      <p:sp>
        <p:nvSpPr>
          <p:cNvPr id="26" name="Text 24"/>
          <p:cNvSpPr/>
          <p:nvPr/>
        </p:nvSpPr>
        <p:spPr>
          <a:xfrm>
            <a:off x="8412480" y="2889504"/>
            <a:ext cx="3108960" cy="457200"/>
          </a:xfrm>
          <a:prstGeom prst="rect">
            <a:avLst/>
          </a:prstGeom>
          <a:noFill/>
          <a:ln/>
        </p:spPr>
        <p:txBody>
          <a:bodyPr wrap="square" lIns="0" tIns="0" rIns="0" bIns="0" rtlCol="0" anchor="ctr"/>
          <a:lstStyle/>
          <a:p>
            <a:pPr algn="l" indent="0" marL="0">
              <a:buNone/>
            </a:pPr>
            <a:r>
              <a:rPr lang="en-US" sz="1150" dirty="0">
                <a:solidFill>
                  <a:srgbClr val="A9BCDA"/>
                </a:solidFill>
                <a:latin typeface="Calibri" pitchFamily="34" charset="0"/>
                <a:ea typeface="Calibri" pitchFamily="34" charset="-122"/>
                <a:cs typeface="Calibri" pitchFamily="34" charset="-120"/>
              </a:rPr>
              <a:t>Equal event capture</a:t>
            </a:r>
            <a:endParaRPr lang="en-US" sz="1150" dirty="0"/>
          </a:p>
        </p:txBody>
      </p:sp>
      <p:sp>
        <p:nvSpPr>
          <p:cNvPr id="27" name="Shape 25"/>
          <p:cNvSpPr/>
          <p:nvPr/>
        </p:nvSpPr>
        <p:spPr>
          <a:xfrm>
            <a:off x="502920" y="3346704"/>
            <a:ext cx="11185855" cy="457200"/>
          </a:xfrm>
          <a:prstGeom prst="rect">
            <a:avLst/>
          </a:prstGeom>
          <a:solidFill>
            <a:srgbClr val="16244A"/>
          </a:solidFill>
          <a:ln w="12700">
            <a:solidFill>
              <a:srgbClr val="333333"/>
            </a:solidFill>
            <a:prstDash val="solid"/>
          </a:ln>
        </p:spPr>
      </p:sp>
      <p:sp>
        <p:nvSpPr>
          <p:cNvPr id="28" name="Text 26"/>
          <p:cNvSpPr/>
          <p:nvPr/>
        </p:nvSpPr>
        <p:spPr>
          <a:xfrm>
            <a:off x="685800" y="3346704"/>
            <a:ext cx="4572000" cy="457200"/>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Platform stability</a:t>
            </a:r>
            <a:endParaRPr lang="en-US" sz="1150" dirty="0"/>
          </a:p>
        </p:txBody>
      </p:sp>
      <p:sp>
        <p:nvSpPr>
          <p:cNvPr id="29" name="Text 27"/>
          <p:cNvSpPr/>
          <p:nvPr/>
        </p:nvSpPr>
        <p:spPr>
          <a:xfrm>
            <a:off x="4846320" y="3346704"/>
            <a:ext cx="1737360" cy="45720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100.0%</a:t>
            </a:r>
            <a:endParaRPr lang="en-US" sz="1150" dirty="0"/>
          </a:p>
        </p:txBody>
      </p:sp>
      <p:sp>
        <p:nvSpPr>
          <p:cNvPr id="30" name="Text 28"/>
          <p:cNvSpPr/>
          <p:nvPr/>
        </p:nvSpPr>
        <p:spPr>
          <a:xfrm>
            <a:off x="6675120" y="3346704"/>
            <a:ext cx="1737360" cy="457200"/>
          </a:xfrm>
          <a:prstGeom prst="rect">
            <a:avLst/>
          </a:prstGeom>
          <a:noFill/>
          <a:ln/>
        </p:spPr>
        <p:txBody>
          <a:bodyPr wrap="square" lIns="0" tIns="0" rIns="0" bIns="0" rtlCol="0" anchor="ctr"/>
          <a:lstStyle/>
          <a:p>
            <a:pPr algn="ctr" indent="0" marL="0">
              <a:buNone/>
            </a:pPr>
            <a:r>
              <a:rPr lang="en-US" sz="1150" dirty="0">
                <a:solidFill>
                  <a:srgbClr val="A9BCDA"/>
                </a:solidFill>
                <a:latin typeface="Calibri" pitchFamily="34" charset="0"/>
                <a:ea typeface="Calibri" pitchFamily="34" charset="-122"/>
                <a:cs typeface="Calibri" pitchFamily="34" charset="-120"/>
              </a:rPr>
              <a:t>100.0%</a:t>
            </a:r>
            <a:endParaRPr lang="en-US" sz="1150" dirty="0"/>
          </a:p>
        </p:txBody>
      </p:sp>
      <p:sp>
        <p:nvSpPr>
          <p:cNvPr id="31" name="Text 29"/>
          <p:cNvSpPr/>
          <p:nvPr/>
        </p:nvSpPr>
        <p:spPr>
          <a:xfrm>
            <a:off x="8412480" y="3346704"/>
            <a:ext cx="3108960" cy="457200"/>
          </a:xfrm>
          <a:prstGeom prst="rect">
            <a:avLst/>
          </a:prstGeom>
          <a:noFill/>
          <a:ln/>
        </p:spPr>
        <p:txBody>
          <a:bodyPr wrap="square" lIns="0" tIns="0" rIns="0" bIns="0" rtlCol="0" anchor="ctr"/>
          <a:lstStyle/>
          <a:p>
            <a:pPr algn="l" indent="0" marL="0">
              <a:buNone/>
            </a:pPr>
            <a:r>
              <a:rPr lang="en-US" sz="1150" dirty="0">
                <a:solidFill>
                  <a:srgbClr val="A9BCDA"/>
                </a:solidFill>
                <a:latin typeface="Calibri" pitchFamily="34" charset="0"/>
                <a:ea typeface="Calibri" pitchFamily="34" charset="-122"/>
                <a:cs typeface="Calibri" pitchFamily="34" charset="-120"/>
              </a:rPr>
              <a:t>Equal high availability</a:t>
            </a:r>
            <a:endParaRPr lang="en-US" sz="1150" dirty="0"/>
          </a:p>
        </p:txBody>
      </p:sp>
      <p:sp>
        <p:nvSpPr>
          <p:cNvPr id="32" name="Shape 30"/>
          <p:cNvSpPr/>
          <p:nvPr/>
        </p:nvSpPr>
        <p:spPr>
          <a:xfrm>
            <a:off x="502920" y="3803904"/>
            <a:ext cx="11185855" cy="457200"/>
          </a:xfrm>
          <a:prstGeom prst="rect">
            <a:avLst/>
          </a:prstGeom>
          <a:solidFill>
            <a:srgbClr val="1B2A50"/>
          </a:solidFill>
          <a:ln w="12700">
            <a:solidFill>
              <a:srgbClr val="333333"/>
            </a:solidFill>
            <a:prstDash val="solid"/>
          </a:ln>
        </p:spPr>
      </p:sp>
      <p:sp>
        <p:nvSpPr>
          <p:cNvPr id="33" name="Text 31"/>
          <p:cNvSpPr/>
          <p:nvPr/>
        </p:nvSpPr>
        <p:spPr>
          <a:xfrm>
            <a:off x="685800" y="3803904"/>
            <a:ext cx="4572000" cy="457200"/>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STIX confidence validation</a:t>
            </a:r>
            <a:endParaRPr lang="en-US" sz="1150" dirty="0"/>
          </a:p>
        </p:txBody>
      </p:sp>
      <p:sp>
        <p:nvSpPr>
          <p:cNvPr id="34" name="Text 32"/>
          <p:cNvSpPr/>
          <p:nvPr/>
        </p:nvSpPr>
        <p:spPr>
          <a:xfrm>
            <a:off x="4846320" y="3803904"/>
            <a:ext cx="1737360" cy="45720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90.0%</a:t>
            </a:r>
            <a:endParaRPr lang="en-US" sz="1150" dirty="0"/>
          </a:p>
        </p:txBody>
      </p:sp>
      <p:sp>
        <p:nvSpPr>
          <p:cNvPr id="35" name="Text 33"/>
          <p:cNvSpPr/>
          <p:nvPr/>
        </p:nvSpPr>
        <p:spPr>
          <a:xfrm>
            <a:off x="6675120" y="3803904"/>
            <a:ext cx="1737360" cy="457200"/>
          </a:xfrm>
          <a:prstGeom prst="rect">
            <a:avLst/>
          </a:prstGeom>
          <a:noFill/>
          <a:ln/>
        </p:spPr>
        <p:txBody>
          <a:bodyPr wrap="square" lIns="0" tIns="0" rIns="0" bIns="0" rtlCol="0" anchor="ctr"/>
          <a:lstStyle/>
          <a:p>
            <a:pPr algn="ctr" indent="0" marL="0">
              <a:buNone/>
            </a:pPr>
            <a:r>
              <a:rPr lang="en-US" sz="1150" dirty="0">
                <a:solidFill>
                  <a:srgbClr val="A9BCDA"/>
                </a:solidFill>
                <a:latin typeface="Calibri" pitchFamily="34" charset="0"/>
                <a:ea typeface="Calibri" pitchFamily="34" charset="-122"/>
                <a:cs typeface="Calibri" pitchFamily="34" charset="-120"/>
              </a:rPr>
              <a:t>100.0%</a:t>
            </a:r>
            <a:endParaRPr lang="en-US" sz="1150" dirty="0"/>
          </a:p>
        </p:txBody>
      </p:sp>
      <p:sp>
        <p:nvSpPr>
          <p:cNvPr id="36" name="Text 34"/>
          <p:cNvSpPr/>
          <p:nvPr/>
        </p:nvSpPr>
        <p:spPr>
          <a:xfrm>
            <a:off x="8412480" y="3803904"/>
            <a:ext cx="3108960" cy="457200"/>
          </a:xfrm>
          <a:prstGeom prst="rect">
            <a:avLst/>
          </a:prstGeom>
          <a:noFill/>
          <a:ln/>
        </p:spPr>
        <p:txBody>
          <a:bodyPr wrap="square" lIns="0" tIns="0" rIns="0" bIns="0" rtlCol="0" anchor="ctr"/>
          <a:lstStyle/>
          <a:p>
            <a:pPr algn="l" indent="0" marL="0">
              <a:buNone/>
            </a:pPr>
            <a:r>
              <a:rPr lang="en-US" sz="1150" dirty="0">
                <a:solidFill>
                  <a:srgbClr val="A9BCDA"/>
                </a:solidFill>
                <a:latin typeface="Calibri" pitchFamily="34" charset="0"/>
                <a:ea typeface="Calibri" pitchFamily="34" charset="-122"/>
                <a:cs typeface="Calibri" pitchFamily="34" charset="-120"/>
              </a:rPr>
              <a:t>Dynamic RAG vs. static schema</a:t>
            </a:r>
            <a:endParaRPr lang="en-US" sz="1150" dirty="0"/>
          </a:p>
        </p:txBody>
      </p:sp>
      <p:sp>
        <p:nvSpPr>
          <p:cNvPr id="37" name="Shape 35"/>
          <p:cNvSpPr/>
          <p:nvPr/>
        </p:nvSpPr>
        <p:spPr>
          <a:xfrm>
            <a:off x="502920" y="4261104"/>
            <a:ext cx="11185855" cy="457200"/>
          </a:xfrm>
          <a:prstGeom prst="rect">
            <a:avLst/>
          </a:prstGeom>
          <a:solidFill>
            <a:srgbClr val="16244A"/>
          </a:solidFill>
          <a:ln w="12700">
            <a:solidFill>
              <a:srgbClr val="333333"/>
            </a:solidFill>
            <a:prstDash val="solid"/>
          </a:ln>
        </p:spPr>
      </p:sp>
      <p:sp>
        <p:nvSpPr>
          <p:cNvPr id="38" name="Text 36"/>
          <p:cNvSpPr/>
          <p:nvPr/>
        </p:nvSpPr>
        <p:spPr>
          <a:xfrm>
            <a:off x="685800" y="4261104"/>
            <a:ext cx="4572000" cy="457200"/>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Operational CTI latency</a:t>
            </a:r>
            <a:endParaRPr lang="en-US" sz="1150" dirty="0"/>
          </a:p>
        </p:txBody>
      </p:sp>
      <p:sp>
        <p:nvSpPr>
          <p:cNvPr id="39" name="Text 37"/>
          <p:cNvSpPr/>
          <p:nvPr/>
        </p:nvSpPr>
        <p:spPr>
          <a:xfrm>
            <a:off x="4846320" y="4261104"/>
            <a:ext cx="1737360" cy="45720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3755 ms</a:t>
            </a:r>
            <a:endParaRPr lang="en-US" sz="1150" dirty="0"/>
          </a:p>
        </p:txBody>
      </p:sp>
      <p:sp>
        <p:nvSpPr>
          <p:cNvPr id="40" name="Text 38"/>
          <p:cNvSpPr/>
          <p:nvPr/>
        </p:nvSpPr>
        <p:spPr>
          <a:xfrm>
            <a:off x="6675120" y="4261104"/>
            <a:ext cx="1737360" cy="457200"/>
          </a:xfrm>
          <a:prstGeom prst="rect">
            <a:avLst/>
          </a:prstGeom>
          <a:noFill/>
          <a:ln/>
        </p:spPr>
        <p:txBody>
          <a:bodyPr wrap="square" lIns="0" tIns="0" rIns="0" bIns="0" rtlCol="0" anchor="ctr"/>
          <a:lstStyle/>
          <a:p>
            <a:pPr algn="ctr" indent="0" marL="0">
              <a:buNone/>
            </a:pPr>
            <a:r>
              <a:rPr lang="en-US" sz="1150" dirty="0">
                <a:solidFill>
                  <a:srgbClr val="A9BCDA"/>
                </a:solidFill>
                <a:latin typeface="Calibri" pitchFamily="34" charset="0"/>
                <a:ea typeface="Calibri" pitchFamily="34" charset="-122"/>
                <a:cs typeface="Calibri" pitchFamily="34" charset="-120"/>
              </a:rPr>
              <a:t>37.7 ms</a:t>
            </a:r>
            <a:endParaRPr lang="en-US" sz="1150" dirty="0"/>
          </a:p>
        </p:txBody>
      </p:sp>
      <p:sp>
        <p:nvSpPr>
          <p:cNvPr id="41" name="Text 39"/>
          <p:cNvSpPr/>
          <p:nvPr/>
        </p:nvSpPr>
        <p:spPr>
          <a:xfrm>
            <a:off x="8412480" y="4261104"/>
            <a:ext cx="3108960" cy="457200"/>
          </a:xfrm>
          <a:prstGeom prst="rect">
            <a:avLst/>
          </a:prstGeom>
          <a:noFill/>
          <a:ln/>
        </p:spPr>
        <p:txBody>
          <a:bodyPr wrap="square" lIns="0" tIns="0" rIns="0" bIns="0" rtlCol="0" anchor="ctr"/>
          <a:lstStyle/>
          <a:p>
            <a:pPr algn="l" indent="0" marL="0">
              <a:buNone/>
            </a:pPr>
            <a:r>
              <a:rPr lang="en-US" sz="1150" dirty="0">
                <a:solidFill>
                  <a:srgbClr val="A9BCDA"/>
                </a:solidFill>
                <a:latin typeface="Calibri" pitchFamily="34" charset="0"/>
                <a:ea typeface="Calibri" pitchFamily="34" charset="-122"/>
                <a:cs typeface="Calibri" pitchFamily="34" charset="-120"/>
              </a:rPr>
              <a:t>Deep reasoning vs. keyword lookup</a:t>
            </a:r>
            <a:endParaRPr lang="en-US" sz="1150" dirty="0"/>
          </a:p>
        </p:txBody>
      </p:sp>
      <p:sp>
        <p:nvSpPr>
          <p:cNvPr id="42" name="Shape 40"/>
          <p:cNvSpPr/>
          <p:nvPr/>
        </p:nvSpPr>
        <p:spPr>
          <a:xfrm>
            <a:off x="502920" y="5120640"/>
            <a:ext cx="5422392" cy="987552"/>
          </a:xfrm>
          <a:prstGeom prst="roundRect">
            <a:avLst>
              <a:gd name="adj" fmla="val 5556"/>
            </a:avLst>
          </a:prstGeom>
          <a:solidFill>
            <a:srgbClr val="0E7490"/>
          </a:solidFill>
          <a:ln w="12700">
            <a:solidFill>
              <a:srgbClr val="333333"/>
            </a:solidFill>
            <a:prstDash val="solid"/>
          </a:ln>
        </p:spPr>
      </p:sp>
      <p:sp>
        <p:nvSpPr>
          <p:cNvPr id="43" name="Text 41"/>
          <p:cNvSpPr/>
          <p:nvPr/>
        </p:nvSpPr>
        <p:spPr>
          <a:xfrm>
            <a:off x="704088" y="5212080"/>
            <a:ext cx="50292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Why OpenCTI scores 0% on precision</a:t>
            </a:r>
            <a:endParaRPr lang="en-US" sz="1200" dirty="0"/>
          </a:p>
        </p:txBody>
      </p:sp>
      <p:sp>
        <p:nvSpPr>
          <p:cNvPr id="44" name="Text 42"/>
          <p:cNvSpPr/>
          <p:nvPr/>
        </p:nvSpPr>
        <p:spPr>
          <a:xfrm>
            <a:off x="704088" y="5486400"/>
            <a:ext cx="5029200" cy="548640"/>
          </a:xfrm>
          <a:prstGeom prst="rect">
            <a:avLst/>
          </a:prstGeom>
          <a:noFill/>
          <a:ln/>
        </p:spPr>
        <p:txBody>
          <a:bodyPr wrap="square" lIns="0" tIns="0" rIns="0" bIns="0" rtlCol="0" anchor="t"/>
          <a:lstStyle/>
          <a:p>
            <a:pPr indent="0" marL="0">
              <a:lnSpc>
                <a:spcPts val="1250"/>
              </a:lnSpc>
              <a:buNone/>
            </a:pPr>
            <a:r>
              <a:rPr lang="en-US" sz="1000" dirty="0">
                <a:solidFill>
                  <a:srgbClr val="D2EAF2"/>
                </a:solidFill>
                <a:latin typeface="Calibri" pitchFamily="34" charset="0"/>
                <a:ea typeface="Calibri" pitchFamily="34" charset="-122"/>
                <a:cs typeface="Calibri" pitchFamily="34" charset="-120"/>
              </a:rPr>
              <a:t>It runs static keyword lookups over enterprise IT feeds that contain no 5G RAN context to retrieve.</a:t>
            </a:r>
            <a:endParaRPr lang="en-US" sz="1000" dirty="0"/>
          </a:p>
        </p:txBody>
      </p:sp>
      <p:sp>
        <p:nvSpPr>
          <p:cNvPr id="45" name="Shape 43"/>
          <p:cNvSpPr/>
          <p:nvPr/>
        </p:nvSpPr>
        <p:spPr>
          <a:xfrm>
            <a:off x="6263640" y="5120640"/>
            <a:ext cx="5422392" cy="987552"/>
          </a:xfrm>
          <a:prstGeom prst="roundRect">
            <a:avLst>
              <a:gd name="adj" fmla="val 5556"/>
            </a:avLst>
          </a:prstGeom>
          <a:solidFill>
            <a:srgbClr val="1B2A50"/>
          </a:solidFill>
          <a:ln w="12700">
            <a:solidFill>
              <a:srgbClr val="333333"/>
            </a:solidFill>
            <a:prstDash val="solid"/>
          </a:ln>
        </p:spPr>
      </p:sp>
      <p:sp>
        <p:nvSpPr>
          <p:cNvPr id="46" name="Text 44"/>
          <p:cNvSpPr/>
          <p:nvPr/>
        </p:nvSpPr>
        <p:spPr>
          <a:xfrm>
            <a:off x="6464808" y="5212080"/>
            <a:ext cx="5029200" cy="274320"/>
          </a:xfrm>
          <a:prstGeom prst="rect">
            <a:avLst/>
          </a:prstGeom>
          <a:noFill/>
          <a:ln/>
        </p:spPr>
        <p:txBody>
          <a:bodyPr wrap="square" lIns="0" tIns="0" rIns="0" bIns="0" rtlCol="0" anchor="ctr"/>
          <a:lstStyle/>
          <a:p>
            <a:pPr indent="0" marL="0">
              <a:buNone/>
            </a:pPr>
            <a:r>
              <a:rPr lang="en-US" sz="1200" b="1" dirty="0">
                <a:solidFill>
                  <a:srgbClr val="18D9E3"/>
                </a:solidFill>
                <a:latin typeface="Calibri" pitchFamily="34" charset="0"/>
                <a:ea typeface="Calibri" pitchFamily="34" charset="-122"/>
                <a:cs typeface="Calibri" pitchFamily="34" charset="-120"/>
              </a:rPr>
              <a:t>The honest trade-off</a:t>
            </a:r>
            <a:endParaRPr lang="en-US" sz="1200" dirty="0"/>
          </a:p>
        </p:txBody>
      </p:sp>
      <p:sp>
        <p:nvSpPr>
          <p:cNvPr id="47" name="Text 45"/>
          <p:cNvSpPr/>
          <p:nvPr/>
        </p:nvSpPr>
        <p:spPr>
          <a:xfrm>
            <a:off x="6464808" y="5486400"/>
            <a:ext cx="5029200" cy="548640"/>
          </a:xfrm>
          <a:prstGeom prst="rect">
            <a:avLst/>
          </a:prstGeom>
          <a:noFill/>
          <a:ln/>
        </p:spPr>
        <p:txBody>
          <a:bodyPr wrap="square" lIns="0" tIns="0" rIns="0" bIns="0" rtlCol="0" anchor="t"/>
          <a:lstStyle/>
          <a:p>
            <a:pPr indent="0" marL="0">
              <a:lnSpc>
                <a:spcPts val="1250"/>
              </a:lnSpc>
              <a:buNone/>
            </a:pPr>
            <a:r>
              <a:rPr lang="en-US" sz="1000" dirty="0">
                <a:solidFill>
                  <a:srgbClr val="A9BCDA"/>
                </a:solidFill>
                <a:latin typeface="Calibri" pitchFamily="34" charset="0"/>
                <a:ea typeface="Calibri" pitchFamily="34" charset="-122"/>
                <a:cs typeface="Calibri" pitchFamily="34" charset="-120"/>
              </a:rPr>
              <a:t>We are roughly 100x slower per query. That is the cost of vector embedding, MCP escalation and generative synthesis, and it buys domain precision a keyword index cannot reach.</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1F1F6"/>
        </a:solidFill>
      </p:bgPr>
    </p:bg>
    <p:spTree>
      <p:nvGrpSpPr>
        <p:cNvPr id="1" name=""/>
        <p:cNvGrpSpPr/>
        <p:nvPr/>
      </p:nvGrpSpPr>
      <p:grpSpPr>
        <a:xfrm>
          <a:off x="0" y="0"/>
          <a:ext cx="0" cy="0"/>
          <a:chOff x="0" y="0"/>
          <a:chExt cx="0" cy="0"/>
        </a:xfrm>
      </p:grpSpPr>
      <p:sp>
        <p:nvSpPr>
          <p:cNvPr id="2" name="Shape 0"/>
          <p:cNvSpPr/>
          <p:nvPr/>
        </p:nvSpPr>
        <p:spPr>
          <a:xfrm>
            <a:off x="-1005840" y="-822960"/>
            <a:ext cx="3383280" cy="2834640"/>
          </a:xfrm>
          <a:prstGeom prst="roundRect">
            <a:avLst>
              <a:gd name="adj" fmla="val 9677"/>
            </a:avLst>
          </a:prstGeom>
          <a:solidFill>
            <a:srgbClr val="DBE2EB"/>
          </a:solidFill>
          <a:ln w="12700">
            <a:solidFill>
              <a:srgbClr val="DBE2EB"/>
            </a:solidFill>
            <a:prstDash val="solid"/>
          </a:ln>
        </p:spPr>
      </p:sp>
      <p:sp>
        <p:nvSpPr>
          <p:cNvPr id="3" name="Text 1"/>
          <p:cNvSpPr/>
          <p:nvPr/>
        </p:nvSpPr>
        <p:spPr>
          <a:xfrm>
            <a:off x="502920" y="219456"/>
            <a:ext cx="11185855" cy="658368"/>
          </a:xfrm>
          <a:prstGeom prst="rect">
            <a:avLst/>
          </a:prstGeom>
          <a:noFill/>
          <a:ln/>
        </p:spPr>
        <p:txBody>
          <a:bodyPr wrap="square" lIns="0" tIns="0" rIns="0" bIns="0" rtlCol="0" anchor="ctr"/>
          <a:lstStyle/>
          <a:p>
            <a:pPr indent="0" marL="0">
              <a:buNone/>
            </a:pPr>
            <a:r>
              <a:rPr lang="en-US" sz="2900" b="1" dirty="0">
                <a:solidFill>
                  <a:srgbClr val="0F1B40"/>
                </a:solidFill>
                <a:latin typeface="Arial" pitchFamily="34" charset="0"/>
                <a:ea typeface="Arial" pitchFamily="34" charset="-122"/>
                <a:cs typeface="Arial" pitchFamily="34" charset="-120"/>
              </a:rPr>
              <a:t>Objectives Met &amp; Declared Limitations</a:t>
            </a:r>
            <a:endParaRPr lang="en-US" sz="2900" dirty="0"/>
          </a:p>
        </p:txBody>
      </p:sp>
      <p:sp>
        <p:nvSpPr>
          <p:cNvPr id="4" name="Shape 2"/>
          <p:cNvSpPr/>
          <p:nvPr/>
        </p:nvSpPr>
        <p:spPr>
          <a:xfrm>
            <a:off x="11478463" y="6236208"/>
            <a:ext cx="384048" cy="384048"/>
          </a:xfrm>
          <a:prstGeom prst="ellipse">
            <a:avLst/>
          </a:prstGeom>
          <a:solidFill>
            <a:srgbClr val="8FA3C1"/>
          </a:solidFill>
          <a:ln w="12700">
            <a:solidFill>
              <a:srgbClr val="8FA3C1"/>
            </a:solidFill>
            <a:prstDash val="solid"/>
          </a:ln>
        </p:spPr>
      </p:sp>
      <p:sp>
        <p:nvSpPr>
          <p:cNvPr id="5" name="Text 3"/>
          <p:cNvSpPr/>
          <p:nvPr/>
        </p:nvSpPr>
        <p:spPr>
          <a:xfrm>
            <a:off x="11478463" y="6236208"/>
            <a:ext cx="384048" cy="384048"/>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22</a:t>
            </a:r>
            <a:endParaRPr lang="en-US" sz="1100" dirty="0"/>
          </a:p>
        </p:txBody>
      </p:sp>
      <p:sp>
        <p:nvSpPr>
          <p:cNvPr id="6" name="Text 4"/>
          <p:cNvSpPr/>
          <p:nvPr/>
        </p:nvSpPr>
        <p:spPr>
          <a:xfrm>
            <a:off x="502920" y="914400"/>
            <a:ext cx="5486400" cy="329184"/>
          </a:xfrm>
          <a:prstGeom prst="rect">
            <a:avLst/>
          </a:prstGeom>
          <a:noFill/>
          <a:ln/>
        </p:spPr>
        <p:txBody>
          <a:bodyPr wrap="square" lIns="0" tIns="0" rIns="0" bIns="0" rtlCol="0" anchor="ctr"/>
          <a:lstStyle/>
          <a:p>
            <a:pPr indent="0" marL="0">
              <a:buNone/>
            </a:pPr>
            <a:r>
              <a:rPr lang="en-US" sz="1500" b="1" dirty="0">
                <a:solidFill>
                  <a:srgbClr val="2E8358"/>
                </a:solidFill>
                <a:latin typeface="Calibri" pitchFamily="34" charset="0"/>
                <a:ea typeface="Calibri" pitchFamily="34" charset="-122"/>
                <a:cs typeface="Calibri" pitchFamily="34" charset="-120"/>
              </a:rPr>
              <a:t>Objective completion</a:t>
            </a:r>
            <a:endParaRPr lang="en-US" sz="1500" dirty="0"/>
          </a:p>
        </p:txBody>
      </p:sp>
      <p:sp>
        <p:nvSpPr>
          <p:cNvPr id="7" name="Shape 5"/>
          <p:cNvSpPr/>
          <p:nvPr/>
        </p:nvSpPr>
        <p:spPr>
          <a:xfrm>
            <a:off x="502920" y="1298448"/>
            <a:ext cx="5623560" cy="841248"/>
          </a:xfrm>
          <a:prstGeom prst="roundRect">
            <a:avLst>
              <a:gd name="adj" fmla="val 6522"/>
            </a:avLst>
          </a:prstGeom>
          <a:solidFill>
            <a:srgbClr val="EFF7F1"/>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8" name="Shape 6"/>
          <p:cNvSpPr/>
          <p:nvPr/>
        </p:nvSpPr>
        <p:spPr>
          <a:xfrm>
            <a:off x="502920" y="1298448"/>
            <a:ext cx="384048" cy="841248"/>
          </a:xfrm>
          <a:prstGeom prst="rect">
            <a:avLst/>
          </a:prstGeom>
          <a:solidFill>
            <a:srgbClr val="2E8358"/>
          </a:solidFill>
          <a:ln w="12700">
            <a:solidFill>
              <a:srgbClr val="333333"/>
            </a:solidFill>
            <a:prstDash val="solid"/>
          </a:ln>
        </p:spPr>
      </p:sp>
      <p:sp>
        <p:nvSpPr>
          <p:cNvPr id="9" name="Text 7"/>
          <p:cNvSpPr/>
          <p:nvPr/>
        </p:nvSpPr>
        <p:spPr>
          <a:xfrm>
            <a:off x="502920" y="1298448"/>
            <a:ext cx="384048" cy="8412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O1</a:t>
            </a:r>
            <a:endParaRPr lang="en-US" sz="1200" dirty="0"/>
          </a:p>
        </p:txBody>
      </p:sp>
      <p:sp>
        <p:nvSpPr>
          <p:cNvPr id="10" name="Text 8"/>
          <p:cNvSpPr/>
          <p:nvPr/>
        </p:nvSpPr>
        <p:spPr>
          <a:xfrm>
            <a:off x="1014984" y="1389888"/>
            <a:ext cx="3977640" cy="694944"/>
          </a:xfrm>
          <a:prstGeom prst="rect">
            <a:avLst/>
          </a:prstGeom>
          <a:noFill/>
          <a:ln/>
        </p:spPr>
        <p:txBody>
          <a:bodyPr wrap="square" lIns="0" tIns="0" rIns="0" bIns="0" rtlCol="0" anchor="t"/>
          <a:lstStyle/>
          <a:p>
            <a:pPr indent="0" marL="0">
              <a:lnSpc>
                <a:spcPts val="1200"/>
              </a:lnSpc>
              <a:buNone/>
            </a:pPr>
            <a:r>
              <a:rPr lang="en-US" sz="950" dirty="0">
                <a:solidFill>
                  <a:srgbClr val="3B4557"/>
                </a:solidFill>
                <a:latin typeface="Calibri" pitchFamily="34" charset="0"/>
                <a:ea typeface="Calibri" pitchFamily="34" charset="-122"/>
                <a:cs typeface="Calibri" pitchFamily="34" charset="-120"/>
              </a:rPr>
              <a:t>Disaggregated O-RAN CTI platform implemented across four regions, with O-RAN and cloud-native evidence, dynamic registries and operator visibility.</a:t>
            </a:r>
            <a:endParaRPr lang="en-US" sz="950" dirty="0"/>
          </a:p>
        </p:txBody>
      </p:sp>
      <p:sp>
        <p:nvSpPr>
          <p:cNvPr id="11" name="Shape 9"/>
          <p:cNvSpPr/>
          <p:nvPr/>
        </p:nvSpPr>
        <p:spPr>
          <a:xfrm>
            <a:off x="5166360" y="1554480"/>
            <a:ext cx="960120" cy="310896"/>
          </a:xfrm>
          <a:prstGeom prst="roundRect">
            <a:avLst>
              <a:gd name="adj" fmla="val 23529"/>
            </a:avLst>
          </a:prstGeom>
          <a:solidFill>
            <a:srgbClr val="198754"/>
          </a:solidFill>
          <a:ln w="12700">
            <a:solidFill>
              <a:srgbClr val="333333"/>
            </a:solidFill>
            <a:prstDash val="solid"/>
          </a:ln>
        </p:spPr>
      </p:sp>
      <p:sp>
        <p:nvSpPr>
          <p:cNvPr id="12" name="Text 10"/>
          <p:cNvSpPr/>
          <p:nvPr/>
        </p:nvSpPr>
        <p:spPr>
          <a:xfrm>
            <a:off x="5166360" y="1554480"/>
            <a:ext cx="96012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Implemented</a:t>
            </a:r>
            <a:endParaRPr lang="en-US" sz="850" dirty="0"/>
          </a:p>
        </p:txBody>
      </p:sp>
      <p:sp>
        <p:nvSpPr>
          <p:cNvPr id="13" name="Shape 11"/>
          <p:cNvSpPr/>
          <p:nvPr/>
        </p:nvSpPr>
        <p:spPr>
          <a:xfrm>
            <a:off x="502920" y="2231136"/>
            <a:ext cx="5623560" cy="841248"/>
          </a:xfrm>
          <a:prstGeom prst="roundRect">
            <a:avLst>
              <a:gd name="adj" fmla="val 6522"/>
            </a:avLst>
          </a:prstGeom>
          <a:solidFill>
            <a:srgbClr val="EFF7F1"/>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14" name="Shape 12"/>
          <p:cNvSpPr/>
          <p:nvPr/>
        </p:nvSpPr>
        <p:spPr>
          <a:xfrm>
            <a:off x="502920" y="2231136"/>
            <a:ext cx="384048" cy="841248"/>
          </a:xfrm>
          <a:prstGeom prst="rect">
            <a:avLst/>
          </a:prstGeom>
          <a:solidFill>
            <a:srgbClr val="2E8358"/>
          </a:solidFill>
          <a:ln w="12700">
            <a:solidFill>
              <a:srgbClr val="333333"/>
            </a:solidFill>
            <a:prstDash val="solid"/>
          </a:ln>
        </p:spPr>
      </p:sp>
      <p:sp>
        <p:nvSpPr>
          <p:cNvPr id="15" name="Text 13"/>
          <p:cNvSpPr/>
          <p:nvPr/>
        </p:nvSpPr>
        <p:spPr>
          <a:xfrm>
            <a:off x="502920" y="2231136"/>
            <a:ext cx="384048" cy="8412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O2</a:t>
            </a:r>
            <a:endParaRPr lang="en-US" sz="1200" dirty="0"/>
          </a:p>
        </p:txBody>
      </p:sp>
      <p:sp>
        <p:nvSpPr>
          <p:cNvPr id="16" name="Text 14"/>
          <p:cNvSpPr/>
          <p:nvPr/>
        </p:nvSpPr>
        <p:spPr>
          <a:xfrm>
            <a:off x="1014984" y="2322576"/>
            <a:ext cx="3977640" cy="694944"/>
          </a:xfrm>
          <a:prstGeom prst="rect">
            <a:avLst/>
          </a:prstGeom>
          <a:noFill/>
          <a:ln/>
        </p:spPr>
        <p:txBody>
          <a:bodyPr wrap="square" lIns="0" tIns="0" rIns="0" bIns="0" rtlCol="0" anchor="t"/>
          <a:lstStyle/>
          <a:p>
            <a:pPr indent="0" marL="0">
              <a:lnSpc>
                <a:spcPts val="1200"/>
              </a:lnSpc>
              <a:buNone/>
            </a:pPr>
            <a:r>
              <a:rPr lang="en-US" sz="950" dirty="0">
                <a:solidFill>
                  <a:srgbClr val="3B4557"/>
                </a:solidFill>
                <a:latin typeface="Calibri" pitchFamily="34" charset="0"/>
                <a:ea typeface="Calibri" pitchFamily="34" charset="-122"/>
                <a:cs typeface="Calibri" pitchFamily="34" charset="-120"/>
              </a:rPr>
              <a:t>Agentic AI integrated through regional RAG, Global-RAG and MCP for hierarchical contextualisation, controlled learning and safety-gated response.</a:t>
            </a:r>
            <a:endParaRPr lang="en-US" sz="950" dirty="0"/>
          </a:p>
        </p:txBody>
      </p:sp>
      <p:sp>
        <p:nvSpPr>
          <p:cNvPr id="17" name="Shape 15"/>
          <p:cNvSpPr/>
          <p:nvPr/>
        </p:nvSpPr>
        <p:spPr>
          <a:xfrm>
            <a:off x="5166360" y="2487168"/>
            <a:ext cx="960120" cy="310896"/>
          </a:xfrm>
          <a:prstGeom prst="roundRect">
            <a:avLst>
              <a:gd name="adj" fmla="val 23529"/>
            </a:avLst>
          </a:prstGeom>
          <a:solidFill>
            <a:srgbClr val="198754"/>
          </a:solidFill>
          <a:ln w="12700">
            <a:solidFill>
              <a:srgbClr val="333333"/>
            </a:solidFill>
            <a:prstDash val="solid"/>
          </a:ln>
        </p:spPr>
      </p:sp>
      <p:sp>
        <p:nvSpPr>
          <p:cNvPr id="18" name="Text 16"/>
          <p:cNvSpPr/>
          <p:nvPr/>
        </p:nvSpPr>
        <p:spPr>
          <a:xfrm>
            <a:off x="5166360" y="2487168"/>
            <a:ext cx="96012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Implemented</a:t>
            </a:r>
            <a:endParaRPr lang="en-US" sz="850" dirty="0"/>
          </a:p>
        </p:txBody>
      </p:sp>
      <p:sp>
        <p:nvSpPr>
          <p:cNvPr id="19" name="Shape 17"/>
          <p:cNvSpPr/>
          <p:nvPr/>
        </p:nvSpPr>
        <p:spPr>
          <a:xfrm>
            <a:off x="502920" y="3163824"/>
            <a:ext cx="5623560" cy="841248"/>
          </a:xfrm>
          <a:prstGeom prst="roundRect">
            <a:avLst>
              <a:gd name="adj" fmla="val 6522"/>
            </a:avLst>
          </a:prstGeom>
          <a:solidFill>
            <a:srgbClr val="EFF7F1"/>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20" name="Shape 18"/>
          <p:cNvSpPr/>
          <p:nvPr/>
        </p:nvSpPr>
        <p:spPr>
          <a:xfrm>
            <a:off x="502920" y="3163824"/>
            <a:ext cx="384048" cy="841248"/>
          </a:xfrm>
          <a:prstGeom prst="rect">
            <a:avLst/>
          </a:prstGeom>
          <a:solidFill>
            <a:srgbClr val="2E8358"/>
          </a:solidFill>
          <a:ln w="12700">
            <a:solidFill>
              <a:srgbClr val="333333"/>
            </a:solidFill>
            <a:prstDash val="solid"/>
          </a:ln>
        </p:spPr>
      </p:sp>
      <p:sp>
        <p:nvSpPr>
          <p:cNvPr id="21" name="Text 19"/>
          <p:cNvSpPr/>
          <p:nvPr/>
        </p:nvSpPr>
        <p:spPr>
          <a:xfrm>
            <a:off x="502920" y="3163824"/>
            <a:ext cx="384048" cy="8412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O3</a:t>
            </a:r>
            <a:endParaRPr lang="en-US" sz="1200" dirty="0"/>
          </a:p>
        </p:txBody>
      </p:sp>
      <p:sp>
        <p:nvSpPr>
          <p:cNvPr id="22" name="Text 20"/>
          <p:cNvSpPr/>
          <p:nvPr/>
        </p:nvSpPr>
        <p:spPr>
          <a:xfrm>
            <a:off x="1014984" y="3255264"/>
            <a:ext cx="3977640" cy="694944"/>
          </a:xfrm>
          <a:prstGeom prst="rect">
            <a:avLst/>
          </a:prstGeom>
          <a:noFill/>
          <a:ln/>
        </p:spPr>
        <p:txBody>
          <a:bodyPr wrap="square" lIns="0" tIns="0" rIns="0" bIns="0" rtlCol="0" anchor="t"/>
          <a:lstStyle/>
          <a:p>
            <a:pPr indent="0" marL="0">
              <a:lnSpc>
                <a:spcPts val="1200"/>
              </a:lnSpc>
              <a:buNone/>
            </a:pPr>
            <a:r>
              <a:rPr lang="en-US" sz="950" dirty="0">
                <a:solidFill>
                  <a:srgbClr val="3B4557"/>
                </a:solidFill>
                <a:latin typeface="Calibri" pitchFamily="34" charset="0"/>
                <a:ea typeface="Calibri" pitchFamily="34" charset="-122"/>
                <a:cs typeface="Calibri" pitchFamily="34" charset="-120"/>
              </a:rPr>
              <a:t>Validated with a frozen benchmark, controlled detector and mitigation experiments, an OpenCTI comparison and regional security-score observation.</a:t>
            </a:r>
            <a:endParaRPr lang="en-US" sz="950" dirty="0"/>
          </a:p>
        </p:txBody>
      </p:sp>
      <p:sp>
        <p:nvSpPr>
          <p:cNvPr id="23" name="Shape 21"/>
          <p:cNvSpPr/>
          <p:nvPr/>
        </p:nvSpPr>
        <p:spPr>
          <a:xfrm>
            <a:off x="5166360" y="3419856"/>
            <a:ext cx="960120" cy="310896"/>
          </a:xfrm>
          <a:prstGeom prst="roundRect">
            <a:avLst>
              <a:gd name="adj" fmla="val 23529"/>
            </a:avLst>
          </a:prstGeom>
          <a:solidFill>
            <a:srgbClr val="198754"/>
          </a:solidFill>
          <a:ln w="12700">
            <a:solidFill>
              <a:srgbClr val="333333"/>
            </a:solidFill>
            <a:prstDash val="solid"/>
          </a:ln>
        </p:spPr>
      </p:sp>
      <p:sp>
        <p:nvSpPr>
          <p:cNvPr id="24" name="Text 22"/>
          <p:cNvSpPr/>
          <p:nvPr/>
        </p:nvSpPr>
        <p:spPr>
          <a:xfrm>
            <a:off x="5166360" y="3419856"/>
            <a:ext cx="96012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Evaluated</a:t>
            </a:r>
            <a:endParaRPr lang="en-US" sz="850" dirty="0"/>
          </a:p>
        </p:txBody>
      </p:sp>
      <p:sp>
        <p:nvSpPr>
          <p:cNvPr id="25" name="Shape 23"/>
          <p:cNvSpPr/>
          <p:nvPr/>
        </p:nvSpPr>
        <p:spPr>
          <a:xfrm>
            <a:off x="502920" y="4096512"/>
            <a:ext cx="5623560" cy="841248"/>
          </a:xfrm>
          <a:prstGeom prst="roundRect">
            <a:avLst>
              <a:gd name="adj" fmla="val 6522"/>
            </a:avLst>
          </a:prstGeom>
          <a:solidFill>
            <a:srgbClr val="EFF7F1"/>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26" name="Shape 24"/>
          <p:cNvSpPr/>
          <p:nvPr/>
        </p:nvSpPr>
        <p:spPr>
          <a:xfrm>
            <a:off x="502920" y="4096512"/>
            <a:ext cx="384048" cy="841248"/>
          </a:xfrm>
          <a:prstGeom prst="rect">
            <a:avLst/>
          </a:prstGeom>
          <a:solidFill>
            <a:srgbClr val="2E8358"/>
          </a:solidFill>
          <a:ln w="12700">
            <a:solidFill>
              <a:srgbClr val="333333"/>
            </a:solidFill>
            <a:prstDash val="solid"/>
          </a:ln>
        </p:spPr>
      </p:sp>
      <p:sp>
        <p:nvSpPr>
          <p:cNvPr id="27" name="Text 25"/>
          <p:cNvSpPr/>
          <p:nvPr/>
        </p:nvSpPr>
        <p:spPr>
          <a:xfrm>
            <a:off x="502920" y="4096512"/>
            <a:ext cx="384048" cy="8412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E1</a:t>
            </a:r>
            <a:endParaRPr lang="en-US" sz="1200" dirty="0"/>
          </a:p>
        </p:txBody>
      </p:sp>
      <p:sp>
        <p:nvSpPr>
          <p:cNvPr id="28" name="Text 26"/>
          <p:cNvSpPr/>
          <p:nvPr/>
        </p:nvSpPr>
        <p:spPr>
          <a:xfrm>
            <a:off x="1014984" y="4187952"/>
            <a:ext cx="3977640" cy="694944"/>
          </a:xfrm>
          <a:prstGeom prst="rect">
            <a:avLst/>
          </a:prstGeom>
          <a:noFill/>
          <a:ln/>
        </p:spPr>
        <p:txBody>
          <a:bodyPr wrap="square" lIns="0" tIns="0" rIns="0" bIns="0" rtlCol="0" anchor="t"/>
          <a:lstStyle/>
          <a:p>
            <a:pPr indent="0" marL="0">
              <a:lnSpc>
                <a:spcPts val="1200"/>
              </a:lnSpc>
              <a:buNone/>
            </a:pPr>
            <a:r>
              <a:rPr lang="en-US" sz="950" dirty="0">
                <a:solidFill>
                  <a:srgbClr val="3B4557"/>
                </a:solidFill>
                <a:latin typeface="Calibri" pitchFamily="34" charset="0"/>
                <a:ea typeface="Calibri" pitchFamily="34" charset="-122"/>
                <a:cs typeface="Calibri" pitchFamily="34" charset="-120"/>
              </a:rPr>
              <a:t>Anomaly Detection Gateway delivered: four evidence sources, deterministic scoring, immutable ThreatEvent ledger.</a:t>
            </a:r>
            <a:endParaRPr lang="en-US" sz="950" dirty="0"/>
          </a:p>
        </p:txBody>
      </p:sp>
      <p:sp>
        <p:nvSpPr>
          <p:cNvPr id="29" name="Shape 27"/>
          <p:cNvSpPr/>
          <p:nvPr/>
        </p:nvSpPr>
        <p:spPr>
          <a:xfrm>
            <a:off x="5166360" y="4352544"/>
            <a:ext cx="960120" cy="310896"/>
          </a:xfrm>
          <a:prstGeom prst="roundRect">
            <a:avLst>
              <a:gd name="adj" fmla="val 23529"/>
            </a:avLst>
          </a:prstGeom>
          <a:solidFill>
            <a:srgbClr val="198754"/>
          </a:solidFill>
          <a:ln w="12700">
            <a:solidFill>
              <a:srgbClr val="333333"/>
            </a:solidFill>
            <a:prstDash val="solid"/>
          </a:ln>
        </p:spPr>
      </p:sp>
      <p:sp>
        <p:nvSpPr>
          <p:cNvPr id="30" name="Text 28"/>
          <p:cNvSpPr/>
          <p:nvPr/>
        </p:nvSpPr>
        <p:spPr>
          <a:xfrm>
            <a:off x="5166360" y="4352544"/>
            <a:ext cx="96012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Implemented</a:t>
            </a:r>
            <a:endParaRPr lang="en-US" sz="850" dirty="0"/>
          </a:p>
        </p:txBody>
      </p:sp>
      <p:sp>
        <p:nvSpPr>
          <p:cNvPr id="31" name="Shape 29"/>
          <p:cNvSpPr/>
          <p:nvPr/>
        </p:nvSpPr>
        <p:spPr>
          <a:xfrm>
            <a:off x="502920" y="5029200"/>
            <a:ext cx="5623560" cy="841248"/>
          </a:xfrm>
          <a:prstGeom prst="roundRect">
            <a:avLst>
              <a:gd name="adj" fmla="val 6522"/>
            </a:avLst>
          </a:prstGeom>
          <a:solidFill>
            <a:srgbClr val="EFF7F1"/>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32" name="Shape 30"/>
          <p:cNvSpPr/>
          <p:nvPr/>
        </p:nvSpPr>
        <p:spPr>
          <a:xfrm>
            <a:off x="502920" y="5029200"/>
            <a:ext cx="384048" cy="841248"/>
          </a:xfrm>
          <a:prstGeom prst="rect">
            <a:avLst/>
          </a:prstGeom>
          <a:solidFill>
            <a:srgbClr val="2E8358"/>
          </a:solidFill>
          <a:ln w="12700">
            <a:solidFill>
              <a:srgbClr val="333333"/>
            </a:solidFill>
            <a:prstDash val="solid"/>
          </a:ln>
        </p:spPr>
      </p:sp>
      <p:sp>
        <p:nvSpPr>
          <p:cNvPr id="33" name="Text 31"/>
          <p:cNvSpPr/>
          <p:nvPr/>
        </p:nvSpPr>
        <p:spPr>
          <a:xfrm>
            <a:off x="502920" y="5029200"/>
            <a:ext cx="384048" cy="8412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E2</a:t>
            </a:r>
            <a:endParaRPr lang="en-US" sz="1200" dirty="0"/>
          </a:p>
        </p:txBody>
      </p:sp>
      <p:sp>
        <p:nvSpPr>
          <p:cNvPr id="34" name="Text 32"/>
          <p:cNvSpPr/>
          <p:nvPr/>
        </p:nvSpPr>
        <p:spPr>
          <a:xfrm>
            <a:off x="1014984" y="5120640"/>
            <a:ext cx="3977640" cy="694944"/>
          </a:xfrm>
          <a:prstGeom prst="rect">
            <a:avLst/>
          </a:prstGeom>
          <a:noFill/>
          <a:ln/>
        </p:spPr>
        <p:txBody>
          <a:bodyPr wrap="square" lIns="0" tIns="0" rIns="0" bIns="0" rtlCol="0" anchor="t"/>
          <a:lstStyle/>
          <a:p>
            <a:pPr indent="0" marL="0">
              <a:lnSpc>
                <a:spcPts val="1200"/>
              </a:lnSpc>
              <a:buNone/>
            </a:pPr>
            <a:r>
              <a:rPr lang="en-US" sz="950" dirty="0">
                <a:solidFill>
                  <a:srgbClr val="3B4557"/>
                </a:solidFill>
                <a:latin typeface="Calibri" pitchFamily="34" charset="0"/>
                <a:ea typeface="Calibri" pitchFamily="34" charset="-122"/>
                <a:cs typeface="Calibri" pitchFamily="34" charset="-120"/>
              </a:rPr>
              <a:t>Automated mitigation pipeline delivered: five actuators, safety gates, PromQL verification and rollback.</a:t>
            </a:r>
            <a:endParaRPr lang="en-US" sz="950" dirty="0"/>
          </a:p>
        </p:txBody>
      </p:sp>
      <p:sp>
        <p:nvSpPr>
          <p:cNvPr id="35" name="Shape 33"/>
          <p:cNvSpPr/>
          <p:nvPr/>
        </p:nvSpPr>
        <p:spPr>
          <a:xfrm>
            <a:off x="5166360" y="5285232"/>
            <a:ext cx="960120" cy="310896"/>
          </a:xfrm>
          <a:prstGeom prst="roundRect">
            <a:avLst>
              <a:gd name="adj" fmla="val 23529"/>
            </a:avLst>
          </a:prstGeom>
          <a:solidFill>
            <a:srgbClr val="198754"/>
          </a:solidFill>
          <a:ln w="12700">
            <a:solidFill>
              <a:srgbClr val="333333"/>
            </a:solidFill>
            <a:prstDash val="solid"/>
          </a:ln>
        </p:spPr>
      </p:sp>
      <p:sp>
        <p:nvSpPr>
          <p:cNvPr id="36" name="Text 34"/>
          <p:cNvSpPr/>
          <p:nvPr/>
        </p:nvSpPr>
        <p:spPr>
          <a:xfrm>
            <a:off x="5166360" y="5285232"/>
            <a:ext cx="96012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Implemented</a:t>
            </a:r>
            <a:endParaRPr lang="en-US" sz="850" dirty="0"/>
          </a:p>
        </p:txBody>
      </p:sp>
      <p:sp>
        <p:nvSpPr>
          <p:cNvPr id="37" name="Text 35"/>
          <p:cNvSpPr/>
          <p:nvPr/>
        </p:nvSpPr>
        <p:spPr>
          <a:xfrm>
            <a:off x="6446520" y="914400"/>
            <a:ext cx="5486400" cy="329184"/>
          </a:xfrm>
          <a:prstGeom prst="rect">
            <a:avLst/>
          </a:prstGeom>
          <a:noFill/>
          <a:ln/>
        </p:spPr>
        <p:txBody>
          <a:bodyPr wrap="square" lIns="0" tIns="0" rIns="0" bIns="0" rtlCol="0" anchor="ctr"/>
          <a:lstStyle/>
          <a:p>
            <a:pPr indent="0" marL="0">
              <a:buNone/>
            </a:pPr>
            <a:r>
              <a:rPr lang="en-US" sz="1500" b="1" dirty="0">
                <a:solidFill>
                  <a:srgbClr val="B45309"/>
                </a:solidFill>
                <a:latin typeface="Calibri" pitchFamily="34" charset="0"/>
                <a:ea typeface="Calibri" pitchFamily="34" charset="-122"/>
                <a:cs typeface="Calibri" pitchFamily="34" charset="-120"/>
              </a:rPr>
              <a:t>Declared limitations</a:t>
            </a:r>
            <a:endParaRPr lang="en-US" sz="1500" dirty="0"/>
          </a:p>
        </p:txBody>
      </p:sp>
      <p:sp>
        <p:nvSpPr>
          <p:cNvPr id="38" name="Shape 36"/>
          <p:cNvSpPr/>
          <p:nvPr/>
        </p:nvSpPr>
        <p:spPr>
          <a:xfrm>
            <a:off x="6446520" y="1298448"/>
            <a:ext cx="5239512" cy="685800"/>
          </a:xfrm>
          <a:prstGeom prst="roundRect">
            <a:avLst>
              <a:gd name="adj" fmla="val 8000"/>
            </a:avLst>
          </a:prstGeom>
          <a:solidFill>
            <a:srgbClr val="FDF6EC"/>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39" name="Shape 37"/>
          <p:cNvSpPr/>
          <p:nvPr/>
        </p:nvSpPr>
        <p:spPr>
          <a:xfrm>
            <a:off x="6446520" y="1298448"/>
            <a:ext cx="82296" cy="685800"/>
          </a:xfrm>
          <a:prstGeom prst="rect">
            <a:avLst/>
          </a:prstGeom>
          <a:solidFill>
            <a:srgbClr val="D97706"/>
          </a:solidFill>
          <a:ln w="12700">
            <a:solidFill>
              <a:srgbClr val="333333"/>
            </a:solidFill>
            <a:prstDash val="solid"/>
          </a:ln>
        </p:spPr>
      </p:sp>
      <p:sp>
        <p:nvSpPr>
          <p:cNvPr id="40" name="Text 38"/>
          <p:cNvSpPr/>
          <p:nvPr/>
        </p:nvSpPr>
        <p:spPr>
          <a:xfrm>
            <a:off x="6656832" y="1371600"/>
            <a:ext cx="4892040" cy="566928"/>
          </a:xfrm>
          <a:prstGeom prst="rect">
            <a:avLst/>
          </a:prstGeom>
          <a:noFill/>
          <a:ln/>
        </p:spPr>
        <p:txBody>
          <a:bodyPr wrap="square" lIns="0" tIns="0" rIns="0" bIns="0" rtlCol="0" anchor="t"/>
          <a:lstStyle/>
          <a:p>
            <a:pPr indent="0" marL="0">
              <a:lnSpc>
                <a:spcPts val="1200"/>
              </a:lnSpc>
              <a:buNone/>
            </a:pPr>
            <a:r>
              <a:rPr lang="en-US" sz="950" dirty="0">
                <a:solidFill>
                  <a:srgbClr val="3B4557"/>
                </a:solidFill>
                <a:latin typeface="Calibri" pitchFamily="34" charset="0"/>
                <a:ea typeface="Calibri" pitchFamily="34" charset="-122"/>
                <a:cs typeface="Calibri" pitchFamily="34" charset="-120"/>
              </a:rPr>
              <a:t>Single-node K3s cluster: the platform is logically, not physically, distributed. No real inter-region latency or partitions.</a:t>
            </a:r>
            <a:endParaRPr lang="en-US" sz="950" dirty="0"/>
          </a:p>
        </p:txBody>
      </p:sp>
      <p:sp>
        <p:nvSpPr>
          <p:cNvPr id="41" name="Shape 39"/>
          <p:cNvSpPr/>
          <p:nvPr/>
        </p:nvSpPr>
        <p:spPr>
          <a:xfrm>
            <a:off x="6446520" y="2075688"/>
            <a:ext cx="5239512" cy="685800"/>
          </a:xfrm>
          <a:prstGeom prst="roundRect">
            <a:avLst>
              <a:gd name="adj" fmla="val 8000"/>
            </a:avLst>
          </a:prstGeom>
          <a:solidFill>
            <a:srgbClr val="FDF6EC"/>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42" name="Shape 40"/>
          <p:cNvSpPr/>
          <p:nvPr/>
        </p:nvSpPr>
        <p:spPr>
          <a:xfrm>
            <a:off x="6446520" y="2075688"/>
            <a:ext cx="82296" cy="685800"/>
          </a:xfrm>
          <a:prstGeom prst="rect">
            <a:avLst/>
          </a:prstGeom>
          <a:solidFill>
            <a:srgbClr val="D97706"/>
          </a:solidFill>
          <a:ln w="12700">
            <a:solidFill>
              <a:srgbClr val="333333"/>
            </a:solidFill>
            <a:prstDash val="solid"/>
          </a:ln>
        </p:spPr>
      </p:sp>
      <p:sp>
        <p:nvSpPr>
          <p:cNvPr id="43" name="Text 41"/>
          <p:cNvSpPr/>
          <p:nvPr/>
        </p:nvSpPr>
        <p:spPr>
          <a:xfrm>
            <a:off x="6656832" y="2148840"/>
            <a:ext cx="4892040" cy="566928"/>
          </a:xfrm>
          <a:prstGeom prst="rect">
            <a:avLst/>
          </a:prstGeom>
          <a:noFill/>
          <a:ln/>
        </p:spPr>
        <p:txBody>
          <a:bodyPr wrap="square" lIns="0" tIns="0" rIns="0" bIns="0" rtlCol="0" anchor="t"/>
          <a:lstStyle/>
          <a:p>
            <a:pPr indent="0" marL="0">
              <a:lnSpc>
                <a:spcPts val="1200"/>
              </a:lnSpc>
              <a:buNone/>
            </a:pPr>
            <a:r>
              <a:rPr lang="en-US" sz="950" dirty="0">
                <a:solidFill>
                  <a:srgbClr val="3B4557"/>
                </a:solidFill>
                <a:latin typeface="Calibri" pitchFamily="34" charset="0"/>
                <a:ea typeface="Calibri" pitchFamily="34" charset="-122"/>
                <a:cs typeface="Calibri" pitchFamily="34" charset="-120"/>
              </a:rPr>
              <a:t>A1, F1 and selected E2 anomalies are detector-contract simulations, permanently flagged simulation=true.</a:t>
            </a:r>
            <a:endParaRPr lang="en-US" sz="950" dirty="0"/>
          </a:p>
        </p:txBody>
      </p:sp>
      <p:sp>
        <p:nvSpPr>
          <p:cNvPr id="44" name="Shape 42"/>
          <p:cNvSpPr/>
          <p:nvPr/>
        </p:nvSpPr>
        <p:spPr>
          <a:xfrm>
            <a:off x="6446520" y="2852928"/>
            <a:ext cx="5239512" cy="685800"/>
          </a:xfrm>
          <a:prstGeom prst="roundRect">
            <a:avLst>
              <a:gd name="adj" fmla="val 8000"/>
            </a:avLst>
          </a:prstGeom>
          <a:solidFill>
            <a:srgbClr val="FDF6EC"/>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45" name="Shape 43"/>
          <p:cNvSpPr/>
          <p:nvPr/>
        </p:nvSpPr>
        <p:spPr>
          <a:xfrm>
            <a:off x="6446520" y="2852928"/>
            <a:ext cx="82296" cy="685800"/>
          </a:xfrm>
          <a:prstGeom prst="rect">
            <a:avLst/>
          </a:prstGeom>
          <a:solidFill>
            <a:srgbClr val="D97706"/>
          </a:solidFill>
          <a:ln w="12700">
            <a:solidFill>
              <a:srgbClr val="333333"/>
            </a:solidFill>
            <a:prstDash val="solid"/>
          </a:ln>
        </p:spPr>
      </p:sp>
      <p:sp>
        <p:nvSpPr>
          <p:cNvPr id="46" name="Text 44"/>
          <p:cNvSpPr/>
          <p:nvPr/>
        </p:nvSpPr>
        <p:spPr>
          <a:xfrm>
            <a:off x="6656832" y="2926080"/>
            <a:ext cx="4892040" cy="566928"/>
          </a:xfrm>
          <a:prstGeom prst="rect">
            <a:avLst/>
          </a:prstGeom>
          <a:noFill/>
          <a:ln/>
        </p:spPr>
        <p:txBody>
          <a:bodyPr wrap="square" lIns="0" tIns="0" rIns="0" bIns="0" rtlCol="0" anchor="t"/>
          <a:lstStyle/>
          <a:p>
            <a:pPr indent="0" marL="0">
              <a:lnSpc>
                <a:spcPts val="1200"/>
              </a:lnSpc>
              <a:buNone/>
            </a:pPr>
            <a:r>
              <a:rPr lang="en-US" sz="950" dirty="0">
                <a:solidFill>
                  <a:srgbClr val="3B4557"/>
                </a:solidFill>
                <a:latin typeface="Calibri" pitchFamily="34" charset="0"/>
                <a:ea typeface="Calibri" pitchFamily="34" charset="-122"/>
                <a:cs typeface="Calibri" pitchFamily="34" charset="-120"/>
              </a:rPr>
              <a:t>No multi-vendor or commercial hardware validation; srsRAN and Open5GS only.</a:t>
            </a:r>
            <a:endParaRPr lang="en-US" sz="950" dirty="0"/>
          </a:p>
        </p:txBody>
      </p:sp>
      <p:sp>
        <p:nvSpPr>
          <p:cNvPr id="47" name="Shape 45"/>
          <p:cNvSpPr/>
          <p:nvPr/>
        </p:nvSpPr>
        <p:spPr>
          <a:xfrm>
            <a:off x="6446520" y="3630168"/>
            <a:ext cx="5239512" cy="685800"/>
          </a:xfrm>
          <a:prstGeom prst="roundRect">
            <a:avLst>
              <a:gd name="adj" fmla="val 8000"/>
            </a:avLst>
          </a:prstGeom>
          <a:solidFill>
            <a:srgbClr val="FDF6EC"/>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48" name="Shape 46"/>
          <p:cNvSpPr/>
          <p:nvPr/>
        </p:nvSpPr>
        <p:spPr>
          <a:xfrm>
            <a:off x="6446520" y="3630168"/>
            <a:ext cx="82296" cy="685800"/>
          </a:xfrm>
          <a:prstGeom prst="rect">
            <a:avLst/>
          </a:prstGeom>
          <a:solidFill>
            <a:srgbClr val="D97706"/>
          </a:solidFill>
          <a:ln w="12700">
            <a:solidFill>
              <a:srgbClr val="333333"/>
            </a:solidFill>
            <a:prstDash val="solid"/>
          </a:ln>
        </p:spPr>
      </p:sp>
      <p:sp>
        <p:nvSpPr>
          <p:cNvPr id="49" name="Text 47"/>
          <p:cNvSpPr/>
          <p:nvPr/>
        </p:nvSpPr>
        <p:spPr>
          <a:xfrm>
            <a:off x="6656832" y="3703320"/>
            <a:ext cx="4892040" cy="566928"/>
          </a:xfrm>
          <a:prstGeom prst="rect">
            <a:avLst/>
          </a:prstGeom>
          <a:noFill/>
          <a:ln/>
        </p:spPr>
        <p:txBody>
          <a:bodyPr wrap="square" lIns="0" tIns="0" rIns="0" bIns="0" rtlCol="0" anchor="t"/>
          <a:lstStyle/>
          <a:p>
            <a:pPr indent="0" marL="0">
              <a:lnSpc>
                <a:spcPts val="1200"/>
              </a:lnSpc>
              <a:buNone/>
            </a:pPr>
            <a:r>
              <a:rPr lang="en-US" sz="950" dirty="0">
                <a:solidFill>
                  <a:srgbClr val="3B4557"/>
                </a:solidFill>
                <a:latin typeface="Calibri" pitchFamily="34" charset="0"/>
                <a:ea typeface="Calibri" pitchFamily="34" charset="-122"/>
                <a:cs typeface="Calibri" pitchFamily="34" charset="-120"/>
              </a:rPr>
              <a:t>Score weights are pre-declared, not empirically calibrated against an external ground truth.</a:t>
            </a:r>
            <a:endParaRPr lang="en-US" sz="950" dirty="0"/>
          </a:p>
        </p:txBody>
      </p:sp>
      <p:sp>
        <p:nvSpPr>
          <p:cNvPr id="50" name="Shape 48"/>
          <p:cNvSpPr/>
          <p:nvPr/>
        </p:nvSpPr>
        <p:spPr>
          <a:xfrm>
            <a:off x="6446520" y="4407408"/>
            <a:ext cx="5239512" cy="685800"/>
          </a:xfrm>
          <a:prstGeom prst="roundRect">
            <a:avLst>
              <a:gd name="adj" fmla="val 8000"/>
            </a:avLst>
          </a:prstGeom>
          <a:solidFill>
            <a:srgbClr val="FDF6EC"/>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51" name="Shape 49"/>
          <p:cNvSpPr/>
          <p:nvPr/>
        </p:nvSpPr>
        <p:spPr>
          <a:xfrm>
            <a:off x="6446520" y="4407408"/>
            <a:ext cx="82296" cy="685800"/>
          </a:xfrm>
          <a:prstGeom prst="rect">
            <a:avLst/>
          </a:prstGeom>
          <a:solidFill>
            <a:srgbClr val="D97706"/>
          </a:solidFill>
          <a:ln w="12700">
            <a:solidFill>
              <a:srgbClr val="333333"/>
            </a:solidFill>
            <a:prstDash val="solid"/>
          </a:ln>
        </p:spPr>
      </p:sp>
      <p:sp>
        <p:nvSpPr>
          <p:cNvPr id="52" name="Text 50"/>
          <p:cNvSpPr/>
          <p:nvPr/>
        </p:nvSpPr>
        <p:spPr>
          <a:xfrm>
            <a:off x="6656832" y="4480560"/>
            <a:ext cx="4892040" cy="566928"/>
          </a:xfrm>
          <a:prstGeom prst="rect">
            <a:avLst/>
          </a:prstGeom>
          <a:noFill/>
          <a:ln/>
        </p:spPr>
        <p:txBody>
          <a:bodyPr wrap="square" lIns="0" tIns="0" rIns="0" bIns="0" rtlCol="0" anchor="t"/>
          <a:lstStyle/>
          <a:p>
            <a:pPr indent="0" marL="0">
              <a:lnSpc>
                <a:spcPts val="1200"/>
              </a:lnSpc>
              <a:buNone/>
            </a:pPr>
            <a:r>
              <a:rPr lang="en-US" sz="950" dirty="0">
                <a:solidFill>
                  <a:srgbClr val="3B4557"/>
                </a:solidFill>
                <a:latin typeface="Calibri" pitchFamily="34" charset="0"/>
                <a:ea typeface="Calibri" pitchFamily="34" charset="-122"/>
                <a:cs typeface="Calibri" pitchFamily="34" charset="-120"/>
              </a:rPr>
              <a:t>Per-UE containment is realised in the 5G core, because srsRAN answers an E2SM-RC control request with RIC Control Failure.</a:t>
            </a:r>
            <a:endParaRPr lang="en-US" sz="950" dirty="0"/>
          </a:p>
        </p:txBody>
      </p:sp>
      <p:sp>
        <p:nvSpPr>
          <p:cNvPr id="53" name="Shape 51"/>
          <p:cNvSpPr/>
          <p:nvPr/>
        </p:nvSpPr>
        <p:spPr>
          <a:xfrm>
            <a:off x="6446520" y="5184648"/>
            <a:ext cx="5239512" cy="685800"/>
          </a:xfrm>
          <a:prstGeom prst="roundRect">
            <a:avLst>
              <a:gd name="adj" fmla="val 8000"/>
            </a:avLst>
          </a:prstGeom>
          <a:solidFill>
            <a:srgbClr val="FDF6EC"/>
          </a:solidFill>
          <a:ln w="9525">
            <a:solidFill>
              <a:srgbClr val="D5DBE4"/>
            </a:solidFill>
            <a:prstDash val="solid"/>
          </a:ln>
          <a:effectLst>
            <a:outerShdw sx="100000" sy="100000" kx="0" ky="0" algn="bl" rotWithShape="0" blurRad="127000" dist="25400" dir="5400000">
              <a:srgbClr val="A9B4C6">
                <a:alpha val="20000"/>
              </a:srgbClr>
            </a:outerShdw>
          </a:effectLst>
        </p:spPr>
      </p:sp>
      <p:sp>
        <p:nvSpPr>
          <p:cNvPr id="54" name="Shape 52"/>
          <p:cNvSpPr/>
          <p:nvPr/>
        </p:nvSpPr>
        <p:spPr>
          <a:xfrm>
            <a:off x="6446520" y="5184648"/>
            <a:ext cx="82296" cy="685800"/>
          </a:xfrm>
          <a:prstGeom prst="rect">
            <a:avLst/>
          </a:prstGeom>
          <a:solidFill>
            <a:srgbClr val="D97706"/>
          </a:solidFill>
          <a:ln w="12700">
            <a:solidFill>
              <a:srgbClr val="333333"/>
            </a:solidFill>
            <a:prstDash val="solid"/>
          </a:ln>
        </p:spPr>
      </p:sp>
      <p:sp>
        <p:nvSpPr>
          <p:cNvPr id="55" name="Text 53"/>
          <p:cNvSpPr/>
          <p:nvPr/>
        </p:nvSpPr>
        <p:spPr>
          <a:xfrm>
            <a:off x="6656832" y="5257800"/>
            <a:ext cx="4892040" cy="566928"/>
          </a:xfrm>
          <a:prstGeom prst="rect">
            <a:avLst/>
          </a:prstGeom>
          <a:noFill/>
          <a:ln/>
        </p:spPr>
        <p:txBody>
          <a:bodyPr wrap="square" lIns="0" tIns="0" rIns="0" bIns="0" rtlCol="0" anchor="t"/>
          <a:lstStyle/>
          <a:p>
            <a:pPr indent="0" marL="0">
              <a:lnSpc>
                <a:spcPts val="1200"/>
              </a:lnSpc>
              <a:buNone/>
            </a:pPr>
            <a:r>
              <a:rPr lang="en-US" sz="950" dirty="0">
                <a:solidFill>
                  <a:srgbClr val="3B4557"/>
                </a:solidFill>
                <a:latin typeface="Calibri" pitchFamily="34" charset="0"/>
                <a:ea typeface="Calibri" pitchFamily="34" charset="-122"/>
                <a:cs typeface="Calibri" pitchFamily="34" charset="-120"/>
              </a:rPr>
              <a:t>Cross-region mitigation advantage measured over N = 10 runs, treated as indicative rather than a universal claim.</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1F1F6"/>
        </a:solidFill>
      </p:bgPr>
    </p:bg>
    <p:spTree>
      <p:nvGrpSpPr>
        <p:cNvPr id="1" name=""/>
        <p:cNvGrpSpPr/>
        <p:nvPr/>
      </p:nvGrpSpPr>
      <p:grpSpPr>
        <a:xfrm>
          <a:off x="0" y="0"/>
          <a:ext cx="0" cy="0"/>
          <a:chOff x="0" y="0"/>
          <a:chExt cx="0" cy="0"/>
        </a:xfrm>
      </p:grpSpPr>
      <p:sp>
        <p:nvSpPr>
          <p:cNvPr id="2" name="Shape 0"/>
          <p:cNvSpPr/>
          <p:nvPr/>
        </p:nvSpPr>
        <p:spPr>
          <a:xfrm>
            <a:off x="-1005840" y="-822960"/>
            <a:ext cx="3383280" cy="2834640"/>
          </a:xfrm>
          <a:prstGeom prst="roundRect">
            <a:avLst>
              <a:gd name="adj" fmla="val 9677"/>
            </a:avLst>
          </a:prstGeom>
          <a:solidFill>
            <a:srgbClr val="DBE2EB"/>
          </a:solidFill>
          <a:ln w="12700">
            <a:solidFill>
              <a:srgbClr val="DBE2EB"/>
            </a:solidFill>
            <a:prstDash val="solid"/>
          </a:ln>
        </p:spPr>
      </p:sp>
      <p:sp>
        <p:nvSpPr>
          <p:cNvPr id="3" name="Text 1"/>
          <p:cNvSpPr/>
          <p:nvPr/>
        </p:nvSpPr>
        <p:spPr>
          <a:xfrm>
            <a:off x="502920" y="219456"/>
            <a:ext cx="11185855" cy="658368"/>
          </a:xfrm>
          <a:prstGeom prst="rect">
            <a:avLst/>
          </a:prstGeom>
          <a:noFill/>
          <a:ln/>
        </p:spPr>
        <p:txBody>
          <a:bodyPr wrap="square" lIns="0" tIns="0" rIns="0" bIns="0" rtlCol="0" anchor="ctr"/>
          <a:lstStyle/>
          <a:p>
            <a:pPr indent="0" marL="0">
              <a:buNone/>
            </a:pPr>
            <a:r>
              <a:rPr lang="en-US" sz="2900" b="1" dirty="0">
                <a:solidFill>
                  <a:srgbClr val="0F1B40"/>
                </a:solidFill>
                <a:latin typeface="Arial" pitchFamily="34" charset="0"/>
                <a:ea typeface="Arial" pitchFamily="34" charset="-122"/>
                <a:cs typeface="Arial" pitchFamily="34" charset="-120"/>
              </a:rPr>
              <a:t>Future Work</a:t>
            </a:r>
            <a:endParaRPr lang="en-US" sz="2900" dirty="0"/>
          </a:p>
        </p:txBody>
      </p:sp>
      <p:sp>
        <p:nvSpPr>
          <p:cNvPr id="4" name="Shape 2"/>
          <p:cNvSpPr/>
          <p:nvPr/>
        </p:nvSpPr>
        <p:spPr>
          <a:xfrm>
            <a:off x="11478463" y="6236208"/>
            <a:ext cx="384048" cy="384048"/>
          </a:xfrm>
          <a:prstGeom prst="ellipse">
            <a:avLst/>
          </a:prstGeom>
          <a:solidFill>
            <a:srgbClr val="8FA3C1"/>
          </a:solidFill>
          <a:ln w="12700">
            <a:solidFill>
              <a:srgbClr val="8FA3C1"/>
            </a:solidFill>
            <a:prstDash val="solid"/>
          </a:ln>
        </p:spPr>
      </p:sp>
      <p:sp>
        <p:nvSpPr>
          <p:cNvPr id="5" name="Text 3"/>
          <p:cNvSpPr/>
          <p:nvPr/>
        </p:nvSpPr>
        <p:spPr>
          <a:xfrm>
            <a:off x="11478463" y="6236208"/>
            <a:ext cx="384048" cy="384048"/>
          </a:xfrm>
          <a:prstGeom prst="rect">
            <a:avLst/>
          </a:prstGeom>
          <a:noFill/>
          <a:ln/>
        </p:spPr>
        <p:txBody>
          <a:bodyPr wrap="square" lIns="0" tIns="0" rIns="0" bIns="0" rtlCol="0" anchor="ctr"/>
          <a:lstStyle/>
          <a:p>
            <a:pPr algn="ctr" indent="0" marL="0">
              <a:buNone/>
            </a:pPr>
            <a:r>
              <a:rPr lang="en-US" sz="1100" b="1" dirty="0">
                <a:solidFill>
                  <a:srgbClr val="0F1B40"/>
                </a:solidFill>
                <a:latin typeface="Calibri" pitchFamily="34" charset="0"/>
                <a:ea typeface="Calibri" pitchFamily="34" charset="-122"/>
                <a:cs typeface="Calibri" pitchFamily="34" charset="-120"/>
              </a:rPr>
              <a:t>23</a:t>
            </a:r>
            <a:endParaRPr lang="en-US" sz="1100" dirty="0"/>
          </a:p>
        </p:txBody>
      </p:sp>
      <p:sp>
        <p:nvSpPr>
          <p:cNvPr id="6" name="Shape 4"/>
          <p:cNvSpPr/>
          <p:nvPr/>
        </p:nvSpPr>
        <p:spPr>
          <a:xfrm>
            <a:off x="502920" y="1143000"/>
            <a:ext cx="109728" cy="1417320"/>
          </a:xfrm>
          <a:prstGeom prst="rect">
            <a:avLst/>
          </a:prstGeom>
          <a:solidFill>
            <a:srgbClr val="18D9E3"/>
          </a:solidFill>
          <a:ln w="12700">
            <a:solidFill>
              <a:srgbClr val="333333"/>
            </a:solidFill>
            <a:prstDash val="solid"/>
          </a:ln>
        </p:spPr>
      </p:sp>
      <p:sp>
        <p:nvSpPr>
          <p:cNvPr id="7" name="Shape 5"/>
          <p:cNvSpPr/>
          <p:nvPr/>
        </p:nvSpPr>
        <p:spPr>
          <a:xfrm>
            <a:off x="612648" y="1143000"/>
            <a:ext cx="5358384" cy="1417320"/>
          </a:xfrm>
          <a:prstGeom prst="roundRect">
            <a:avLst>
              <a:gd name="adj" fmla="val 3871"/>
            </a:avLst>
          </a:prstGeom>
          <a:solidFill>
            <a:srgbClr val="142648"/>
          </a:solidFill>
          <a:ln w="12700">
            <a:solidFill>
              <a:srgbClr val="333333"/>
            </a:solidFill>
            <a:prstDash val="solid"/>
          </a:ln>
        </p:spPr>
      </p:sp>
      <p:sp>
        <p:nvSpPr>
          <p:cNvPr id="8" name="Text 6"/>
          <p:cNvSpPr/>
          <p:nvPr/>
        </p:nvSpPr>
        <p:spPr>
          <a:xfrm>
            <a:off x="850392" y="1289304"/>
            <a:ext cx="49377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Deploy across physical nodes</a:t>
            </a:r>
            <a:endParaRPr lang="en-US" sz="1500" dirty="0"/>
          </a:p>
        </p:txBody>
      </p:sp>
      <p:sp>
        <p:nvSpPr>
          <p:cNvPr id="9" name="Text 7"/>
          <p:cNvSpPr/>
          <p:nvPr/>
        </p:nvSpPr>
        <p:spPr>
          <a:xfrm>
            <a:off x="850392" y="1709928"/>
            <a:ext cx="4937760" cy="731520"/>
          </a:xfrm>
          <a:prstGeom prst="rect">
            <a:avLst/>
          </a:prstGeom>
          <a:noFill/>
          <a:ln/>
        </p:spPr>
        <p:txBody>
          <a:bodyPr wrap="square" lIns="0" tIns="0" rIns="0" bIns="0" rtlCol="0" anchor="t"/>
          <a:lstStyle/>
          <a:p>
            <a:pPr indent="0" marL="0">
              <a:lnSpc>
                <a:spcPts val="1500"/>
              </a:lnSpc>
              <a:buNone/>
            </a:pPr>
            <a:r>
              <a:rPr lang="en-US" sz="1150" dirty="0">
                <a:solidFill>
                  <a:srgbClr val="B9C6DC"/>
                </a:solidFill>
                <a:latin typeface="Calibri" pitchFamily="34" charset="0"/>
                <a:ea typeface="Calibri" pitchFamily="34" charset="-122"/>
                <a:cs typeface="Calibri" pitchFamily="34" charset="-120"/>
              </a:rPr>
              <a:t>Measure real inter-region latency, partitions and independent failure domains.</a:t>
            </a:r>
            <a:endParaRPr lang="en-US" sz="1150" dirty="0"/>
          </a:p>
        </p:txBody>
      </p:sp>
      <p:sp>
        <p:nvSpPr>
          <p:cNvPr id="10" name="Shape 8"/>
          <p:cNvSpPr/>
          <p:nvPr/>
        </p:nvSpPr>
        <p:spPr>
          <a:xfrm>
            <a:off x="6208776" y="1143000"/>
            <a:ext cx="109728" cy="1417320"/>
          </a:xfrm>
          <a:prstGeom prst="rect">
            <a:avLst/>
          </a:prstGeom>
          <a:solidFill>
            <a:srgbClr val="8B5CF6"/>
          </a:solidFill>
          <a:ln w="12700">
            <a:solidFill>
              <a:srgbClr val="333333"/>
            </a:solidFill>
            <a:prstDash val="solid"/>
          </a:ln>
        </p:spPr>
      </p:sp>
      <p:sp>
        <p:nvSpPr>
          <p:cNvPr id="11" name="Shape 9"/>
          <p:cNvSpPr/>
          <p:nvPr/>
        </p:nvSpPr>
        <p:spPr>
          <a:xfrm>
            <a:off x="6318504" y="1143000"/>
            <a:ext cx="5358384" cy="1417320"/>
          </a:xfrm>
          <a:prstGeom prst="roundRect">
            <a:avLst>
              <a:gd name="adj" fmla="val 3871"/>
            </a:avLst>
          </a:prstGeom>
          <a:solidFill>
            <a:srgbClr val="142648"/>
          </a:solidFill>
          <a:ln w="12700">
            <a:solidFill>
              <a:srgbClr val="333333"/>
            </a:solidFill>
            <a:prstDash val="solid"/>
          </a:ln>
        </p:spPr>
      </p:sp>
      <p:sp>
        <p:nvSpPr>
          <p:cNvPr id="12" name="Text 10"/>
          <p:cNvSpPr/>
          <p:nvPr/>
        </p:nvSpPr>
        <p:spPr>
          <a:xfrm>
            <a:off x="6556248" y="1289304"/>
            <a:ext cx="49377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Use local / paid resilient models</a:t>
            </a:r>
            <a:endParaRPr lang="en-US" sz="1500" dirty="0"/>
          </a:p>
        </p:txBody>
      </p:sp>
      <p:sp>
        <p:nvSpPr>
          <p:cNvPr id="13" name="Text 11"/>
          <p:cNvSpPr/>
          <p:nvPr/>
        </p:nvSpPr>
        <p:spPr>
          <a:xfrm>
            <a:off x="6556248" y="1709928"/>
            <a:ext cx="4937760" cy="731520"/>
          </a:xfrm>
          <a:prstGeom prst="rect">
            <a:avLst/>
          </a:prstGeom>
          <a:noFill/>
          <a:ln/>
        </p:spPr>
        <p:txBody>
          <a:bodyPr wrap="square" lIns="0" tIns="0" rIns="0" bIns="0" rtlCol="0" anchor="t"/>
          <a:lstStyle/>
          <a:p>
            <a:pPr indent="0" marL="0">
              <a:lnSpc>
                <a:spcPts val="1500"/>
              </a:lnSpc>
              <a:buNone/>
            </a:pPr>
            <a:r>
              <a:rPr lang="en-US" sz="1150" dirty="0">
                <a:solidFill>
                  <a:srgbClr val="B9C6DC"/>
                </a:solidFill>
                <a:latin typeface="Calibri" pitchFamily="34" charset="0"/>
                <a:ea typeface="Calibri" pitchFamily="34" charset="-122"/>
                <a:cs typeface="Calibri" pitchFamily="34" charset="-120"/>
              </a:rPr>
              <a:t>Reduce quota dependence, migrate deprecated SDKs and evaluate provider diversity.</a:t>
            </a:r>
            <a:endParaRPr lang="en-US" sz="1150" dirty="0"/>
          </a:p>
        </p:txBody>
      </p:sp>
      <p:sp>
        <p:nvSpPr>
          <p:cNvPr id="14" name="Shape 12"/>
          <p:cNvSpPr/>
          <p:nvPr/>
        </p:nvSpPr>
        <p:spPr>
          <a:xfrm>
            <a:off x="502920" y="2807208"/>
            <a:ext cx="109728" cy="1417320"/>
          </a:xfrm>
          <a:prstGeom prst="rect">
            <a:avLst/>
          </a:prstGeom>
          <a:solidFill>
            <a:srgbClr val="34D399"/>
          </a:solidFill>
          <a:ln w="12700">
            <a:solidFill>
              <a:srgbClr val="333333"/>
            </a:solidFill>
            <a:prstDash val="solid"/>
          </a:ln>
        </p:spPr>
      </p:sp>
      <p:sp>
        <p:nvSpPr>
          <p:cNvPr id="15" name="Shape 13"/>
          <p:cNvSpPr/>
          <p:nvPr/>
        </p:nvSpPr>
        <p:spPr>
          <a:xfrm>
            <a:off x="612648" y="2807208"/>
            <a:ext cx="5358384" cy="1417320"/>
          </a:xfrm>
          <a:prstGeom prst="roundRect">
            <a:avLst>
              <a:gd name="adj" fmla="val 3871"/>
            </a:avLst>
          </a:prstGeom>
          <a:solidFill>
            <a:srgbClr val="142648"/>
          </a:solidFill>
          <a:ln w="12700">
            <a:solidFill>
              <a:srgbClr val="333333"/>
            </a:solidFill>
            <a:prstDash val="solid"/>
          </a:ln>
        </p:spPr>
      </p:sp>
      <p:sp>
        <p:nvSpPr>
          <p:cNvPr id="16" name="Text 14"/>
          <p:cNvSpPr/>
          <p:nvPr/>
        </p:nvSpPr>
        <p:spPr>
          <a:xfrm>
            <a:off x="850392" y="2953512"/>
            <a:ext cx="49377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Expand frozen ground truth</a:t>
            </a:r>
            <a:endParaRPr lang="en-US" sz="1500" dirty="0"/>
          </a:p>
        </p:txBody>
      </p:sp>
      <p:sp>
        <p:nvSpPr>
          <p:cNvPr id="17" name="Text 15"/>
          <p:cNvSpPr/>
          <p:nvPr/>
        </p:nvSpPr>
        <p:spPr>
          <a:xfrm>
            <a:off x="850392" y="3374136"/>
            <a:ext cx="4937760" cy="731520"/>
          </a:xfrm>
          <a:prstGeom prst="rect">
            <a:avLst/>
          </a:prstGeom>
          <a:noFill/>
          <a:ln/>
        </p:spPr>
        <p:txBody>
          <a:bodyPr wrap="square" lIns="0" tIns="0" rIns="0" bIns="0" rtlCol="0" anchor="t"/>
          <a:lstStyle/>
          <a:p>
            <a:pPr indent="0" marL="0">
              <a:lnSpc>
                <a:spcPts val="1500"/>
              </a:lnSpc>
              <a:buNone/>
            </a:pPr>
            <a:r>
              <a:rPr lang="en-US" sz="1150" dirty="0">
                <a:solidFill>
                  <a:srgbClr val="B9C6DC"/>
                </a:solidFill>
                <a:latin typeface="Calibri" pitchFamily="34" charset="0"/>
                <a:ea typeface="Calibri" pitchFamily="34" charset="-122"/>
                <a:cs typeface="Calibri" pitchFamily="34" charset="-120"/>
              </a:rPr>
              <a:t>Add reviewed O-RAN cases, adversarial paraphrases and external assessors.</a:t>
            </a:r>
            <a:endParaRPr lang="en-US" sz="1150" dirty="0"/>
          </a:p>
        </p:txBody>
      </p:sp>
      <p:sp>
        <p:nvSpPr>
          <p:cNvPr id="18" name="Shape 16"/>
          <p:cNvSpPr/>
          <p:nvPr/>
        </p:nvSpPr>
        <p:spPr>
          <a:xfrm>
            <a:off x="6208776" y="2807208"/>
            <a:ext cx="109728" cy="1417320"/>
          </a:xfrm>
          <a:prstGeom prst="rect">
            <a:avLst/>
          </a:prstGeom>
          <a:solidFill>
            <a:srgbClr val="F59E0B"/>
          </a:solidFill>
          <a:ln w="12700">
            <a:solidFill>
              <a:srgbClr val="333333"/>
            </a:solidFill>
            <a:prstDash val="solid"/>
          </a:ln>
        </p:spPr>
      </p:sp>
      <p:sp>
        <p:nvSpPr>
          <p:cNvPr id="19" name="Shape 17"/>
          <p:cNvSpPr/>
          <p:nvPr/>
        </p:nvSpPr>
        <p:spPr>
          <a:xfrm>
            <a:off x="6318504" y="2807208"/>
            <a:ext cx="5358384" cy="1417320"/>
          </a:xfrm>
          <a:prstGeom prst="roundRect">
            <a:avLst>
              <a:gd name="adj" fmla="val 3871"/>
            </a:avLst>
          </a:prstGeom>
          <a:solidFill>
            <a:srgbClr val="142648"/>
          </a:solidFill>
          <a:ln w="12700">
            <a:solidFill>
              <a:srgbClr val="333333"/>
            </a:solidFill>
            <a:prstDash val="solid"/>
          </a:ln>
        </p:spPr>
      </p:sp>
      <p:sp>
        <p:nvSpPr>
          <p:cNvPr id="20" name="Text 18"/>
          <p:cNvSpPr/>
          <p:nvPr/>
        </p:nvSpPr>
        <p:spPr>
          <a:xfrm>
            <a:off x="6556248" y="2953512"/>
            <a:ext cx="49377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Improve retrieval quality</a:t>
            </a:r>
            <a:endParaRPr lang="en-US" sz="1500" dirty="0"/>
          </a:p>
        </p:txBody>
      </p:sp>
      <p:sp>
        <p:nvSpPr>
          <p:cNvPr id="21" name="Text 19"/>
          <p:cNvSpPr/>
          <p:nvPr/>
        </p:nvSpPr>
        <p:spPr>
          <a:xfrm>
            <a:off x="6556248" y="3374136"/>
            <a:ext cx="4937760" cy="731520"/>
          </a:xfrm>
          <a:prstGeom prst="rect">
            <a:avLst/>
          </a:prstGeom>
          <a:noFill/>
          <a:ln/>
        </p:spPr>
        <p:txBody>
          <a:bodyPr wrap="square" lIns="0" tIns="0" rIns="0" bIns="0" rtlCol="0" anchor="t"/>
          <a:lstStyle/>
          <a:p>
            <a:pPr indent="0" marL="0">
              <a:lnSpc>
                <a:spcPts val="1500"/>
              </a:lnSpc>
              <a:buNone/>
            </a:pPr>
            <a:r>
              <a:rPr lang="en-US" sz="1150" dirty="0">
                <a:solidFill>
                  <a:srgbClr val="B9C6DC"/>
                </a:solidFill>
                <a:latin typeface="Calibri" pitchFamily="34" charset="0"/>
                <a:ea typeface="Calibri" pitchFamily="34" charset="-122"/>
                <a:cs typeface="Calibri" pitchFamily="34" charset="-120"/>
              </a:rPr>
              <a:t>Hybrid retrieval, reranking, metadata filters and validation of learned knowledge.</a:t>
            </a:r>
            <a:endParaRPr lang="en-US" sz="1150" dirty="0"/>
          </a:p>
        </p:txBody>
      </p:sp>
      <p:sp>
        <p:nvSpPr>
          <p:cNvPr id="22" name="Shape 20"/>
          <p:cNvSpPr/>
          <p:nvPr/>
        </p:nvSpPr>
        <p:spPr>
          <a:xfrm>
            <a:off x="502920" y="4471416"/>
            <a:ext cx="109728" cy="1417320"/>
          </a:xfrm>
          <a:prstGeom prst="rect">
            <a:avLst/>
          </a:prstGeom>
          <a:solidFill>
            <a:srgbClr val="60A5FA"/>
          </a:solidFill>
          <a:ln w="12700">
            <a:solidFill>
              <a:srgbClr val="333333"/>
            </a:solidFill>
            <a:prstDash val="solid"/>
          </a:ln>
        </p:spPr>
      </p:sp>
      <p:sp>
        <p:nvSpPr>
          <p:cNvPr id="23" name="Shape 21"/>
          <p:cNvSpPr/>
          <p:nvPr/>
        </p:nvSpPr>
        <p:spPr>
          <a:xfrm>
            <a:off x="612648" y="4471416"/>
            <a:ext cx="5358384" cy="1417320"/>
          </a:xfrm>
          <a:prstGeom prst="roundRect">
            <a:avLst>
              <a:gd name="adj" fmla="val 3871"/>
            </a:avLst>
          </a:prstGeom>
          <a:solidFill>
            <a:srgbClr val="142648"/>
          </a:solidFill>
          <a:ln w="12700">
            <a:solidFill>
              <a:srgbClr val="333333"/>
            </a:solidFill>
            <a:prstDash val="solid"/>
          </a:ln>
        </p:spPr>
      </p:sp>
      <p:sp>
        <p:nvSpPr>
          <p:cNvPr id="24" name="Text 22"/>
          <p:cNvSpPr/>
          <p:nvPr/>
        </p:nvSpPr>
        <p:spPr>
          <a:xfrm>
            <a:off x="850392" y="4617720"/>
            <a:ext cx="49377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Strengthen control verification</a:t>
            </a:r>
            <a:endParaRPr lang="en-US" sz="1500" dirty="0"/>
          </a:p>
        </p:txBody>
      </p:sp>
      <p:sp>
        <p:nvSpPr>
          <p:cNvPr id="25" name="Text 23"/>
          <p:cNvSpPr/>
          <p:nvPr/>
        </p:nvSpPr>
        <p:spPr>
          <a:xfrm>
            <a:off x="850392" y="5038344"/>
            <a:ext cx="4937760" cy="731520"/>
          </a:xfrm>
          <a:prstGeom prst="rect">
            <a:avLst/>
          </a:prstGeom>
          <a:noFill/>
          <a:ln/>
        </p:spPr>
        <p:txBody>
          <a:bodyPr wrap="square" lIns="0" tIns="0" rIns="0" bIns="0" rtlCol="0" anchor="t"/>
          <a:lstStyle/>
          <a:p>
            <a:pPr indent="0" marL="0">
              <a:lnSpc>
                <a:spcPts val="1500"/>
              </a:lnSpc>
              <a:buNone/>
            </a:pPr>
            <a:r>
              <a:rPr lang="en-US" sz="1150" dirty="0">
                <a:solidFill>
                  <a:srgbClr val="B9C6DC"/>
                </a:solidFill>
                <a:latin typeface="Calibri" pitchFamily="34" charset="0"/>
                <a:ea typeface="Calibri" pitchFamily="34" charset="-122"/>
                <a:cs typeface="Calibri" pitchFamily="34" charset="-120"/>
              </a:rPr>
              <a:t>Broader E2SM-RC profiles, causal effect checks and richer rollback policies.</a:t>
            </a:r>
            <a:endParaRPr lang="en-US" sz="1150" dirty="0"/>
          </a:p>
        </p:txBody>
      </p:sp>
      <p:sp>
        <p:nvSpPr>
          <p:cNvPr id="26" name="Shape 24"/>
          <p:cNvSpPr/>
          <p:nvPr/>
        </p:nvSpPr>
        <p:spPr>
          <a:xfrm>
            <a:off x="6208776" y="4471416"/>
            <a:ext cx="109728" cy="1417320"/>
          </a:xfrm>
          <a:prstGeom prst="rect">
            <a:avLst/>
          </a:prstGeom>
          <a:solidFill>
            <a:srgbClr val="F87171"/>
          </a:solidFill>
          <a:ln w="12700">
            <a:solidFill>
              <a:srgbClr val="333333"/>
            </a:solidFill>
            <a:prstDash val="solid"/>
          </a:ln>
        </p:spPr>
      </p:sp>
      <p:sp>
        <p:nvSpPr>
          <p:cNvPr id="27" name="Shape 25"/>
          <p:cNvSpPr/>
          <p:nvPr/>
        </p:nvSpPr>
        <p:spPr>
          <a:xfrm>
            <a:off x="6318504" y="4471416"/>
            <a:ext cx="5358384" cy="1417320"/>
          </a:xfrm>
          <a:prstGeom prst="roundRect">
            <a:avLst>
              <a:gd name="adj" fmla="val 3871"/>
            </a:avLst>
          </a:prstGeom>
          <a:solidFill>
            <a:srgbClr val="142648"/>
          </a:solidFill>
          <a:ln w="12700">
            <a:solidFill>
              <a:srgbClr val="333333"/>
            </a:solidFill>
            <a:prstDash val="solid"/>
          </a:ln>
        </p:spPr>
      </p:sp>
      <p:sp>
        <p:nvSpPr>
          <p:cNvPr id="28" name="Text 26"/>
          <p:cNvSpPr/>
          <p:nvPr/>
        </p:nvSpPr>
        <p:spPr>
          <a:xfrm>
            <a:off x="6556248" y="4617720"/>
            <a:ext cx="49377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Longitudinal evaluation</a:t>
            </a:r>
            <a:endParaRPr lang="en-US" sz="1500" dirty="0"/>
          </a:p>
        </p:txBody>
      </p:sp>
      <p:sp>
        <p:nvSpPr>
          <p:cNvPr id="29" name="Text 27"/>
          <p:cNvSpPr/>
          <p:nvPr/>
        </p:nvSpPr>
        <p:spPr>
          <a:xfrm>
            <a:off x="6556248" y="5038344"/>
            <a:ext cx="4937760" cy="731520"/>
          </a:xfrm>
          <a:prstGeom prst="rect">
            <a:avLst/>
          </a:prstGeom>
          <a:noFill/>
          <a:ln/>
        </p:spPr>
        <p:txBody>
          <a:bodyPr wrap="square" lIns="0" tIns="0" rIns="0" bIns="0" rtlCol="0" anchor="t"/>
          <a:lstStyle/>
          <a:p>
            <a:pPr indent="0" marL="0">
              <a:lnSpc>
                <a:spcPts val="1500"/>
              </a:lnSpc>
              <a:buNone/>
            </a:pPr>
            <a:r>
              <a:rPr lang="en-US" sz="1150" dirty="0">
                <a:solidFill>
                  <a:srgbClr val="B9C6DC"/>
                </a:solidFill>
                <a:latin typeface="Calibri" pitchFamily="34" charset="0"/>
                <a:ea typeface="Calibri" pitchFamily="34" charset="-122"/>
                <a:cs typeface="Calibri" pitchFamily="34" charset="-120"/>
              </a:rPr>
              <a:t>Run multi-week campaigns and test whether local resolution rises without quality drift.</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2648"/>
        </a:solidFill>
      </p:bgPr>
    </p:bg>
    <p:spTree>
      <p:nvGrpSpPr>
        <p:cNvPr id="1" name=""/>
        <p:cNvGrpSpPr/>
        <p:nvPr/>
      </p:nvGrpSpPr>
      <p:grpSpPr>
        <a:xfrm>
          <a:off x="0" y="0"/>
          <a:ext cx="0" cy="0"/>
          <a:chOff x="0" y="0"/>
          <a:chExt cx="0" cy="0"/>
        </a:xfrm>
      </p:grpSpPr>
      <p:sp>
        <p:nvSpPr>
          <p:cNvPr id="2" name="Shape 0"/>
          <p:cNvSpPr/>
          <p:nvPr/>
        </p:nvSpPr>
        <p:spPr>
          <a:xfrm>
            <a:off x="8778240" y="-1463040"/>
            <a:ext cx="5852160" cy="5852160"/>
          </a:xfrm>
          <a:prstGeom prst="ellipse">
            <a:avLst/>
          </a:prstGeom>
          <a:solidFill>
            <a:srgbClr val="1B3160"/>
          </a:solidFill>
          <a:ln w="12700">
            <a:solidFill>
              <a:srgbClr val="333333"/>
            </a:solidFill>
            <a:prstDash val="solid"/>
          </a:ln>
        </p:spPr>
      </p:sp>
      <p:sp>
        <p:nvSpPr>
          <p:cNvPr id="3" name="Shape 1"/>
          <p:cNvSpPr/>
          <p:nvPr/>
        </p:nvSpPr>
        <p:spPr>
          <a:xfrm>
            <a:off x="9692640" y="-548640"/>
            <a:ext cx="4023360" cy="4023360"/>
          </a:xfrm>
          <a:prstGeom prst="ellipse">
            <a:avLst/>
          </a:prstGeom>
          <a:solidFill>
            <a:srgbClr val="22407A"/>
          </a:solidFill>
          <a:ln w="12700">
            <a:solidFill>
              <a:srgbClr val="333333"/>
            </a:solidFill>
            <a:prstDash val="solid"/>
          </a:ln>
        </p:spPr>
      </p:sp>
      <p:sp>
        <p:nvSpPr>
          <p:cNvPr id="4" name="Text 2"/>
          <p:cNvSpPr/>
          <p:nvPr/>
        </p:nvSpPr>
        <p:spPr>
          <a:xfrm>
            <a:off x="822960" y="1920240"/>
            <a:ext cx="7680960"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Thank you</a:t>
            </a:r>
            <a:endParaRPr lang="en-US" sz="4400" dirty="0"/>
          </a:p>
        </p:txBody>
      </p:sp>
      <p:sp>
        <p:nvSpPr>
          <p:cNvPr id="5" name="Text 3"/>
          <p:cNvSpPr/>
          <p:nvPr/>
        </p:nvSpPr>
        <p:spPr>
          <a:xfrm>
            <a:off x="822960" y="2880360"/>
            <a:ext cx="7680960" cy="457200"/>
          </a:xfrm>
          <a:prstGeom prst="rect">
            <a:avLst/>
          </a:prstGeom>
          <a:noFill/>
          <a:ln/>
        </p:spPr>
        <p:txBody>
          <a:bodyPr wrap="square" lIns="0" tIns="0" rIns="0" bIns="0" rtlCol="0" anchor="ctr"/>
          <a:lstStyle/>
          <a:p>
            <a:pPr indent="0" marL="0">
              <a:buNone/>
            </a:pPr>
            <a:r>
              <a:rPr lang="en-US" sz="1900" dirty="0">
                <a:solidFill>
                  <a:srgbClr val="9FB3D4"/>
                </a:solidFill>
                <a:latin typeface="Calibri" pitchFamily="34" charset="0"/>
                <a:ea typeface="Calibri" pitchFamily="34" charset="-122"/>
                <a:cs typeface="Calibri" pitchFamily="34" charset="-120"/>
              </a:rPr>
              <a:t>Questions and discussion</a:t>
            </a:r>
            <a:endParaRPr lang="en-US" sz="1900" dirty="0"/>
          </a:p>
        </p:txBody>
      </p:sp>
      <p:sp>
        <p:nvSpPr>
          <p:cNvPr id="6" name="Text 4"/>
          <p:cNvSpPr/>
          <p:nvPr/>
        </p:nvSpPr>
        <p:spPr>
          <a:xfrm>
            <a:off x="822960" y="3977640"/>
            <a:ext cx="2286000" cy="502920"/>
          </a:xfrm>
          <a:prstGeom prst="rect">
            <a:avLst/>
          </a:prstGeom>
          <a:noFill/>
          <a:ln/>
        </p:spPr>
        <p:txBody>
          <a:bodyPr wrap="square" lIns="0" tIns="0" rIns="0" bIns="0" rtlCol="0" anchor="ctr"/>
          <a:lstStyle/>
          <a:p>
            <a:pPr indent="0" marL="0">
              <a:buNone/>
            </a:pPr>
            <a:r>
              <a:rPr lang="en-US" sz="2600" b="1" dirty="0">
                <a:solidFill>
                  <a:srgbClr val="18D9E3"/>
                </a:solidFill>
                <a:latin typeface="Arial" pitchFamily="34" charset="0"/>
                <a:ea typeface="Arial" pitchFamily="34" charset="-122"/>
                <a:cs typeface="Arial" pitchFamily="34" charset="-120"/>
              </a:rPr>
              <a:t>4</a:t>
            </a:r>
            <a:endParaRPr lang="en-US" sz="2600" dirty="0"/>
          </a:p>
        </p:txBody>
      </p:sp>
      <p:sp>
        <p:nvSpPr>
          <p:cNvPr id="7" name="Text 5"/>
          <p:cNvSpPr/>
          <p:nvPr/>
        </p:nvSpPr>
        <p:spPr>
          <a:xfrm>
            <a:off x="822960" y="4498848"/>
            <a:ext cx="2286000" cy="365760"/>
          </a:xfrm>
          <a:prstGeom prst="rect">
            <a:avLst/>
          </a:prstGeom>
          <a:noFill/>
          <a:ln/>
        </p:spPr>
        <p:txBody>
          <a:bodyPr wrap="square" lIns="0" tIns="0" rIns="0" bIns="0" rtlCol="0" anchor="t"/>
          <a:lstStyle/>
          <a:p>
            <a:pPr indent="0" marL="0">
              <a:buNone/>
            </a:pPr>
            <a:r>
              <a:rPr lang="en-US" sz="1150" dirty="0">
                <a:solidFill>
                  <a:srgbClr val="9FB3D4"/>
                </a:solidFill>
                <a:latin typeface="Calibri" pitchFamily="34" charset="0"/>
                <a:ea typeface="Calibri" pitchFamily="34" charset="-122"/>
                <a:cs typeface="Calibri" pitchFamily="34" charset="-120"/>
              </a:rPr>
              <a:t>O-RAN regions</a:t>
            </a:r>
            <a:endParaRPr lang="en-US" sz="1150" dirty="0"/>
          </a:p>
        </p:txBody>
      </p:sp>
      <p:sp>
        <p:nvSpPr>
          <p:cNvPr id="8" name="Text 6"/>
          <p:cNvSpPr/>
          <p:nvPr/>
        </p:nvSpPr>
        <p:spPr>
          <a:xfrm>
            <a:off x="3310128" y="3977640"/>
            <a:ext cx="2286000" cy="502920"/>
          </a:xfrm>
          <a:prstGeom prst="rect">
            <a:avLst/>
          </a:prstGeom>
          <a:noFill/>
          <a:ln/>
        </p:spPr>
        <p:txBody>
          <a:bodyPr wrap="square" lIns="0" tIns="0" rIns="0" bIns="0" rtlCol="0" anchor="ctr"/>
          <a:lstStyle/>
          <a:p>
            <a:pPr indent="0" marL="0">
              <a:buNone/>
            </a:pPr>
            <a:r>
              <a:rPr lang="en-US" sz="2600" b="1" dirty="0">
                <a:solidFill>
                  <a:srgbClr val="18D9E3"/>
                </a:solidFill>
                <a:latin typeface="Arial" pitchFamily="34" charset="0"/>
                <a:ea typeface="Arial" pitchFamily="34" charset="-122"/>
                <a:cs typeface="Arial" pitchFamily="34" charset="-120"/>
              </a:rPr>
              <a:t>750</a:t>
            </a:r>
            <a:endParaRPr lang="en-US" sz="2600" dirty="0"/>
          </a:p>
        </p:txBody>
      </p:sp>
      <p:sp>
        <p:nvSpPr>
          <p:cNvPr id="9" name="Text 7"/>
          <p:cNvSpPr/>
          <p:nvPr/>
        </p:nvSpPr>
        <p:spPr>
          <a:xfrm>
            <a:off x="3310128" y="4498848"/>
            <a:ext cx="2286000" cy="365760"/>
          </a:xfrm>
          <a:prstGeom prst="rect">
            <a:avLst/>
          </a:prstGeom>
          <a:noFill/>
          <a:ln/>
        </p:spPr>
        <p:txBody>
          <a:bodyPr wrap="square" lIns="0" tIns="0" rIns="0" bIns="0" rtlCol="0" anchor="t"/>
          <a:lstStyle/>
          <a:p>
            <a:pPr indent="0" marL="0">
              <a:buNone/>
            </a:pPr>
            <a:r>
              <a:rPr lang="en-US" sz="1150" dirty="0">
                <a:solidFill>
                  <a:srgbClr val="9FB3D4"/>
                </a:solidFill>
                <a:latin typeface="Calibri" pitchFamily="34" charset="0"/>
                <a:ea typeface="Calibri" pitchFamily="34" charset="-122"/>
                <a:cs typeface="Calibri" pitchFamily="34" charset="-120"/>
              </a:rPr>
              <a:t>emulated events</a:t>
            </a:r>
            <a:endParaRPr lang="en-US" sz="1150" dirty="0"/>
          </a:p>
        </p:txBody>
      </p:sp>
      <p:sp>
        <p:nvSpPr>
          <p:cNvPr id="10" name="Text 8"/>
          <p:cNvSpPr/>
          <p:nvPr/>
        </p:nvSpPr>
        <p:spPr>
          <a:xfrm>
            <a:off x="5797296" y="3977640"/>
            <a:ext cx="2286000" cy="502920"/>
          </a:xfrm>
          <a:prstGeom prst="rect">
            <a:avLst/>
          </a:prstGeom>
          <a:noFill/>
          <a:ln/>
        </p:spPr>
        <p:txBody>
          <a:bodyPr wrap="square" lIns="0" tIns="0" rIns="0" bIns="0" rtlCol="0" anchor="ctr"/>
          <a:lstStyle/>
          <a:p>
            <a:pPr indent="0" marL="0">
              <a:buNone/>
            </a:pPr>
            <a:r>
              <a:rPr lang="en-US" sz="2600" b="1" dirty="0">
                <a:solidFill>
                  <a:srgbClr val="18D9E3"/>
                </a:solidFill>
                <a:latin typeface="Arial" pitchFamily="34" charset="0"/>
                <a:ea typeface="Arial" pitchFamily="34" charset="-122"/>
                <a:cs typeface="Arial" pitchFamily="34" charset="-120"/>
              </a:rPr>
              <a:t>75.6%</a:t>
            </a:r>
            <a:endParaRPr lang="en-US" sz="2600" dirty="0"/>
          </a:p>
        </p:txBody>
      </p:sp>
      <p:sp>
        <p:nvSpPr>
          <p:cNvPr id="11" name="Text 9"/>
          <p:cNvSpPr/>
          <p:nvPr/>
        </p:nvSpPr>
        <p:spPr>
          <a:xfrm>
            <a:off x="5797296" y="4498848"/>
            <a:ext cx="2286000" cy="365760"/>
          </a:xfrm>
          <a:prstGeom prst="rect">
            <a:avLst/>
          </a:prstGeom>
          <a:noFill/>
          <a:ln/>
        </p:spPr>
        <p:txBody>
          <a:bodyPr wrap="square" lIns="0" tIns="0" rIns="0" bIns="0" rtlCol="0" anchor="t"/>
          <a:lstStyle/>
          <a:p>
            <a:pPr indent="0" marL="0">
              <a:buNone/>
            </a:pPr>
            <a:r>
              <a:rPr lang="en-US" sz="1150" dirty="0">
                <a:solidFill>
                  <a:srgbClr val="9FB3D4"/>
                </a:solidFill>
                <a:latin typeface="Calibri" pitchFamily="34" charset="0"/>
                <a:ea typeface="Calibri" pitchFamily="34" charset="-122"/>
                <a:cs typeface="Calibri" pitchFamily="34" charset="-120"/>
              </a:rPr>
              <a:t>closed-loop score</a:t>
            </a:r>
            <a:endParaRPr lang="en-US" sz="1150" dirty="0"/>
          </a:p>
        </p:txBody>
      </p:sp>
      <p:sp>
        <p:nvSpPr>
          <p:cNvPr id="12" name="Text 10"/>
          <p:cNvSpPr/>
          <p:nvPr/>
        </p:nvSpPr>
        <p:spPr>
          <a:xfrm>
            <a:off x="8284464" y="3977640"/>
            <a:ext cx="2286000" cy="502920"/>
          </a:xfrm>
          <a:prstGeom prst="rect">
            <a:avLst/>
          </a:prstGeom>
          <a:noFill/>
          <a:ln/>
        </p:spPr>
        <p:txBody>
          <a:bodyPr wrap="square" lIns="0" tIns="0" rIns="0" bIns="0" rtlCol="0" anchor="ctr"/>
          <a:lstStyle/>
          <a:p>
            <a:pPr indent="0" marL="0">
              <a:buNone/>
            </a:pPr>
            <a:r>
              <a:rPr lang="en-US" sz="2600" b="1" dirty="0">
                <a:solidFill>
                  <a:srgbClr val="18D9E3"/>
                </a:solidFill>
                <a:latin typeface="Arial" pitchFamily="34" charset="0"/>
                <a:ea typeface="Arial" pitchFamily="34" charset="-122"/>
                <a:cs typeface="Arial" pitchFamily="34" charset="-120"/>
              </a:rPr>
              <a:t>100%</a:t>
            </a:r>
            <a:endParaRPr lang="en-US" sz="2600" dirty="0"/>
          </a:p>
        </p:txBody>
      </p:sp>
      <p:sp>
        <p:nvSpPr>
          <p:cNvPr id="13" name="Text 11"/>
          <p:cNvSpPr/>
          <p:nvPr/>
        </p:nvSpPr>
        <p:spPr>
          <a:xfrm>
            <a:off x="8284464" y="4498848"/>
            <a:ext cx="2286000" cy="365760"/>
          </a:xfrm>
          <a:prstGeom prst="rect">
            <a:avLst/>
          </a:prstGeom>
          <a:noFill/>
          <a:ln/>
        </p:spPr>
        <p:txBody>
          <a:bodyPr wrap="square" lIns="0" tIns="0" rIns="0" bIns="0" rtlCol="0" anchor="t"/>
          <a:lstStyle/>
          <a:p>
            <a:pPr indent="0" marL="0">
              <a:buNone/>
            </a:pPr>
            <a:r>
              <a:rPr lang="en-US" sz="1150" dirty="0">
                <a:solidFill>
                  <a:srgbClr val="9FB3D4"/>
                </a:solidFill>
                <a:latin typeface="Calibri" pitchFamily="34" charset="0"/>
                <a:ea typeface="Calibri" pitchFamily="34" charset="-122"/>
                <a:cs typeface="Calibri" pitchFamily="34" charset="-120"/>
              </a:rPr>
              <a:t>vs 0% STIX precision</a:t>
            </a:r>
            <a:endParaRPr lang="en-US" sz="1150" dirty="0"/>
          </a:p>
        </p:txBody>
      </p:sp>
      <p:sp>
        <p:nvSpPr>
          <p:cNvPr id="14" name="Text 12"/>
          <p:cNvSpPr/>
          <p:nvPr/>
        </p:nvSpPr>
        <p:spPr>
          <a:xfrm>
            <a:off x="822960" y="5852160"/>
            <a:ext cx="10515600" cy="365760"/>
          </a:xfrm>
          <a:prstGeom prst="rect">
            <a:avLst/>
          </a:prstGeom>
          <a:noFill/>
          <a:ln/>
        </p:spPr>
        <p:txBody>
          <a:bodyPr wrap="square" lIns="0" tIns="0" rIns="0" bIns="0" rtlCol="0" anchor="ctr"/>
          <a:lstStyle/>
          <a:p>
            <a:pPr indent="0" marL="0">
              <a:buNone/>
            </a:pPr>
            <a:r>
              <a:rPr lang="en-US" sz="1100" dirty="0">
                <a:solidFill>
                  <a:srgbClr val="7E92B4"/>
                </a:solidFill>
                <a:latin typeface="Calibri" pitchFamily="34" charset="0"/>
                <a:ea typeface="Calibri" pitchFamily="34" charset="-122"/>
                <a:cs typeface="Calibri" pitchFamily="34" charset="-120"/>
              </a:rPr>
              <a:t>Cyber Threat Intelligence (CTI) Platform for Open-RAN  ·  Department of Electrical and Information Engineering, University of Ruhuna</a:t>
            </a:r>
            <a:endParaRPr lang="en-US" sz="1100" dirty="0"/>
          </a:p>
        </p:txBody>
      </p:sp>
      <p:sp>
        <p:nvSpPr>
          <p:cNvPr id="15" name="Shape 13"/>
          <p:cNvSpPr/>
          <p:nvPr/>
        </p:nvSpPr>
        <p:spPr>
          <a:xfrm>
            <a:off x="11478463" y="6236208"/>
            <a:ext cx="384048" cy="384048"/>
          </a:xfrm>
          <a:prstGeom prst="ellipse">
            <a:avLst/>
          </a:prstGeom>
          <a:solidFill>
            <a:srgbClr val="2C4372"/>
          </a:solidFill>
          <a:ln w="12700">
            <a:solidFill>
              <a:srgbClr val="333333"/>
            </a:solidFill>
            <a:prstDash val="solid"/>
          </a:ln>
        </p:spPr>
      </p:sp>
      <p:sp>
        <p:nvSpPr>
          <p:cNvPr id="16" name="Text 14"/>
          <p:cNvSpPr/>
          <p:nvPr/>
        </p:nvSpPr>
        <p:spPr>
          <a:xfrm>
            <a:off x="11478463" y="6236208"/>
            <a:ext cx="384048" cy="384048"/>
          </a:xfrm>
          <a:prstGeom prst="rect">
            <a:avLst/>
          </a:prstGeom>
          <a:noFill/>
          <a:ln/>
        </p:spPr>
        <p:txBody>
          <a:bodyPr wrap="square" lIns="0" tIns="0" rIns="0" bIns="0" rtlCol="0" anchor="ctr"/>
          <a:lstStyle/>
          <a:p>
            <a:pPr algn="ctr" indent="0" marL="0">
              <a:buNone/>
            </a:pPr>
            <a:r>
              <a:rPr lang="en-US" sz="1100" b="1" dirty="0">
                <a:solidFill>
                  <a:srgbClr val="A9BCDA"/>
                </a:solidFill>
                <a:latin typeface="Calibri" pitchFamily="34" charset="0"/>
                <a:ea typeface="Calibri" pitchFamily="34" charset="-122"/>
                <a:cs typeface="Calibri" pitchFamily="34" charset="-120"/>
              </a:rPr>
              <a:t>24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Threat Intelligence (CTI) Platform for Open-RAN</dc:title>
  <dc:subject>PptxGenJS Presentation</dc:subject>
  <dc:creator>University of Ruhuna</dc:creator>
  <cp:lastModifiedBy>University of Ruhuna</cp:lastModifiedBy>
  <cp:revision>1</cp:revision>
  <dcterms:created xsi:type="dcterms:W3CDTF">2026-08-30T11:32:31Z</dcterms:created>
  <dcterms:modified xsi:type="dcterms:W3CDTF">2026-08-30T11:32:31Z</dcterms:modified>
</cp:coreProperties>
</file>